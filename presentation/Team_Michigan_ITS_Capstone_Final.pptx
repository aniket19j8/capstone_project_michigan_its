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90527" y="329184"/>
            <a:ext cx="201168" cy="6199632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C627"/>
                </a:solidFill>
                <a:latin typeface="Calibri"/>
              </a:rPr>
              <a:t>FSE 570 — DATA SCIENCE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85855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Intelligent Ticketing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858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FFC627"/>
                </a:solidFill>
                <a:latin typeface="Calibri"/>
              </a:rPr>
              <a:t>From a Research RAG Prototype to a Production AI Helpdesk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2194560" cy="28575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Team Michigan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690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Aniket  ·  Anu  ·  Kaushil  ·  Tanmay  ·  Tushar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CFD3DC"/>
                </a:solidFill>
                <a:latin typeface="Calibri"/>
              </a:rPr>
              <a:t>Arizona State University  ·  Spring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6775" y="3703320"/>
            <a:ext cx="4572000" cy="2103120"/>
          </a:xfrm>
          <a:prstGeom prst="roundRect">
            <a:avLst>
              <a:gd name="adj" fmla="val 8000"/>
            </a:avLst>
          </a:prstGeom>
          <a:solidFill>
            <a:srgbClr val="24396F"/>
          </a:solidFill>
          <a:ln w="12700">
            <a:solidFill>
              <a:srgbClr val="FFC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9655" y="379476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C627"/>
                </a:solidFill>
                <a:latin typeface="Calibri"/>
              </a:rPr>
              <a:t>PROJECT 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9655" y="4114800"/>
            <a:ext cx="429768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›  </a:t>
            </a:r>
            <a:r>
              <a:rPr sz="1200">
                <a:solidFill>
                  <a:srgbClr val="FFFFFF"/>
                </a:solidFill>
                <a:latin typeface="Calibri"/>
              </a:rPr>
              <a:t>80,000 tickets across 10 source systems · 6 languages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›  </a:t>
            </a:r>
            <a:r>
              <a:rPr sz="1200">
                <a:solidFill>
                  <a:srgbClr val="FFFFFF"/>
                </a:solidFill>
                <a:latin typeface="Calibri"/>
              </a:rPr>
              <a:t>Hybrid retrieval: Qwen3 embed · BM25 · RRF · rerank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›  </a:t>
            </a:r>
            <a:r>
              <a:rPr sz="1200">
                <a:solidFill>
                  <a:srgbClr val="FFFFFF"/>
                </a:solidFill>
                <a:latin typeface="Calibri"/>
              </a:rPr>
              <a:t>RAG hallucination 0.0% vs base LLM 60.6%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›  </a:t>
            </a:r>
            <a:r>
              <a:rPr sz="1200">
                <a:solidFill>
                  <a:srgbClr val="FFFFFF"/>
                </a:solidFill>
                <a:latin typeface="Calibri"/>
              </a:rPr>
              <a:t>Two stacks: local ChromaDB / Ollama · cloud Pinecone / OpenAI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›  </a:t>
            </a:r>
            <a:r>
              <a:rPr sz="1200">
                <a:solidFill>
                  <a:srgbClr val="FFFFFF"/>
                </a:solidFill>
                <a:latin typeface="Calibri"/>
              </a:rPr>
              <a:t>Live LangChain + LangGraph helpdesk agent (React + FastAPI)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TODAY'S 10-MINUTE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2 / 12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097280"/>
            <a:ext cx="731520" cy="731520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0972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097280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A2D5A"/>
                </a:solidFill>
                <a:latin typeface="Calibri"/>
              </a:rPr>
              <a:t>Problem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81328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F76"/>
                </a:solidFill>
                <a:latin typeface="Calibri"/>
              </a:rPr>
              <a:t>Why IT helpdesks need grounded retrieval, not free-form LLMs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1901952"/>
            <a:ext cx="9905695" cy="6350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121408"/>
            <a:ext cx="731520" cy="731520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21408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121408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A2D5A"/>
                </a:solidFill>
                <a:latin typeface="Calibri"/>
              </a:rPr>
              <a:t>Data sources &amp;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505456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F76"/>
                </a:solidFill>
                <a:latin typeface="Calibri"/>
              </a:rPr>
              <a:t>80K enterprise tickets · 70K multi-domain · KB runbooks · dedup pairs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2926080"/>
            <a:ext cx="9905695" cy="6350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145536"/>
            <a:ext cx="731520" cy="731520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45536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145536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A2D5A"/>
                </a:solidFill>
                <a:latin typeface="Calibri"/>
              </a:rPr>
              <a:t>Research methodology &amp;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529584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F76"/>
                </a:solidFill>
                <a:latin typeface="Calibri"/>
              </a:rPr>
              <a:t>Embedding ablation · hybrid retrieval · hallucination · stability · LoRA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3950208"/>
            <a:ext cx="9905695" cy="6350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169664"/>
            <a:ext cx="731520" cy="731520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69664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169664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A2D5A"/>
                </a:solidFill>
                <a:latin typeface="Calibri"/>
              </a:rPr>
              <a:t>Transition to production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553712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F76"/>
                </a:solidFill>
                <a:latin typeface="Calibri"/>
              </a:rPr>
              <a:t>Why we moved to Pinecone, OpenAI, LangChain, and LangGraph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4974336"/>
            <a:ext cx="9905695" cy="6350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5193792"/>
            <a:ext cx="731520" cy="731520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93792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193792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A2D5A"/>
                </a:solidFill>
                <a:latin typeface="Calibri"/>
              </a:rPr>
              <a:t>Results, recommendations &amp; live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577840"/>
            <a:ext cx="9905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F76"/>
                </a:solidFill>
                <a:latin typeface="Calibri"/>
              </a:rPr>
              <a:t>KPIs · decision frameworks · React + FastAPI helpdesk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The Problem: IT Helpdesks Lose Time Three 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33338"/>
                </a:solidFill>
                <a:latin typeface="Calibri"/>
              </a:rPr>
              <a:t>IT teams face repeat tickets, brittle keyword search, and LLM helpers that hallucinate unsafe steps. Our goal: retrieve similar tickets, ground answers in the KB, and escalate when confidence is 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576218" cy="26060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3576218" cy="292608"/>
          </a:xfrm>
          <a:prstGeom prst="rect">
            <a:avLst/>
          </a:prstGeom>
          <a:solidFill>
            <a:srgbClr val="C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357621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Duplicate tickets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3301898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Up to ~50% of incoming tickets repeat solved issues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Keyword search misses paraphrased duplicates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Analysts re-investigate the same problem weekly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1691640"/>
            <a:ext cx="3576218" cy="26060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7738" y="1691640"/>
            <a:ext cx="3576218" cy="292608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7738" y="1691640"/>
            <a:ext cx="357621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LLM hallucinations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103120"/>
            <a:ext cx="3301898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Plain LLM invents error codes (0x80070005) and runbooks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Wrong steps can break production systems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Base-LLM hallucination rate measured at 60.6%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2556" y="1691640"/>
            <a:ext cx="3576218" cy="26060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2556" y="1691640"/>
            <a:ext cx="3576218" cy="29260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2556" y="1691640"/>
            <a:ext cx="357621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Triage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103120"/>
            <a:ext cx="3301898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Manual routing is inconsistent across analysts and shifts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Mis-routed tickets miss department SLAs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8C1D40"/>
                </a:solidFill>
                <a:latin typeface="Calibri"/>
              </a:rPr>
              <a:t>•  </a:t>
            </a:r>
            <a:r>
              <a:rPr sz="1200">
                <a:solidFill>
                  <a:srgbClr val="333338"/>
                </a:solidFill>
                <a:latin typeface="Calibri"/>
              </a:rPr>
              <a:t>Confidence is implicit, not auditable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62272"/>
            <a:ext cx="11185855" cy="50292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62272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Decision goal: for every new ticket, answer (a) Has this been solved? (b) What grounded steps to try? (c) Should we escalate, and to whom?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THE STORY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Project Evolution: Research Prototype → Scaled Eval →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F76"/>
                </a:solidFill>
                <a:latin typeface="Calibri"/>
              </a:rPr>
              <a:t>We proved the science locally, hardened it under scale, then transitioned the deployable layer for speed.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354573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3545738" cy="50292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354573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 1  ·  March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46504"/>
            <a:ext cx="354573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Local Research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327141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2,656 tickets · Jira + GitHub + Stack Exchange + synthetic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ChromaDB · MiniLM-L6 · BM25 · RRF (k=60)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Cross-encoder rerank · Qwen3-4B LLM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Streamlit + CLI · 17 KB runbooks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MRR 0.887 · R@5 0.933 · Halluc ~10% (RAG)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978" y="1508760"/>
            <a:ext cx="354573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2978" y="1508760"/>
            <a:ext cx="3545738" cy="5029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2978" y="1554480"/>
            <a:ext cx="354573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 2  ·  April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2978" y="1746504"/>
            <a:ext cx="354573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Scaled Eval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858" y="2148840"/>
            <a:ext cx="327141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70K+ tickets across 6 datasets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Qwen3-0.6B 1024-d embeddings (Table 1 winner)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PageIndex KB · HyDE · RRF tuning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Confidence-aware escalation routing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R@5 0.996 · MRR 0.988 · 596 ms 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3036" y="1508760"/>
            <a:ext cx="354573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3036" y="1508760"/>
            <a:ext cx="3545738" cy="502920"/>
          </a:xfrm>
          <a:prstGeom prst="rect">
            <a:avLst/>
          </a:prstGeom>
          <a:solidFill>
            <a:srgbClr val="1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3036" y="1554480"/>
            <a:ext cx="354573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FINAL  ·  May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3036" y="1746504"/>
            <a:ext cx="354573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Production Helpdesk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5916" y="2148840"/>
            <a:ext cx="327141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80K tickets · 1,500-example LoRA dataset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React + FastAPI SPA · SQLite/PostgreSQL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Pinecone vector DB · OpenAI chat + embed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LangChain + LangGraph 3-node ReAct agent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Sub-second per turn · live demo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1118585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1">
                <a:solidFill>
                  <a:srgbClr val="1A2D5A"/>
                </a:solidFill>
                <a:latin typeface="Calibri"/>
              </a:rPr>
              <a:t>Prove the science  →  scale + harden  →  ship a fast, demo-ready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RUBRIC: DATA SOURCES &amp; ANALYSIS (20%)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Data Sources: Large, Heterogeneous, and Governed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5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005840"/>
          <a:ext cx="6675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1898"/>
                <a:gridCol w="2459254"/>
                <a:gridCol w="105396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Enterprise ITS export (its_tickets_80k.csv)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Primary heterogeneous corpus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80,000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Customer Support Tickets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Multi-domain generalization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~63,000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Helpdesk GitHub Tickets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Real software-support diversity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~4,000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Jira + GitHub + StackExchange + Synthetic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Status-1 retrieval base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2,656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Knowledge base runbooks/articles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Procedural grounding (PageIndex)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17 docs / 42 chunks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Synthetic duplicate pairs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Dedup F1 evaluation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82 pos · 200 neg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LoRA helpdesk dataset (1,260 / 120 / 120)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Behavior fine-tuning (JSON contract)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dataset_distribution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005840"/>
            <a:ext cx="4327855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0920" y="4251960"/>
            <a:ext cx="43278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B6F76"/>
                </a:solidFill>
                <a:latin typeface="Calibri"/>
              </a:rPr>
              <a:t>Final 80K corpus distribution (data_stats.json)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4632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8200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Cleaning &amp;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38928"/>
            <a:ext cx="10820095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8"/>
                </a:solidFill>
                <a:latin typeface="Calibri"/>
              </a:rPr>
              <a:t>PII / URLs / hex codes regex-redacted before embedding · stable unified_id prevents double-indexing · 9 departments mapped via department_mapping.py · local stack keeps data on-prem; cloud stack opt-in via .env keys with PII guardrails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METHODOLOGY · LOCAL RESEARCH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Research Architecture: Hybrid Retrieval + Grounded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F76"/>
                </a:solidFill>
                <a:latin typeface="Calibri"/>
              </a:rPr>
              <a:t>Dense + sparse + fusion + rerank gives the right neighborhood; the LLM is constrained to cite the KB and refuse out-of-scope.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Query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51724" y="174879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612" y="155448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612" y="155448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Qwen3-0.6B Embedding (1024-d)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7416" y="174879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4304" y="155448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4304" y="155448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ChromaDB Dense Top-20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43108" y="174879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89996" y="155448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9996" y="155448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BM25 Top-20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38800" y="174879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85688" y="155448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5688" y="155448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RRF Fusion (k=60)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56032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56032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Cross-Encoder Rerank (top-5)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551724" y="275463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98612" y="256032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98612" y="256032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KB Context Assembly (PageIndex)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47416" y="275463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94304" y="256032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4304" y="256032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Qwen3-4B LLM (T=0.1)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143108" y="275463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89996" y="256032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89996" y="256032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Resolution Blueprint (JSON)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38800" y="275463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85688" y="256032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5688" y="256032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Citations + Confidence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611880"/>
            <a:ext cx="3576218" cy="21945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611880"/>
            <a:ext cx="109728" cy="2194560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3703320"/>
            <a:ext cx="330189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Hybrid retrieval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069080"/>
            <a:ext cx="3301898" cy="1691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Dense catches paraphrase: 'mailbox stuck'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BM25 catches exact codes: 0x80070005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RRF merges without score normalization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07738" y="3611880"/>
            <a:ext cx="3576218" cy="21945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07738" y="3611880"/>
            <a:ext cx="109728" cy="2194560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8906" y="3703320"/>
            <a:ext cx="330189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Reranking + RAG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8906" y="4069080"/>
            <a:ext cx="3301898" cy="1691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Cross-encoder lifts top-5 precision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LLM only sees retrieved evidence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Out-of-scope → graceful refusal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2556" y="3611880"/>
            <a:ext cx="3576218" cy="21945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12556" y="3611880"/>
            <a:ext cx="109728" cy="2194560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3724" y="3703320"/>
            <a:ext cx="330189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Confidence-aware escalation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3724" y="4069080"/>
            <a:ext cx="3301898" cy="1691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Score below threshold → escalate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Department mapping routes to right queue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–  </a:t>
            </a:r>
            <a:r>
              <a:rPr sz="1100">
                <a:solidFill>
                  <a:srgbClr val="333338"/>
                </a:solidFill>
                <a:latin typeface="Calibri"/>
              </a:rPr>
              <a:t>Audit trail per ticket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RUBRIC: METHODOLOGY &amp; APPLICATION 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Methodology: Nine Quantitative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F76"/>
                </a:solidFill>
                <a:latin typeface="Calibri"/>
              </a:rPr>
              <a:t>Every architectural choice is justified by an evaluation script with CSV / JSON artifacts checked into evaluation/.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1755648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755648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719072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Embedding 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029968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5 models · 35,597 chunks · Table 1 ranks Qwen3-0.6B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6402" y="1554480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50994" y="1755648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0994" y="1755648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4770" y="1719072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Retrieval ablation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4770" y="2029968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Dense vs BM25 vs Hybrid (RRF) vs Hybrid+Rerank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9884" y="1554480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34476" y="1755648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4476" y="1755648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8252" y="1719072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500-query self-retrieval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8252" y="2029968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Hybrid+Rerank R@5 = 0.976 · MRR = 0.964 (95% CI)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859023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" y="3060191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060191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3023615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Hallucination (LLM-judge)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3334511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Base 60.6% vs RAG 0.0% on IT subset · 27 vs 6 wins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6402" y="2859023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50994" y="3060191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0994" y="3060191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44770" y="3023615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Dedup threshold sweep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44770" y="3334511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F1 vs cost (FN = 2× FP) → operational decision rule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9884" y="2859023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34476" y="3060191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4476" y="3060191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8252" y="3023615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Latency benchmark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8252" y="3334511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Per-stage p50/p95/p99 — embed, BM25, rerank, LLM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163567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7512" y="4364735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364735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" y="4328159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Perturbation stability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1288" y="4639055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5 perturbations × 500 tickets · Jaccard top-10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86402" y="4163567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50994" y="4364735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0994" y="4364735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44770" y="4328159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LoRA JSON-contract eval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4770" y="4639055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Adapter vs base on schema validity + step quality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9884" y="4163567"/>
            <a:ext cx="3618890" cy="11399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34476" y="4364735"/>
            <a:ext cx="384048" cy="384048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34476" y="4364735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28252" y="4328159"/>
            <a:ext cx="284165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D5A"/>
                </a:solidFill>
                <a:latin typeface="Calibri"/>
              </a:rPr>
              <a:t>v2 retrieval + agent 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28252" y="4639055"/>
            <a:ext cx="2841650" cy="637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Pinecone+OpenAI vs Status-1/2 baselines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WHY WE UPGRADED FROM MINILM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Key Result 1 · Embedding Ablation: Qwen3-0.6B Wins Every Cutoff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F76"/>
                </a:solidFill>
                <a:latin typeface="Calibri"/>
              </a:rPr>
              <a:t>Five models · 35,597-chunk FAISS index · 3,045 NL queries. Qwen3-0.6B's 1024-d vectors dominate every retrieval cutoff.</a:t>
            </a:r>
          </a:p>
        </p:txBody>
      </p:sp>
      <p:pic>
        <p:nvPicPr>
          <p:cNvPr id="10" name="Picture 9" descr="embedding_abl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21792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349240"/>
            <a:ext cx="6217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B6F76"/>
                </a:solidFill>
                <a:latin typeface="Calibri"/>
              </a:rPr>
              <a:t>embedding_ablation_chart.png — recall vs cutoff for 5 candidates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995160" y="1417320"/>
          <a:ext cx="4693613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633"/>
                <a:gridCol w="644221"/>
                <a:gridCol w="736253"/>
                <a:gridCol w="736253"/>
                <a:gridCol w="736253"/>
              </a:tblGrid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Qwen3-0.6B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Gemma-300M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768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0.744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0.873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Nomic-v2 MoE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768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BGE-Large v1.5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0.811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MiniLM-L6 v2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0.697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0.625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0.782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995160" y="4206240"/>
            <a:ext cx="4693615" cy="11887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4251960"/>
            <a:ext cx="44192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526280"/>
            <a:ext cx="441929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8"/>
                </a:solidFill>
                <a:latin typeface="Calibri"/>
              </a:rPr>
              <a:t>Qwen3-0.6B selected: +22.4 pp over MiniLM at R@1 · +8.7 pp MRR over Gemma. MiniLM kept as a one-flag CPU fallback (ITS_EMBEDDING_MODEL).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THE CAPSTONE'S CENTERPIECE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Key Result 2 · Hybrid Retrieval &amp; Grounding Eliminate Hallucination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F76"/>
                </a:solidFill>
                <a:latin typeface="Calibri"/>
              </a:rPr>
              <a:t>Hybrid + Rerank delivers near-perfect retrieval; RAG drives base-LLM hallucination from 60.6% to 0.0% on the IT subset.</a:t>
            </a:r>
          </a:p>
        </p:txBody>
      </p:sp>
      <p:pic>
        <p:nvPicPr>
          <p:cNvPr id="10" name="Picture 9" descr="retrieva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55767" cy="3566160"/>
          </a:xfrm>
          <a:prstGeom prst="rect">
            <a:avLst/>
          </a:prstGeom>
        </p:spPr>
      </p:pic>
      <p:pic>
        <p:nvPicPr>
          <p:cNvPr id="11" name="Picture 10" descr="hallucina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5455767" cy="3566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166360"/>
            <a:ext cx="2693593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166360"/>
            <a:ext cx="91440" cy="777240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212080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C627"/>
                </a:solidFill>
                <a:latin typeface="Calibri"/>
              </a:rPr>
              <a:t>Recall@5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413248"/>
            <a:ext cx="246499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0.976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696712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CFD3DC"/>
                </a:solidFill>
                <a:latin typeface="Calibri"/>
              </a:rPr>
              <a:t>[0.962, 0.988] · 95% 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3673" y="5166360"/>
            <a:ext cx="2693593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673" y="5166360"/>
            <a:ext cx="91440" cy="777240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8265" y="5212080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C627"/>
                </a:solidFill>
                <a:latin typeface="Calibri"/>
              </a:rPr>
              <a:t>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8265" y="5413248"/>
            <a:ext cx="246499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0.964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8265" y="5696712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CFD3DC"/>
                </a:solidFill>
                <a:latin typeface="Calibri"/>
              </a:rPr>
              <a:t>[0.948, 0.978] · paired t p≈0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5166360"/>
            <a:ext cx="2693593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5166360"/>
            <a:ext cx="91440" cy="777240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9019" y="5212080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C627"/>
                </a:solidFill>
                <a:latin typeface="Calibri"/>
              </a:rPr>
              <a:t>RAG Hallucination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9019" y="5413248"/>
            <a:ext cx="246499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9019" y="5696712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CFD3DC"/>
                </a:solidFill>
                <a:latin typeface="Calibri"/>
              </a:rPr>
              <a:t>Base LLM = 60.6% · IT subset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5181" y="5166360"/>
            <a:ext cx="2693593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95181" y="5166360"/>
            <a:ext cx="91440" cy="777240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9773" y="5212080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C627"/>
                </a:solidFill>
                <a:latin typeface="Calibri"/>
              </a:rPr>
              <a:t>Head-to-head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9773" y="5413248"/>
            <a:ext cx="246499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27 :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9773" y="5696712"/>
            <a:ext cx="246499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CFD3DC"/>
                </a:solidFill>
                <a:latin typeface="Calibri"/>
              </a:rPr>
              <a:t>RAG preferred over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OPERATIONAL DECISION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Key Result 3 · Reliability: Dedup, Stability, and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10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F76"/>
                </a:solidFill>
                <a:latin typeface="Calibri"/>
              </a:rPr>
              <a:t>Beyond accuracy, we built decision rules a real ops team can adopt: cost-sensitive thresholds, robustness under noise, refusal on low confidence.</a:t>
            </a:r>
          </a:p>
        </p:txBody>
      </p:sp>
      <p:pic>
        <p:nvPicPr>
          <p:cNvPr id="10" name="Picture 9" descr="dedup_threshol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55767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480560"/>
            <a:ext cx="545576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B6F76"/>
                </a:solidFill>
                <a:latin typeface="Calibri"/>
              </a:rPr>
              <a:t>Dedup threshold sweep — F1 and cost (FN = 2× FP)</a:t>
            </a:r>
          </a:p>
        </p:txBody>
      </p:sp>
      <p:pic>
        <p:nvPicPr>
          <p:cNvPr id="12" name="Picture 11" descr="perturbation_stabilit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5455767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4480560"/>
            <a:ext cx="545576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B6F76"/>
                </a:solidFill>
                <a:latin typeface="Calibri"/>
              </a:rPr>
              <a:t>Perturbation stability — Jaccard top-10 across 5 query variants (n=500)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00600"/>
            <a:ext cx="11185855" cy="11887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55464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Production decision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29784"/>
            <a:ext cx="351525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2D5A"/>
                </a:solidFill>
                <a:latin typeface="Calibri"/>
              </a:rPr>
              <a:t>Dedup 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85816"/>
            <a:ext cx="3515258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Pick best_f1_threshold for trust; cost_optimal_threshold when false-negatives cost 2× false-positives.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2498" y="5129784"/>
            <a:ext cx="351525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2D5A"/>
                </a:solidFill>
                <a:latin typeface="Calibri"/>
              </a:rPr>
              <a:t>Stability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2498" y="5385816"/>
            <a:ext cx="3515258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BM25 Jaccard 0.95 · Hybrid 0.63 · Dense 0.60. Use Hybrid+Rerank as default; gate releases on a 5-pp Jaccard drop.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9196" y="5129784"/>
            <a:ext cx="351525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A2D5A"/>
                </a:solidFill>
                <a:latin typeface="Calibri"/>
              </a:rPr>
              <a:t>Confidence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9196" y="5385816"/>
            <a:ext cx="3515258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If rerank score &lt; MIN_RERANK_SCORE, agent refuses and creates an escalation ticket — never hallucinates a fix.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THE TRANSITION · WHY IT WAS INTENTIONAL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From Research Stack to Production v2: One Product, Two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F76"/>
                </a:solidFill>
                <a:latin typeface="Calibri"/>
              </a:rPr>
              <a:t>The local stack proved the science. v2 makes it fast and demo-ready. Both deploy the same agent contract.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17320"/>
          <a:ext cx="6492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5603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Research stack (local)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v2 product stack (cloud)</a:t>
                      </a:r>
                    </a:p>
                  </a:txBody>
                  <a:tcPr marL="64008" marR="64008" marT="27432" marB="27432">
                    <a:solidFill>
                      <a:srgbClr val="1A2D5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Vector DB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ChromaDB (HNSW, on-disk)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Pinecone serverless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Embeddings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Qwen3-0.6B via Ollama / vLLM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OpenAI text-embedding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Ollama Qwen3-4B + LoRA adapter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OpenAI chat (structured outputs)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Reranker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ms-marco MiniLM cross-encoder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FlashRank via LangChain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Agent loop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Custom RAG pipeline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LangGraph 3-node ReAct (guardrail ↔ tools)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Streamlit / React local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React + Vite SPA served by FastAPI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SQLite + ChromaDB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SQLite/Postgres + Pinecone + checkpoints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Privacy · air-gapped · research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Speed · live demo · production</a:t>
                      </a:r>
                    </a:p>
                  </a:txBody>
                  <a:tcPr marL="64008" marR="64008" marT="27432" marB="27432"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D5A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~600 ms retrieval · multi-s LLM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8"/>
                          </a:solidFill>
                          <a:latin typeface="Calibri"/>
                        </a:rPr>
                        <a:t>~910 ms end-to-end per turn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223760" y="1417320"/>
            <a:ext cx="4465015" cy="594360"/>
          </a:xfrm>
          <a:prstGeom prst="roundRect">
            <a:avLst>
              <a:gd name="adj" fmla="val 8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417320"/>
            <a:ext cx="446501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LOCAL RESEARCH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81947" y="2057400"/>
            <a:ext cx="548640" cy="457200"/>
          </a:xfrm>
          <a:prstGeom prst="down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23760" y="2606040"/>
            <a:ext cx="4465015" cy="594360"/>
          </a:xfrm>
          <a:prstGeom prst="roundRect">
            <a:avLst>
              <a:gd name="adj" fmla="val 8000"/>
            </a:avLst>
          </a:prstGeom>
          <a:solidFill>
            <a:srgbClr val="1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606040"/>
            <a:ext cx="446501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PRODUCTION v2 (LIVE)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74720"/>
            <a:ext cx="4465015" cy="21031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3547872"/>
            <a:ext cx="41906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What stays invariant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858768"/>
            <a:ext cx="4190695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✓  </a:t>
            </a:r>
            <a:r>
              <a:rPr sz="1100">
                <a:solidFill>
                  <a:srgbClr val="333338"/>
                </a:solidFill>
                <a:latin typeface="Calibri"/>
              </a:rPr>
              <a:t>Decision goal: dedup · ground · route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✓  </a:t>
            </a:r>
            <a:r>
              <a:rPr sz="1100">
                <a:solidFill>
                  <a:srgbClr val="333338"/>
                </a:solidFill>
                <a:latin typeface="Calibri"/>
              </a:rPr>
              <a:t>Eval methodology: R@k · MRR · halluc · F1 · Jaccard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✓  </a:t>
            </a:r>
            <a:r>
              <a:rPr sz="1100">
                <a:solidFill>
                  <a:srgbClr val="333338"/>
                </a:solidFill>
                <a:latin typeface="Calibri"/>
              </a:rPr>
              <a:t>Safety: refuse OOS · escalate on low confidence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8C1D40"/>
                </a:solidFill>
                <a:latin typeface="Calibri"/>
              </a:rPr>
              <a:t>✓  </a:t>
            </a:r>
            <a:r>
              <a:rPr sz="1100">
                <a:solidFill>
                  <a:srgbClr val="333338"/>
                </a:solidFill>
                <a:latin typeface="Calibri"/>
              </a:rPr>
              <a:t>Deploy options: cloud-fast or local-private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WHAT WE SHIP · WHAT TO DO WITH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858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2D5A"/>
                </a:solidFill>
                <a:latin typeface="Calibri"/>
              </a:rPr>
              <a:t>Live Demo, Recommendations, 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5855" cy="9525"/>
          </a:xfrm>
          <a:prstGeom prst="rect">
            <a:avLst/>
          </a:prstGeom>
          <a:solidFill>
            <a:srgbClr val="DC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6F76"/>
                </a:solidFill>
                <a:latin typeface="Calibri"/>
              </a:rPr>
              <a:t>Team Michigan  ·  Intelligent Ticketing System  ·  FSE 570 Capstone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6F76"/>
                </a:solidFill>
                <a:latin typeface="Calibri"/>
              </a:rPr>
              <a:t>Slide 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1440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1440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1. User submits IT issue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51724" y="110871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612" y="91440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8612" y="91440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2. Guardrail node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47416" y="110871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4304" y="91440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4304" y="91440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 LangGraph agent + tools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3108" y="110871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89996" y="91440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9996" y="91440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4. Grounded reply + citations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38800" y="1108710"/>
            <a:ext cx="201168" cy="388620"/>
          </a:xfrm>
          <a:prstGeom prst="rightArrow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85688" y="914400"/>
            <a:ext cx="2003084" cy="77724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5688" y="914400"/>
            <a:ext cx="200308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5. Auto-create ticket if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965960"/>
            <a:ext cx="6217920" cy="608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2069287"/>
            <a:ext cx="402336" cy="402336"/>
          </a:xfrm>
          <a:prstGeom prst="ellipse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069287"/>
            <a:ext cx="402336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A2D5A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057400"/>
            <a:ext cx="5440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Default to Hybrid + Rerank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331720"/>
            <a:ext cx="5440680" cy="20665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Dense alone misses error codes; BM25 alone misses paraphrase.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629814"/>
            <a:ext cx="6217920" cy="608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733141"/>
            <a:ext cx="402336" cy="402336"/>
          </a:xfrm>
          <a:prstGeom prst="ellipse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733141"/>
            <a:ext cx="402336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A2D5A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2721254"/>
            <a:ext cx="5440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Never let base LLM answer IT alone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2995574"/>
            <a:ext cx="5440680" cy="20665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RAG cuts hallucination ~10× on the IT subset.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293668"/>
            <a:ext cx="6217920" cy="608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" y="3396996"/>
            <a:ext cx="402336" cy="402336"/>
          </a:xfrm>
          <a:prstGeom prst="ellipse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396996"/>
            <a:ext cx="402336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A2D5A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3385108"/>
            <a:ext cx="5440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Tune dedup τ to your cost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659428"/>
            <a:ext cx="5440680" cy="20665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best_f1_threshold for trust · cost_optimal_threshold when FN &gt; FP.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957523"/>
            <a:ext cx="6217920" cy="608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" y="4060850"/>
            <a:ext cx="402336" cy="402336"/>
          </a:xfrm>
          <a:prstGeom prst="ellipse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060850"/>
            <a:ext cx="402336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A2D5A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048963"/>
            <a:ext cx="5440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Cloud for speed, local for privacy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323283"/>
            <a:ext cx="5440680" cy="20665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Pinecone+OpenAI for fastest TTFB; Ollama+Chroma for air-gapped sites.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621377"/>
            <a:ext cx="6217920" cy="608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" y="4724704"/>
            <a:ext cx="402336" cy="402336"/>
          </a:xfrm>
          <a:prstGeom prst="ellipse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724704"/>
            <a:ext cx="402336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A2D5A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712817"/>
            <a:ext cx="5440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2D5A"/>
                </a:solidFill>
                <a:latin typeface="Calibri"/>
              </a:rPr>
              <a:t>Keep facts in RAG, behavior in LoRA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987137"/>
            <a:ext cx="5440680" cy="20665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8"/>
                </a:solidFill>
                <a:latin typeface="Calibri"/>
              </a:rPr>
              <a:t>Tickets stay auditable; 64 MB adapter shapes JSON &amp; escalation.</a:t>
            </a:r>
          </a:p>
        </p:txBody>
      </p:sp>
      <p:pic>
        <p:nvPicPr>
          <p:cNvPr id="48" name="Picture 47" descr="kpi_dashboar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65960"/>
            <a:ext cx="4739335" cy="29260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49440" y="4937760"/>
            <a:ext cx="473933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6F76"/>
                </a:solidFill>
                <a:latin typeface="Calibri"/>
              </a:rPr>
              <a:t>KPI dashboard — Status 1 → Status 2 → Final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513832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568696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C627"/>
                </a:solidFill>
                <a:latin typeface="Calibri"/>
              </a:rPr>
              <a:t>TAKEAWAY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We proved every component of an IT helpdesk RAG locally with rigorous ablations, then shipped it as a fast LangGraph agent on Pinecone + OpenAI — while preserving a private, on-prem path on Ollama + Qwen3 + ChromaDB. 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