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80" r:id="rId3"/>
    <p:sldId id="257" r:id="rId4"/>
    <p:sldId id="281" r:id="rId5"/>
    <p:sldId id="282" r:id="rId6"/>
    <p:sldId id="260" r:id="rId7"/>
    <p:sldId id="261" r:id="rId8"/>
    <p:sldId id="262" r:id="rId9"/>
    <p:sldId id="283" r:id="rId10"/>
    <p:sldId id="284" r:id="rId11"/>
    <p:sldId id="285" r:id="rId12"/>
    <p:sldId id="268" r:id="rId13"/>
    <p:sldId id="269" r:id="rId14"/>
    <p:sldId id="314" r:id="rId15"/>
    <p:sldId id="276" r:id="rId16"/>
    <p:sldId id="274" r:id="rId17"/>
    <p:sldId id="275" r:id="rId18"/>
    <p:sldId id="278" r:id="rId19"/>
    <p:sldId id="315" r:id="rId20"/>
    <p:sldId id="318" r:id="rId21"/>
    <p:sldId id="316" r:id="rId22"/>
    <p:sldId id="31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581" autoAdjust="0"/>
  </p:normalViewPr>
  <p:slideViewPr>
    <p:cSldViewPr snapToGrid="0" snapToObjects="1">
      <p:cViewPr varScale="1">
        <p:scale>
          <a:sx n="123" d="100"/>
          <a:sy n="123" d="100"/>
        </p:scale>
        <p:origin x="644" y="8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24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C1505-2504-7696-5E81-640E6FC01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22F61-963A-0997-C799-5161CE2207F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AE16A14-6C0E-D306-FA4E-70D43BB9F6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405995-0921-2D1B-03E1-B9969A34DFD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258225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3C89C-3E79-5E0B-6209-07B179053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308E0-6439-DDE5-0104-4B182E8746F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4621573-52D3-7B95-639F-59C3B5549E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C907F4-0FE3-0CB4-09F3-D1423A88B9D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60712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382DB-CEEC-DBD1-1C64-3AA9C7BD7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83131-4B53-657B-77B8-54466DA8E04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923EE12-F8B1-B88B-064B-BE74C14904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DEB0E6-A761-A65C-C5AE-F6006A74128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261874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0124D-E7F5-E81D-6C9F-D028526E3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D9FFD-C10A-370E-5C93-93407626672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C9E8C68-15FF-7B69-90FD-B42066E2B3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A974DF-9E7E-FCE1-D88F-15D7256706B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787209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unanswered.io/guide/cost-of-it-data-center-downtime" TargetMode="External"/><Relationship Id="rId5" Type="http://schemas.openxmlformats.org/officeDocument/2006/relationships/hyperlink" Target="https://www.forbes.com/sites/julianhayesii/2025/03/17/employee-burnout-the-hidden-threat-costing-companies-millions/" TargetMode="Externa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1.svg"/></Relationships>
</file>

<file path=ppt/slides/_rels/slide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7.svg"/></Relationships>
</file>

<file path=ppt/slides/_rels/slide1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9.svg"/></Relationships>
</file>

<file path=ppt/slides/_rels/slide1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1.svg"/></Relationships>
</file>

<file path=ppt/slides/_rels/slide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3.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1"/>
          <p:cNvSpPr/>
          <p:nvPr/>
        </p:nvSpPr>
        <p:spPr>
          <a:xfrm>
            <a:off x="366713" y="205643"/>
            <a:ext cx="8410575" cy="290513"/>
          </a:xfrm>
          <a:prstGeom prst="rect">
            <a:avLst/>
          </a:prstGeom>
          <a:ln/>
        </p:spPr>
        <p:txBody>
          <a:bodyPr/>
          <a:lstStyle/>
          <a:p>
            <a:endParaRPr lang="en-IN"/>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p:cNvSpPr/>
          <p:nvPr/>
        </p:nvSpPr>
        <p:spPr>
          <a:xfrm>
            <a:off x="639924" y="213717"/>
            <a:ext cx="1009650"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p:cNvSpPr/>
          <p:nvPr/>
        </p:nvSpPr>
        <p:spPr>
          <a:xfrm>
            <a:off x="7246293" y="228042"/>
            <a:ext cx="757238"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TEAM MICHIGAN</a:t>
            </a:r>
            <a:endParaRPr lang="en-US" sz="700" dirty="0"/>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8" name="Text 6"/>
          <p:cNvSpPr/>
          <p:nvPr/>
        </p:nvSpPr>
        <p:spPr>
          <a:xfrm>
            <a:off x="365187" y="949672"/>
            <a:ext cx="4829175" cy="152400"/>
          </a:xfrm>
          <a:prstGeom prst="rect">
            <a:avLst/>
          </a:prstGeom>
          <a:ln/>
        </p:spPr>
        <p:txBody>
          <a:bodyPr wrap="square" lIns="0" tIns="0" rIns="0" bIns="0" rtlCol="0" anchor="t"/>
          <a:lstStyle/>
          <a:p>
            <a:pPr marL="0" indent="0" algn="l">
              <a:lnSpc>
                <a:spcPts val="1188"/>
              </a:lnSpc>
              <a:spcAft>
                <a:spcPts val="607"/>
              </a:spcAft>
              <a:buNone/>
            </a:pPr>
            <a:r>
              <a:rPr lang="en-US" sz="700" b="1" dirty="0">
                <a:solidFill>
                  <a:srgbClr val="0D9488"/>
                </a:solidFill>
                <a:latin typeface="Inter" pitchFamily="34" charset="0"/>
                <a:ea typeface="Inter" pitchFamily="34" charset="-122"/>
                <a:cs typeface="Inter" pitchFamily="34" charset="-120"/>
              </a:rPr>
              <a:t>RETRIEVAL-AUGMENTED IT HELPDESK SOLUTION</a:t>
            </a:r>
            <a:endParaRPr lang="en-US" sz="700" dirty="0"/>
          </a:p>
        </p:txBody>
      </p:sp>
      <p:sp>
        <p:nvSpPr>
          <p:cNvPr id="9" name="Text 7"/>
          <p:cNvSpPr/>
          <p:nvPr/>
        </p:nvSpPr>
        <p:spPr>
          <a:xfrm>
            <a:off x="365187" y="1177230"/>
            <a:ext cx="5188946" cy="923925"/>
          </a:xfrm>
          <a:prstGeom prst="rect">
            <a:avLst/>
          </a:prstGeom>
          <a:ln/>
        </p:spPr>
        <p:txBody>
          <a:bodyPr wrap="square" lIns="0" tIns="0" rIns="0" bIns="0" rtlCol="0" anchor="t"/>
          <a:lstStyle/>
          <a:p>
            <a:pPr marL="0" indent="0" algn="l">
              <a:lnSpc>
                <a:spcPts val="3629"/>
              </a:lnSpc>
              <a:spcAft>
                <a:spcPts val="1013"/>
              </a:spcAft>
              <a:buNone/>
            </a:pPr>
            <a:r>
              <a:rPr lang="en-US" sz="3400" b="1" dirty="0">
                <a:solidFill>
                  <a:srgbClr val="1E3A5F"/>
                </a:solidFill>
                <a:latin typeface="Inter" pitchFamily="34" charset="0"/>
                <a:ea typeface="Inter" pitchFamily="34" charset="-122"/>
                <a:cs typeface="Inter" pitchFamily="34" charset="-120"/>
              </a:rPr>
              <a:t>Intelligent Ticketing System</a:t>
            </a:r>
            <a:endParaRPr lang="en-US" sz="3400" dirty="0"/>
          </a:p>
        </p:txBody>
      </p:sp>
      <p:sp>
        <p:nvSpPr>
          <p:cNvPr id="10" name="Text 8"/>
          <p:cNvSpPr/>
          <p:nvPr/>
        </p:nvSpPr>
        <p:spPr>
          <a:xfrm>
            <a:off x="364778" y="1961442"/>
            <a:ext cx="3476625" cy="657225"/>
          </a:xfrm>
          <a:prstGeom prst="rect">
            <a:avLst/>
          </a:prstGeom>
          <a:ln/>
        </p:spPr>
        <p:txBody>
          <a:bodyPr wrap="square" lIns="0" tIns="0" rIns="0" bIns="0" rtlCol="0" anchor="t"/>
          <a:lstStyle/>
          <a:p>
            <a:pPr marL="0" indent="0" algn="l">
              <a:lnSpc>
                <a:spcPts val="1728"/>
              </a:lnSpc>
              <a:spcAft>
                <a:spcPts val="1620"/>
              </a:spcAft>
              <a:buNone/>
            </a:pPr>
            <a:r>
              <a:rPr lang="en-US" sz="1000" dirty="0">
                <a:solidFill>
                  <a:srgbClr val="475569"/>
                </a:solidFill>
                <a:latin typeface="Inter" pitchFamily="34" charset="0"/>
                <a:ea typeface="Inter" pitchFamily="34" charset="-122"/>
                <a:cs typeface="Inter" pitchFamily="34" charset="-120"/>
              </a:rPr>
              <a:t>Reducing duplicate tickets, preventing hallucinations, and improving IT triage using Retrieval-Augmented Generation (RAG)</a:t>
            </a:r>
            <a:endParaRPr lang="en-US" sz="1000" dirty="0"/>
          </a:p>
        </p:txBody>
      </p:sp>
      <p:sp>
        <p:nvSpPr>
          <p:cNvPr id="11" name="Shape 9"/>
          <p:cNvSpPr/>
          <p:nvPr/>
        </p:nvSpPr>
        <p:spPr>
          <a:xfrm>
            <a:off x="365187" y="3091309"/>
            <a:ext cx="4829175" cy="347663"/>
          </a:xfrm>
          <a:prstGeom prst="roundRect">
            <a:avLst>
              <a:gd name="adj" fmla="val 13835"/>
            </a:avLst>
          </a:prstGeom>
          <a:solidFill>
            <a:srgbClr val="FFFFFF"/>
          </a:solidFill>
          <a:ln w="4763">
            <a:solidFill>
              <a:srgbClr val="E2E8F0"/>
            </a:solidFill>
            <a:prstDash val="solid"/>
          </a:ln>
          <a:effectLst>
            <a:outerShdw blurRad="38100" dist="9525" dir="5400000" algn="bl" rotWithShape="0">
              <a:srgbClr val="1E3A5F">
                <a:alpha val="6000"/>
              </a:srgbClr>
            </a:outerShdw>
          </a:effectLst>
        </p:spPr>
        <p:txBody>
          <a:bodyPr/>
          <a:lstStyle/>
          <a:p>
            <a:endParaRPr lang="en-IN"/>
          </a:p>
        </p:txBody>
      </p:sp>
      <p:sp>
        <p:nvSpPr>
          <p:cNvPr id="12" name="Text 10"/>
          <p:cNvSpPr/>
          <p:nvPr/>
        </p:nvSpPr>
        <p:spPr>
          <a:xfrm>
            <a:off x="552376" y="3200846"/>
            <a:ext cx="733425" cy="128588"/>
          </a:xfrm>
          <a:prstGeom prst="rect">
            <a:avLst/>
          </a:prstGeom>
          <a:ln/>
        </p:spPr>
        <p:txBody>
          <a:bodyPr wrap="square" lIns="0" tIns="0" rIns="0" bIns="0" rtlCol="0" anchor="t"/>
          <a:lstStyle/>
          <a:p>
            <a:pPr marL="0" indent="0" algn="l">
              <a:lnSpc>
                <a:spcPts val="1026"/>
              </a:lnSpc>
              <a:buNone/>
            </a:pPr>
            <a:r>
              <a:rPr lang="en-US" sz="600" b="1" dirty="0">
                <a:solidFill>
                  <a:srgbClr val="64748B"/>
                </a:solidFill>
                <a:latin typeface="Inter" pitchFamily="34" charset="0"/>
                <a:ea typeface="Inter" pitchFamily="34" charset="-122"/>
                <a:cs typeface="Inter" pitchFamily="34" charset="-120"/>
              </a:rPr>
              <a:t>TEAM</a:t>
            </a:r>
            <a:endParaRPr lang="en-US" sz="600" dirty="0"/>
          </a:p>
        </p:txBody>
      </p:sp>
      <p:sp>
        <p:nvSpPr>
          <p:cNvPr id="13" name="Text 11"/>
          <p:cNvSpPr/>
          <p:nvPr/>
        </p:nvSpPr>
        <p:spPr>
          <a:xfrm>
            <a:off x="1420825" y="3188940"/>
            <a:ext cx="1804988" cy="152400"/>
          </a:xfrm>
          <a:prstGeom prst="rect">
            <a:avLst/>
          </a:prstGeom>
          <a:ln/>
        </p:spPr>
        <p:txBody>
          <a:bodyPr wrap="square" lIns="0" tIns="0" rIns="0" bIns="0" rtlCol="0" anchor="t"/>
          <a:lstStyle/>
          <a:p>
            <a:pPr marL="0" indent="0" algn="l">
              <a:lnSpc>
                <a:spcPts val="1188"/>
              </a:lnSpc>
              <a:buNone/>
            </a:pPr>
            <a:r>
              <a:rPr lang="en-US" sz="700" b="1" dirty="0">
                <a:solidFill>
                  <a:srgbClr val="1E3A5F"/>
                </a:solidFill>
                <a:latin typeface="Inter" pitchFamily="34" charset="0"/>
                <a:ea typeface="Inter" pitchFamily="34" charset="-122"/>
                <a:cs typeface="Inter" pitchFamily="34" charset="-120"/>
              </a:rPr>
              <a:t>Aniket, Anu, Kaushil, Tanmay, Tushar</a:t>
            </a:r>
            <a:endParaRPr lang="en-US" sz="700" dirty="0"/>
          </a:p>
        </p:txBody>
      </p:sp>
      <p:sp>
        <p:nvSpPr>
          <p:cNvPr id="14" name="Shape 12"/>
          <p:cNvSpPr/>
          <p:nvPr/>
        </p:nvSpPr>
        <p:spPr>
          <a:xfrm>
            <a:off x="365187" y="3498577"/>
            <a:ext cx="4829175" cy="347663"/>
          </a:xfrm>
          <a:prstGeom prst="roundRect">
            <a:avLst>
              <a:gd name="adj" fmla="val 13835"/>
            </a:avLst>
          </a:prstGeom>
          <a:solidFill>
            <a:srgbClr val="FFFFFF"/>
          </a:solidFill>
          <a:ln w="4763">
            <a:solidFill>
              <a:srgbClr val="E2E8F0"/>
            </a:solidFill>
            <a:prstDash val="solid"/>
          </a:ln>
          <a:effectLst>
            <a:outerShdw blurRad="38100" dist="9525" dir="5400000" algn="bl" rotWithShape="0">
              <a:srgbClr val="1E3A5F">
                <a:alpha val="6000"/>
              </a:srgbClr>
            </a:outerShdw>
          </a:effectLst>
        </p:spPr>
        <p:txBody>
          <a:bodyPr/>
          <a:lstStyle/>
          <a:p>
            <a:endParaRPr lang="en-IN"/>
          </a:p>
        </p:txBody>
      </p:sp>
      <p:sp>
        <p:nvSpPr>
          <p:cNvPr id="15" name="Text 13"/>
          <p:cNvSpPr/>
          <p:nvPr/>
        </p:nvSpPr>
        <p:spPr>
          <a:xfrm>
            <a:off x="552376" y="3608115"/>
            <a:ext cx="733425" cy="128588"/>
          </a:xfrm>
          <a:prstGeom prst="rect">
            <a:avLst/>
          </a:prstGeom>
          <a:ln/>
        </p:spPr>
        <p:txBody>
          <a:bodyPr wrap="square" lIns="0" tIns="0" rIns="0" bIns="0" rtlCol="0" anchor="t"/>
          <a:lstStyle/>
          <a:p>
            <a:pPr marL="0" indent="0" algn="l">
              <a:lnSpc>
                <a:spcPts val="1026"/>
              </a:lnSpc>
              <a:buNone/>
            </a:pPr>
            <a:r>
              <a:rPr lang="en-US" sz="600" b="1" dirty="0">
                <a:solidFill>
                  <a:srgbClr val="64748B"/>
                </a:solidFill>
                <a:latin typeface="Inter" pitchFamily="34" charset="0"/>
                <a:ea typeface="Inter" pitchFamily="34" charset="-122"/>
                <a:cs typeface="Inter" pitchFamily="34" charset="-120"/>
              </a:rPr>
              <a:t>COURSE</a:t>
            </a:r>
            <a:endParaRPr lang="en-US" sz="600" dirty="0"/>
          </a:p>
        </p:txBody>
      </p:sp>
      <p:sp>
        <p:nvSpPr>
          <p:cNvPr id="16" name="Text 14"/>
          <p:cNvSpPr/>
          <p:nvPr/>
        </p:nvSpPr>
        <p:spPr>
          <a:xfrm>
            <a:off x="1422016" y="3596208"/>
            <a:ext cx="1676400" cy="152400"/>
          </a:xfrm>
          <a:prstGeom prst="rect">
            <a:avLst/>
          </a:prstGeom>
          <a:ln/>
        </p:spPr>
        <p:txBody>
          <a:bodyPr wrap="square" lIns="0" tIns="0" rIns="0" bIns="0" rtlCol="0" anchor="t"/>
          <a:lstStyle/>
          <a:p>
            <a:pPr marL="0" indent="0" algn="l">
              <a:lnSpc>
                <a:spcPts val="1188"/>
              </a:lnSpc>
              <a:buNone/>
            </a:pPr>
            <a:r>
              <a:rPr lang="en-US" sz="700" b="1" dirty="0">
                <a:solidFill>
                  <a:srgbClr val="1E3A5F"/>
                </a:solidFill>
                <a:latin typeface="Inter" pitchFamily="34" charset="0"/>
                <a:ea typeface="Inter" pitchFamily="34" charset="-122"/>
                <a:cs typeface="Inter" pitchFamily="34" charset="-120"/>
              </a:rPr>
              <a:t>FSE 570 — Data Science Capstone</a:t>
            </a:r>
            <a:endParaRPr lang="en-US" sz="700" dirty="0"/>
          </a:p>
        </p:txBody>
      </p:sp>
      <p:sp>
        <p:nvSpPr>
          <p:cNvPr id="17" name="Shape 15"/>
          <p:cNvSpPr/>
          <p:nvPr/>
        </p:nvSpPr>
        <p:spPr>
          <a:xfrm>
            <a:off x="365187" y="3905845"/>
            <a:ext cx="4829175" cy="347663"/>
          </a:xfrm>
          <a:prstGeom prst="roundRect">
            <a:avLst>
              <a:gd name="adj" fmla="val 13835"/>
            </a:avLst>
          </a:prstGeom>
          <a:solidFill>
            <a:srgbClr val="FFFFFF"/>
          </a:solidFill>
          <a:ln w="4763">
            <a:solidFill>
              <a:srgbClr val="E2E8F0"/>
            </a:solidFill>
            <a:prstDash val="solid"/>
          </a:ln>
          <a:effectLst>
            <a:outerShdw blurRad="38100" dist="9525" dir="5400000" algn="bl" rotWithShape="0">
              <a:srgbClr val="1E3A5F">
                <a:alpha val="6000"/>
              </a:srgbClr>
            </a:outerShdw>
          </a:effectLst>
        </p:spPr>
        <p:txBody>
          <a:bodyPr/>
          <a:lstStyle/>
          <a:p>
            <a:endParaRPr lang="en-IN"/>
          </a:p>
        </p:txBody>
      </p:sp>
      <p:sp>
        <p:nvSpPr>
          <p:cNvPr id="18" name="Text 16"/>
          <p:cNvSpPr/>
          <p:nvPr/>
        </p:nvSpPr>
        <p:spPr>
          <a:xfrm>
            <a:off x="552376" y="4015383"/>
            <a:ext cx="733425" cy="128588"/>
          </a:xfrm>
          <a:prstGeom prst="rect">
            <a:avLst/>
          </a:prstGeom>
          <a:ln/>
        </p:spPr>
        <p:txBody>
          <a:bodyPr wrap="square" lIns="0" tIns="0" rIns="0" bIns="0" rtlCol="0" anchor="t"/>
          <a:lstStyle/>
          <a:p>
            <a:pPr marL="0" indent="0" algn="l">
              <a:lnSpc>
                <a:spcPts val="1026"/>
              </a:lnSpc>
              <a:buNone/>
            </a:pPr>
            <a:r>
              <a:rPr lang="en-US" sz="600" b="1" dirty="0">
                <a:solidFill>
                  <a:srgbClr val="64748B"/>
                </a:solidFill>
                <a:latin typeface="Inter" pitchFamily="34" charset="0"/>
                <a:ea typeface="Inter" pitchFamily="34" charset="-122"/>
                <a:cs typeface="Inter" pitchFamily="34" charset="-120"/>
              </a:rPr>
              <a:t>SEMESTER</a:t>
            </a:r>
            <a:endParaRPr lang="en-US" sz="600" dirty="0"/>
          </a:p>
        </p:txBody>
      </p:sp>
      <p:sp>
        <p:nvSpPr>
          <p:cNvPr id="19" name="Text 17"/>
          <p:cNvSpPr/>
          <p:nvPr/>
        </p:nvSpPr>
        <p:spPr>
          <a:xfrm>
            <a:off x="1422239" y="4003477"/>
            <a:ext cx="600075" cy="152400"/>
          </a:xfrm>
          <a:prstGeom prst="rect">
            <a:avLst/>
          </a:prstGeom>
          <a:ln/>
        </p:spPr>
        <p:txBody>
          <a:bodyPr wrap="square" lIns="0" tIns="0" rIns="0" bIns="0" rtlCol="0" anchor="t"/>
          <a:lstStyle/>
          <a:p>
            <a:pPr marL="0" indent="0" algn="l">
              <a:lnSpc>
                <a:spcPts val="1188"/>
              </a:lnSpc>
              <a:buNone/>
            </a:pPr>
            <a:r>
              <a:rPr lang="en-US" sz="700" b="1" dirty="0">
                <a:solidFill>
                  <a:srgbClr val="1E3A5F"/>
                </a:solidFill>
                <a:latin typeface="Inter" pitchFamily="34" charset="0"/>
                <a:ea typeface="Inter" pitchFamily="34" charset="-122"/>
                <a:cs typeface="Inter" pitchFamily="34" charset="-120"/>
              </a:rPr>
              <a:t>Spring 2026</a:t>
            </a:r>
            <a:endParaRPr lang="en-US" sz="700" dirty="0"/>
          </a:p>
        </p:txBody>
      </p:sp>
      <p:sp>
        <p:nvSpPr>
          <p:cNvPr id="32" name="Shape 30"/>
          <p:cNvSpPr/>
          <p:nvPr/>
        </p:nvSpPr>
        <p:spPr>
          <a:xfrm>
            <a:off x="366713" y="4705610"/>
            <a:ext cx="8410575" cy="233362"/>
          </a:xfrm>
          <a:prstGeom prst="rect">
            <a:avLst/>
          </a:prstGeom>
          <a:ln/>
        </p:spPr>
        <p:txBody>
          <a:bodyPr/>
          <a:lstStyle/>
          <a:p>
            <a:endParaRPr lang="en-IN"/>
          </a:p>
        </p:txBody>
      </p:sp>
      <p:sp>
        <p:nvSpPr>
          <p:cNvPr id="33" name="Text 31"/>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34" name="Text 32"/>
          <p:cNvSpPr/>
          <p:nvPr/>
        </p:nvSpPr>
        <p:spPr>
          <a:xfrm>
            <a:off x="8301224" y="4814181"/>
            <a:ext cx="47625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1 of 24</a:t>
            </a:r>
            <a:endParaRPr lang="en-US" sz="600" dirty="0"/>
          </a:p>
        </p:txBody>
      </p:sp>
      <p:pic>
        <p:nvPicPr>
          <p:cNvPr id="3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3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pic>
        <p:nvPicPr>
          <p:cNvPr id="44" name="Picture 43">
            <a:extLst>
              <a:ext uri="{FF2B5EF4-FFF2-40B4-BE49-F238E27FC236}">
                <a16:creationId xmlns:a16="http://schemas.microsoft.com/office/drawing/2014/main" id="{F3CAAAB1-FB2A-836E-E201-426E6B1A96EF}"/>
              </a:ext>
            </a:extLst>
          </p:cNvPr>
          <p:cNvPicPr>
            <a:picLocks noChangeAspect="1"/>
          </p:cNvPicPr>
          <p:nvPr/>
        </p:nvPicPr>
        <p:blipFill>
          <a:blip r:embed="rId5"/>
          <a:stretch>
            <a:fillRect/>
          </a:stretch>
        </p:blipFill>
        <p:spPr>
          <a:xfrm>
            <a:off x="4145412" y="682991"/>
            <a:ext cx="4998588" cy="33323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51434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690A081-9070-B846-5DF3-5F3A0F3DADA3}"/>
              </a:ext>
            </a:extLst>
          </p:cNvPr>
          <p:cNvSpPr txBox="1"/>
          <p:nvPr/>
        </p:nvSpPr>
        <p:spPr>
          <a:xfrm>
            <a:off x="6482394" y="367130"/>
            <a:ext cx="2318706" cy="56213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000" dirty="0">
                <a:latin typeface="+mj-lt"/>
                <a:ea typeface="+mj-ea"/>
                <a:cs typeface="+mj-cs"/>
              </a:rPr>
              <a:t>AGENDA</a:t>
            </a:r>
          </a:p>
        </p:txBody>
      </p:sp>
      <p:pic>
        <p:nvPicPr>
          <p:cNvPr id="7" name="Picture 6" descr="Calculator and folders">
            <a:extLst>
              <a:ext uri="{FF2B5EF4-FFF2-40B4-BE49-F238E27FC236}">
                <a16:creationId xmlns:a16="http://schemas.microsoft.com/office/drawing/2014/main" id="{00F94456-B351-504A-92AD-E86BFF1556B8}"/>
              </a:ext>
            </a:extLst>
          </p:cNvPr>
          <p:cNvPicPr>
            <a:picLocks noChangeAspect="1"/>
          </p:cNvPicPr>
          <p:nvPr/>
        </p:nvPicPr>
        <p:blipFill>
          <a:blip r:embed="rId2"/>
          <a:srcRect r="13254"/>
          <a:stretch>
            <a:fillRect/>
          </a:stretch>
        </p:blipFill>
        <p:spPr>
          <a:xfrm>
            <a:off x="20" y="323"/>
            <a:ext cx="6086455" cy="4806233"/>
          </a:xfrm>
          <a:prstGeom prst="rect">
            <a:avLst/>
          </a:prstGeom>
        </p:spPr>
      </p:pic>
      <p:sp>
        <p:nvSpPr>
          <p:cNvPr id="5" name="TextBox 4">
            <a:extLst>
              <a:ext uri="{FF2B5EF4-FFF2-40B4-BE49-F238E27FC236}">
                <a16:creationId xmlns:a16="http://schemas.microsoft.com/office/drawing/2014/main" id="{D4C5CE86-9AF2-73B3-BD16-F74DC5F57E31}"/>
              </a:ext>
            </a:extLst>
          </p:cNvPr>
          <p:cNvSpPr txBox="1"/>
          <p:nvPr/>
        </p:nvSpPr>
        <p:spPr>
          <a:xfrm>
            <a:off x="6482394" y="1204331"/>
            <a:ext cx="2207110" cy="3501483"/>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200" dirty="0">
                <a:latin typeface="Inter"/>
              </a:rPr>
              <a:t>Problem Statement</a:t>
            </a:r>
          </a:p>
          <a:p>
            <a:pPr marL="285750" indent="-228600">
              <a:lnSpc>
                <a:spcPct val="90000"/>
              </a:lnSpc>
              <a:spcAft>
                <a:spcPts val="600"/>
              </a:spcAft>
              <a:buFont typeface="Arial" panose="020B0604020202020204" pitchFamily="34" charset="0"/>
              <a:buChar char="•"/>
            </a:pPr>
            <a:r>
              <a:rPr lang="en-US" sz="1200" dirty="0">
                <a:latin typeface="Inter"/>
              </a:rPr>
              <a:t>Objective and Purpose</a:t>
            </a:r>
          </a:p>
          <a:p>
            <a:pPr marL="285750" indent="-228600">
              <a:lnSpc>
                <a:spcPct val="90000"/>
              </a:lnSpc>
              <a:spcAft>
                <a:spcPts val="600"/>
              </a:spcAft>
              <a:buFont typeface="Arial" panose="020B0604020202020204" pitchFamily="34" charset="0"/>
              <a:buChar char="•"/>
            </a:pPr>
            <a:r>
              <a:rPr lang="en-US" sz="1200" dirty="0">
                <a:latin typeface="Inter"/>
              </a:rPr>
              <a:t>Methodology</a:t>
            </a:r>
          </a:p>
          <a:p>
            <a:pPr marL="285750" indent="-228600">
              <a:lnSpc>
                <a:spcPct val="90000"/>
              </a:lnSpc>
              <a:spcAft>
                <a:spcPts val="600"/>
              </a:spcAft>
              <a:buFont typeface="Arial" panose="020B0604020202020204" pitchFamily="34" charset="0"/>
              <a:buChar char="•"/>
            </a:pPr>
            <a:r>
              <a:rPr lang="en-US" sz="1200" dirty="0">
                <a:latin typeface="Inter"/>
              </a:rPr>
              <a:t>Data Sourcing</a:t>
            </a:r>
          </a:p>
          <a:p>
            <a:pPr marL="285750" indent="-228600">
              <a:lnSpc>
                <a:spcPct val="90000"/>
              </a:lnSpc>
              <a:spcAft>
                <a:spcPts val="600"/>
              </a:spcAft>
              <a:buFont typeface="Arial" panose="020B0604020202020204" pitchFamily="34" charset="0"/>
              <a:buChar char="•"/>
            </a:pPr>
            <a:r>
              <a:rPr lang="en-US" sz="1200" dirty="0">
                <a:latin typeface="Inter"/>
              </a:rPr>
              <a:t>Data Cleaning</a:t>
            </a:r>
          </a:p>
          <a:p>
            <a:pPr marL="285750" indent="-228600">
              <a:lnSpc>
                <a:spcPct val="90000"/>
              </a:lnSpc>
              <a:spcAft>
                <a:spcPts val="600"/>
              </a:spcAft>
              <a:buFont typeface="Arial" panose="020B0604020202020204" pitchFamily="34" charset="0"/>
              <a:buChar char="•"/>
            </a:pPr>
            <a:r>
              <a:rPr lang="en-US" sz="1200" dirty="0">
                <a:latin typeface="Inter"/>
              </a:rPr>
              <a:t>Solution Overview</a:t>
            </a:r>
          </a:p>
          <a:p>
            <a:pPr marL="285750" indent="-228600">
              <a:lnSpc>
                <a:spcPct val="90000"/>
              </a:lnSpc>
              <a:spcAft>
                <a:spcPts val="600"/>
              </a:spcAft>
              <a:buFont typeface="Arial" panose="020B0604020202020204" pitchFamily="34" charset="0"/>
              <a:buChar char="•"/>
            </a:pPr>
            <a:r>
              <a:rPr lang="en-US" sz="1200" dirty="0">
                <a:latin typeface="Inter"/>
              </a:rPr>
              <a:t>Performance and Validation</a:t>
            </a:r>
          </a:p>
          <a:p>
            <a:pPr marL="285750" indent="-228600">
              <a:lnSpc>
                <a:spcPct val="90000"/>
              </a:lnSpc>
              <a:spcAft>
                <a:spcPts val="600"/>
              </a:spcAft>
              <a:buFont typeface="Arial" panose="020B0604020202020204" pitchFamily="34" charset="0"/>
              <a:buChar char="•"/>
            </a:pPr>
            <a:r>
              <a:rPr lang="en-US" sz="1200" dirty="0">
                <a:latin typeface="Inter"/>
              </a:rPr>
              <a:t>Model Selection</a:t>
            </a:r>
          </a:p>
          <a:p>
            <a:pPr marL="285750" indent="-228600">
              <a:lnSpc>
                <a:spcPct val="90000"/>
              </a:lnSpc>
              <a:spcAft>
                <a:spcPts val="600"/>
              </a:spcAft>
              <a:buFont typeface="Arial" panose="020B0604020202020204" pitchFamily="34" charset="0"/>
              <a:buChar char="•"/>
            </a:pPr>
            <a:r>
              <a:rPr lang="en-US" sz="1200" dirty="0">
                <a:latin typeface="Inter"/>
              </a:rPr>
              <a:t>Optimization Techniques</a:t>
            </a:r>
          </a:p>
          <a:p>
            <a:pPr marL="285750" indent="-228600">
              <a:lnSpc>
                <a:spcPct val="90000"/>
              </a:lnSpc>
              <a:spcAft>
                <a:spcPts val="600"/>
              </a:spcAft>
              <a:buFont typeface="Arial" panose="020B0604020202020204" pitchFamily="34" charset="0"/>
              <a:buChar char="•"/>
            </a:pPr>
            <a:r>
              <a:rPr lang="en-US" sz="1200" dirty="0">
                <a:latin typeface="Inter"/>
              </a:rPr>
              <a:t>Challenges &amp; Mitigation</a:t>
            </a:r>
          </a:p>
          <a:p>
            <a:pPr marL="285750" indent="-228600">
              <a:lnSpc>
                <a:spcPct val="90000"/>
              </a:lnSpc>
              <a:spcAft>
                <a:spcPts val="600"/>
              </a:spcAft>
              <a:buFont typeface="Arial" panose="020B0604020202020204" pitchFamily="34" charset="0"/>
              <a:buChar char="•"/>
            </a:pPr>
            <a:r>
              <a:rPr lang="en-US" sz="1200" dirty="0">
                <a:latin typeface="Inter"/>
              </a:rPr>
              <a:t>Impact Analysis</a:t>
            </a:r>
          </a:p>
          <a:p>
            <a:pPr marL="285750" indent="-228600">
              <a:lnSpc>
                <a:spcPct val="90000"/>
              </a:lnSpc>
              <a:spcAft>
                <a:spcPts val="600"/>
              </a:spcAft>
              <a:buFont typeface="Arial" panose="020B0604020202020204" pitchFamily="34" charset="0"/>
              <a:buChar char="•"/>
            </a:pPr>
            <a:r>
              <a:rPr lang="en-US" sz="1200" dirty="0">
                <a:latin typeface="Inter"/>
              </a:rPr>
              <a:t>Future Work</a:t>
            </a:r>
          </a:p>
          <a:p>
            <a:pPr marL="285750" indent="-228600">
              <a:lnSpc>
                <a:spcPct val="90000"/>
              </a:lnSpc>
              <a:spcAft>
                <a:spcPts val="600"/>
              </a:spcAft>
              <a:buFont typeface="Arial" panose="020B0604020202020204" pitchFamily="34" charset="0"/>
              <a:buChar char="•"/>
            </a:pPr>
            <a:r>
              <a:rPr lang="en-US" sz="1200" dirty="0">
                <a:latin typeface="Inter"/>
              </a:rPr>
              <a:t>References</a:t>
            </a:r>
          </a:p>
          <a:p>
            <a:pPr marL="285750" indent="-228600">
              <a:lnSpc>
                <a:spcPct val="90000"/>
              </a:lnSpc>
              <a:spcAft>
                <a:spcPts val="600"/>
              </a:spcAft>
              <a:buFont typeface="Arial" panose="020B0604020202020204" pitchFamily="34" charset="0"/>
              <a:buChar char="•"/>
            </a:pPr>
            <a:r>
              <a:rPr lang="en-US" sz="1200" dirty="0">
                <a:latin typeface="Inter"/>
              </a:rPr>
              <a:t>Demo &amp; </a:t>
            </a:r>
            <a:r>
              <a:rPr lang="en-US" sz="1200" dirty="0" err="1">
                <a:latin typeface="Inter"/>
              </a:rPr>
              <a:t>QnA</a:t>
            </a:r>
            <a:endParaRPr lang="en-US" sz="1200" dirty="0">
              <a:latin typeface="Inter"/>
            </a:endParaRPr>
          </a:p>
        </p:txBody>
      </p:sp>
      <p:sp>
        <p:nvSpPr>
          <p:cNvPr id="13" name="Rectangle 12">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806555"/>
            <a:ext cx="9143997" cy="3429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806556"/>
            <a:ext cx="6086475" cy="336944"/>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3460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452" y="1723466"/>
            <a:ext cx="9144000" cy="5143500"/>
          </a:xfrm>
          <a:prstGeom prst="rect">
            <a:avLst/>
          </a:prstGeom>
          <a:solidFill>
            <a:srgbClr val="FAFBFC"/>
          </a:solidFill>
          <a:ln/>
        </p:spPr>
        <p:txBody>
          <a:bodyPr/>
          <a:lstStyle/>
          <a:p>
            <a:endParaRPr lang="en-IN" dirty="0"/>
          </a:p>
        </p:txBody>
      </p:sp>
      <p:sp>
        <p:nvSpPr>
          <p:cNvPr id="3" name="Shape 1"/>
          <p:cNvSpPr/>
          <p:nvPr/>
        </p:nvSpPr>
        <p:spPr>
          <a:xfrm>
            <a:off x="366713" y="205643"/>
            <a:ext cx="8410575" cy="290513"/>
          </a:xfrm>
          <a:prstGeom prst="rect">
            <a:avLst/>
          </a:prstGeom>
          <a:ln/>
        </p:spPr>
        <p:txBody>
          <a:bodyPr/>
          <a:lstStyle/>
          <a:p>
            <a:endParaRPr lang="en-IN"/>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p:cNvSpPr/>
          <p:nvPr/>
        </p:nvSpPr>
        <p:spPr>
          <a:xfrm>
            <a:off x="6991983" y="228042"/>
            <a:ext cx="10096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PROBLEM STATEMENT</a:t>
            </a:r>
            <a:endParaRPr lang="en-US" sz="700" dirty="0"/>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8" name="Text 6"/>
          <p:cNvSpPr/>
          <p:nvPr/>
        </p:nvSpPr>
        <p:spPr>
          <a:xfrm>
            <a:off x="365261" y="649635"/>
            <a:ext cx="4024312" cy="152400"/>
          </a:xfrm>
          <a:prstGeom prst="rect">
            <a:avLst/>
          </a:prstGeom>
          <a:ln/>
        </p:spPr>
        <p:txBody>
          <a:bodyPr wrap="square" lIns="0" tIns="0" rIns="0" bIns="0" rtlCol="0" anchor="t"/>
          <a:lstStyle/>
          <a:p>
            <a:pPr marL="0" indent="0" algn="l">
              <a:lnSpc>
                <a:spcPts val="1188"/>
              </a:lnSpc>
              <a:spcAft>
                <a:spcPts val="405"/>
              </a:spcAft>
              <a:buNone/>
            </a:pPr>
            <a:r>
              <a:rPr lang="en-US" sz="700" b="1" dirty="0">
                <a:solidFill>
                  <a:srgbClr val="0D9488"/>
                </a:solidFill>
                <a:latin typeface="Inter" pitchFamily="34" charset="0"/>
                <a:ea typeface="Inter" pitchFamily="34" charset="-122"/>
                <a:cs typeface="Inter" pitchFamily="34" charset="-120"/>
              </a:rPr>
              <a:t>INDUSTRY CONTEXT</a:t>
            </a:r>
            <a:endParaRPr lang="en-US" sz="700" dirty="0"/>
          </a:p>
        </p:txBody>
      </p:sp>
      <p:sp>
        <p:nvSpPr>
          <p:cNvPr id="9" name="Text 7"/>
          <p:cNvSpPr/>
          <p:nvPr/>
        </p:nvSpPr>
        <p:spPr>
          <a:xfrm>
            <a:off x="365261" y="851706"/>
            <a:ext cx="4024312" cy="323850"/>
          </a:xfrm>
          <a:prstGeom prst="rect">
            <a:avLst/>
          </a:prstGeom>
          <a:ln/>
        </p:spPr>
        <p:txBody>
          <a:bodyPr wrap="square" lIns="0" tIns="0" rIns="0" bIns="0" rtlCol="0" anchor="t"/>
          <a:lstStyle/>
          <a:p>
            <a:pPr marL="0" indent="0" algn="l">
              <a:lnSpc>
                <a:spcPts val="2534"/>
              </a:lnSpc>
              <a:spcAft>
                <a:spcPts val="607"/>
              </a:spcAft>
              <a:buNone/>
            </a:pPr>
            <a:r>
              <a:rPr lang="en-US" sz="2300" b="1" dirty="0">
                <a:solidFill>
                  <a:srgbClr val="1E3A5F"/>
                </a:solidFill>
                <a:latin typeface="Inter" pitchFamily="34" charset="0"/>
                <a:ea typeface="Inter" pitchFamily="34" charset="-122"/>
                <a:cs typeface="Inter" pitchFamily="34" charset="-120"/>
              </a:rPr>
              <a:t>Problem Statement</a:t>
            </a:r>
            <a:endParaRPr lang="en-US" sz="2300" dirty="0"/>
          </a:p>
        </p:txBody>
      </p:sp>
      <p:sp>
        <p:nvSpPr>
          <p:cNvPr id="10" name="Text 8"/>
          <p:cNvSpPr/>
          <p:nvPr/>
        </p:nvSpPr>
        <p:spPr>
          <a:xfrm>
            <a:off x="365260" y="1251272"/>
            <a:ext cx="4191409" cy="472194"/>
          </a:xfrm>
          <a:prstGeom prst="rect">
            <a:avLst/>
          </a:prstGeom>
          <a:ln/>
        </p:spPr>
        <p:txBody>
          <a:bodyPr wrap="square" lIns="0" tIns="0" rIns="0" bIns="0" rtlCol="0" anchor="t"/>
          <a:lstStyle/>
          <a:p>
            <a:pPr marL="0" indent="0" algn="l">
              <a:lnSpc>
                <a:spcPts val="1498"/>
              </a:lnSpc>
              <a:buNone/>
            </a:pPr>
            <a:r>
              <a:rPr lang="en-US" sz="900" dirty="0">
                <a:solidFill>
                  <a:srgbClr val="475569"/>
                </a:solidFill>
                <a:latin typeface="Inter" pitchFamily="34" charset="0"/>
                <a:ea typeface="Inter" pitchFamily="34" charset="-122"/>
                <a:cs typeface="Inter" pitchFamily="34" charset="-120"/>
              </a:rPr>
              <a:t>IT helpdesks handle thousands of incoming tickets daily. </a:t>
            </a:r>
          </a:p>
          <a:p>
            <a:pPr marL="0" indent="0" algn="l">
              <a:lnSpc>
                <a:spcPts val="1498"/>
              </a:lnSpc>
              <a:buNone/>
            </a:pPr>
            <a:r>
              <a:rPr lang="en-US" sz="900" dirty="0">
                <a:solidFill>
                  <a:srgbClr val="475569"/>
                </a:solidFill>
                <a:latin typeface="Inter" pitchFamily="34" charset="0"/>
                <a:ea typeface="Inter" pitchFamily="34" charset="-122"/>
                <a:cs typeface="Inter" pitchFamily="34" charset="-120"/>
              </a:rPr>
              <a:t>Many describe the same issue differently due to natural language variability.</a:t>
            </a:r>
          </a:p>
          <a:p>
            <a:pPr marL="0" indent="0" algn="l">
              <a:lnSpc>
                <a:spcPts val="1498"/>
              </a:lnSpc>
              <a:buNone/>
            </a:pPr>
            <a:endParaRPr lang="en-US" sz="900" dirty="0">
              <a:solidFill>
                <a:srgbClr val="475569"/>
              </a:solidFill>
              <a:latin typeface="Inter" pitchFamily="34" charset="0"/>
              <a:ea typeface="Inter" pitchFamily="34" charset="-122"/>
            </a:endParaRPr>
          </a:p>
          <a:p>
            <a:pPr marL="0" indent="0" algn="l">
              <a:lnSpc>
                <a:spcPts val="1498"/>
              </a:lnSpc>
              <a:buNone/>
            </a:pPr>
            <a:endParaRPr lang="en-US" sz="900" dirty="0">
              <a:solidFill>
                <a:srgbClr val="475569"/>
              </a:solidFill>
              <a:latin typeface="Inter" pitchFamily="34" charset="0"/>
              <a:ea typeface="Inter" pitchFamily="34" charset="-122"/>
            </a:endParaRPr>
          </a:p>
          <a:p>
            <a:pPr marL="0" indent="0" algn="l">
              <a:lnSpc>
                <a:spcPts val="1498"/>
              </a:lnSpc>
              <a:buNone/>
            </a:pPr>
            <a:endParaRPr lang="en-US" sz="900" dirty="0">
              <a:solidFill>
                <a:srgbClr val="475569"/>
              </a:solidFill>
              <a:latin typeface="Inter" pitchFamily="34" charset="0"/>
              <a:ea typeface="Inter" pitchFamily="34" charset="-122"/>
            </a:endParaRPr>
          </a:p>
          <a:p>
            <a:pPr marL="0" indent="0" algn="l">
              <a:lnSpc>
                <a:spcPts val="1498"/>
              </a:lnSpc>
              <a:buNone/>
            </a:pPr>
            <a:endParaRPr lang="en-US" sz="900" dirty="0"/>
          </a:p>
        </p:txBody>
      </p:sp>
      <p:sp>
        <p:nvSpPr>
          <p:cNvPr id="11" name="Shape 9"/>
          <p:cNvSpPr/>
          <p:nvPr/>
        </p:nvSpPr>
        <p:spPr>
          <a:xfrm>
            <a:off x="366713" y="3462895"/>
            <a:ext cx="4024312" cy="1090613"/>
          </a:xfrm>
          <a:prstGeom prst="roundRect">
            <a:avLst>
              <a:gd name="adj" fmla="val 7030"/>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400"/>
          </a:p>
        </p:txBody>
      </p:sp>
      <p:sp>
        <p:nvSpPr>
          <p:cNvPr id="12" name="Text 10"/>
          <p:cNvSpPr/>
          <p:nvPr/>
        </p:nvSpPr>
        <p:spPr>
          <a:xfrm>
            <a:off x="554832" y="3572557"/>
            <a:ext cx="3648075" cy="152400"/>
          </a:xfrm>
          <a:prstGeom prst="rect">
            <a:avLst/>
          </a:prstGeom>
          <a:ln/>
        </p:spPr>
        <p:txBody>
          <a:bodyPr wrap="square" lIns="0" tIns="0" rIns="0" bIns="0" rtlCol="0" anchor="t"/>
          <a:lstStyle/>
          <a:p>
            <a:pPr marL="0" indent="0" algn="l">
              <a:lnSpc>
                <a:spcPts val="1188"/>
              </a:lnSpc>
              <a:spcAft>
                <a:spcPts val="607"/>
              </a:spcAft>
              <a:buNone/>
            </a:pPr>
            <a:r>
              <a:rPr lang="en-US" sz="1000" b="1" dirty="0">
                <a:solidFill>
                  <a:srgbClr val="1E3A5F"/>
                </a:solidFill>
                <a:latin typeface="Inter" pitchFamily="34" charset="0"/>
                <a:ea typeface="Inter" pitchFamily="34" charset="-122"/>
                <a:cs typeface="Inter" pitchFamily="34" charset="-120"/>
              </a:rPr>
              <a:t>Core Decision</a:t>
            </a:r>
            <a:endParaRPr lang="en-US" sz="1000" dirty="0"/>
          </a:p>
        </p:txBody>
      </p:sp>
      <p:sp>
        <p:nvSpPr>
          <p:cNvPr id="13" name="Shape 11"/>
          <p:cNvSpPr/>
          <p:nvPr/>
        </p:nvSpPr>
        <p:spPr>
          <a:xfrm>
            <a:off x="555241" y="3844862"/>
            <a:ext cx="90488" cy="90488"/>
          </a:xfrm>
          <a:prstGeom prst="ellipse">
            <a:avLst/>
          </a:prstGeom>
          <a:solidFill>
            <a:srgbClr val="0D9488"/>
          </a:solidFill>
          <a:ln/>
        </p:spPr>
        <p:txBody>
          <a:bodyPr/>
          <a:lstStyle/>
          <a:p>
            <a:endParaRPr lang="en-IN"/>
          </a:p>
        </p:txBody>
      </p:sp>
      <p:sp>
        <p:nvSpPr>
          <p:cNvPr id="14" name="Text 12"/>
          <p:cNvSpPr/>
          <p:nvPr/>
        </p:nvSpPr>
        <p:spPr>
          <a:xfrm>
            <a:off x="738113" y="3822836"/>
            <a:ext cx="2445353" cy="112514"/>
          </a:xfrm>
          <a:prstGeom prst="rect">
            <a:avLst/>
          </a:prstGeom>
          <a:ln/>
        </p:spPr>
        <p:txBody>
          <a:bodyPr wrap="square" lIns="0" tIns="0" rIns="0" bIns="0" rtlCol="0" anchor="t"/>
          <a:lstStyle/>
          <a:p>
            <a:pPr marL="0" indent="0" algn="l">
              <a:lnSpc>
                <a:spcPts val="1296"/>
              </a:lnSpc>
              <a:buNone/>
            </a:pPr>
            <a:r>
              <a:rPr lang="en-US" sz="1000" dirty="0">
                <a:solidFill>
                  <a:srgbClr val="475569"/>
                </a:solidFill>
                <a:latin typeface="Inter" pitchFamily="34" charset="0"/>
                <a:ea typeface="Inter" pitchFamily="34" charset="-122"/>
                <a:cs typeface="Inter" pitchFamily="34" charset="-120"/>
              </a:rPr>
              <a:t>Is this ticket a duplicate?</a:t>
            </a:r>
            <a:endParaRPr lang="en-US" sz="1000" dirty="0"/>
          </a:p>
        </p:txBody>
      </p:sp>
      <p:sp>
        <p:nvSpPr>
          <p:cNvPr id="15" name="Shape 13"/>
          <p:cNvSpPr/>
          <p:nvPr/>
        </p:nvSpPr>
        <p:spPr>
          <a:xfrm>
            <a:off x="547650" y="4071711"/>
            <a:ext cx="85242" cy="90488"/>
          </a:xfrm>
          <a:prstGeom prst="ellipse">
            <a:avLst/>
          </a:prstGeom>
          <a:solidFill>
            <a:srgbClr val="0D9488"/>
          </a:solidFill>
          <a:ln/>
        </p:spPr>
        <p:txBody>
          <a:bodyPr/>
          <a:lstStyle/>
          <a:p>
            <a:endParaRPr lang="en-IN"/>
          </a:p>
        </p:txBody>
      </p:sp>
      <p:sp>
        <p:nvSpPr>
          <p:cNvPr id="16" name="Text 14"/>
          <p:cNvSpPr/>
          <p:nvPr/>
        </p:nvSpPr>
        <p:spPr>
          <a:xfrm>
            <a:off x="738226" y="4038859"/>
            <a:ext cx="2804227" cy="191821"/>
          </a:xfrm>
          <a:prstGeom prst="rect">
            <a:avLst/>
          </a:prstGeom>
          <a:ln/>
        </p:spPr>
        <p:txBody>
          <a:bodyPr wrap="square" lIns="0" tIns="0" rIns="0" bIns="0" rtlCol="0" anchor="t"/>
          <a:lstStyle/>
          <a:p>
            <a:pPr marL="0" indent="0" algn="l">
              <a:lnSpc>
                <a:spcPts val="1296"/>
              </a:lnSpc>
              <a:buNone/>
            </a:pPr>
            <a:r>
              <a:rPr lang="en-US" sz="1000" dirty="0">
                <a:solidFill>
                  <a:srgbClr val="475569"/>
                </a:solidFill>
                <a:latin typeface="Inter" pitchFamily="34" charset="0"/>
                <a:ea typeface="Inter" pitchFamily="34" charset="-122"/>
                <a:cs typeface="Inter" pitchFamily="34" charset="-120"/>
              </a:rPr>
              <a:t>What solution should be recommended?</a:t>
            </a:r>
            <a:endParaRPr lang="en-US" sz="1000" dirty="0"/>
          </a:p>
        </p:txBody>
      </p:sp>
      <p:sp>
        <p:nvSpPr>
          <p:cNvPr id="17" name="Shape 15"/>
          <p:cNvSpPr/>
          <p:nvPr/>
        </p:nvSpPr>
        <p:spPr>
          <a:xfrm>
            <a:off x="555241" y="4276910"/>
            <a:ext cx="90488" cy="90488"/>
          </a:xfrm>
          <a:prstGeom prst="ellipse">
            <a:avLst/>
          </a:prstGeom>
          <a:solidFill>
            <a:srgbClr val="0D9488"/>
          </a:solidFill>
          <a:ln/>
        </p:spPr>
        <p:txBody>
          <a:bodyPr/>
          <a:lstStyle/>
          <a:p>
            <a:endParaRPr lang="en-IN"/>
          </a:p>
        </p:txBody>
      </p:sp>
      <p:sp>
        <p:nvSpPr>
          <p:cNvPr id="18" name="Text 16"/>
          <p:cNvSpPr/>
          <p:nvPr/>
        </p:nvSpPr>
        <p:spPr>
          <a:xfrm>
            <a:off x="738635" y="4254884"/>
            <a:ext cx="3007018" cy="112514"/>
          </a:xfrm>
          <a:prstGeom prst="rect">
            <a:avLst/>
          </a:prstGeom>
          <a:ln/>
        </p:spPr>
        <p:txBody>
          <a:bodyPr wrap="square" lIns="0" tIns="0" rIns="0" bIns="0" rtlCol="0" anchor="t"/>
          <a:lstStyle/>
          <a:p>
            <a:pPr marL="0" indent="0" algn="l">
              <a:lnSpc>
                <a:spcPts val="1296"/>
              </a:lnSpc>
              <a:buNone/>
            </a:pPr>
            <a:r>
              <a:rPr lang="en-US" sz="1000" dirty="0">
                <a:solidFill>
                  <a:srgbClr val="475569"/>
                </a:solidFill>
                <a:latin typeface="Inter" pitchFamily="34" charset="0"/>
                <a:ea typeface="Inter" pitchFamily="34" charset="-122"/>
                <a:cs typeface="Inter" pitchFamily="34" charset="-120"/>
              </a:rPr>
              <a:t>Should it be escalated, and where?</a:t>
            </a:r>
            <a:endParaRPr lang="en-US" sz="1000" dirty="0"/>
          </a:p>
        </p:txBody>
      </p:sp>
      <p:sp>
        <p:nvSpPr>
          <p:cNvPr id="19" name="Shape 17"/>
          <p:cNvSpPr/>
          <p:nvPr/>
        </p:nvSpPr>
        <p:spPr>
          <a:xfrm>
            <a:off x="4754835" y="649374"/>
            <a:ext cx="1943100" cy="1914525"/>
          </a:xfrm>
          <a:prstGeom prst="roundRect">
            <a:avLst>
              <a:gd name="adj" fmla="val 2281"/>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3600"/>
          </a:p>
        </p:txBody>
      </p:sp>
      <p:sp>
        <p:nvSpPr>
          <p:cNvPr id="20" name="Text 18"/>
          <p:cNvSpPr/>
          <p:nvPr/>
        </p:nvSpPr>
        <p:spPr>
          <a:xfrm>
            <a:off x="4923904" y="1082969"/>
            <a:ext cx="1604963" cy="204787"/>
          </a:xfrm>
          <a:prstGeom prst="rect">
            <a:avLst/>
          </a:prstGeom>
          <a:ln/>
        </p:spPr>
        <p:txBody>
          <a:bodyPr wrap="square" lIns="0" tIns="0" rIns="0" bIns="0" rtlCol="0" anchor="t"/>
          <a:lstStyle/>
          <a:p>
            <a:pPr marL="0" indent="0" algn="l">
              <a:lnSpc>
                <a:spcPts val="1620"/>
              </a:lnSpc>
              <a:spcAft>
                <a:spcPts val="405"/>
              </a:spcAft>
              <a:buNone/>
            </a:pPr>
            <a:r>
              <a:rPr lang="en-US" sz="1600" b="1" dirty="0">
                <a:solidFill>
                  <a:srgbClr val="0D9488"/>
                </a:solidFill>
                <a:latin typeface="Inter" pitchFamily="34" charset="0"/>
                <a:ea typeface="Inter" pitchFamily="34" charset="-122"/>
                <a:cs typeface="Inter" pitchFamily="34" charset="-120"/>
              </a:rPr>
              <a:t>50%</a:t>
            </a:r>
            <a:endParaRPr lang="en-US" sz="1600" dirty="0"/>
          </a:p>
        </p:txBody>
      </p:sp>
      <p:sp>
        <p:nvSpPr>
          <p:cNvPr id="21" name="Text 19"/>
          <p:cNvSpPr/>
          <p:nvPr/>
        </p:nvSpPr>
        <p:spPr>
          <a:xfrm>
            <a:off x="4923904" y="1470251"/>
            <a:ext cx="1604963" cy="138113"/>
          </a:xfrm>
          <a:prstGeom prst="rect">
            <a:avLst/>
          </a:prstGeom>
          <a:ln/>
        </p:spPr>
        <p:txBody>
          <a:bodyPr wrap="square" lIns="0" tIns="0" rIns="0" bIns="0" rtlCol="0" anchor="t"/>
          <a:lstStyle/>
          <a:p>
            <a:pPr marL="0" indent="0" algn="l">
              <a:lnSpc>
                <a:spcPts val="1080"/>
              </a:lnSpc>
              <a:spcAft>
                <a:spcPts val="203"/>
              </a:spcAft>
              <a:buNone/>
            </a:pPr>
            <a:r>
              <a:rPr lang="en-US" sz="1100" b="1" dirty="0">
                <a:solidFill>
                  <a:srgbClr val="1E3A5F"/>
                </a:solidFill>
                <a:latin typeface="Inter" pitchFamily="34" charset="0"/>
                <a:ea typeface="Inter" pitchFamily="34" charset="-122"/>
                <a:cs typeface="Inter" pitchFamily="34" charset="-120"/>
              </a:rPr>
              <a:t>Duplicate Tickets</a:t>
            </a:r>
            <a:endParaRPr lang="en-US" sz="1100" dirty="0"/>
          </a:p>
        </p:txBody>
      </p:sp>
      <p:sp>
        <p:nvSpPr>
          <p:cNvPr id="22" name="Text 20"/>
          <p:cNvSpPr/>
          <p:nvPr/>
        </p:nvSpPr>
        <p:spPr>
          <a:xfrm>
            <a:off x="4923904" y="1839927"/>
            <a:ext cx="1604963" cy="261937"/>
          </a:xfrm>
          <a:prstGeom prst="rect">
            <a:avLst/>
          </a:prstGeom>
          <a:ln/>
        </p:spPr>
        <p:txBody>
          <a:bodyPr wrap="square" lIns="0" tIns="0" rIns="0" bIns="0" rtlCol="0" anchor="t"/>
          <a:lstStyle/>
          <a:p>
            <a:pPr marL="0" indent="0" algn="l">
              <a:lnSpc>
                <a:spcPts val="1026"/>
              </a:lnSpc>
              <a:buNone/>
            </a:pPr>
            <a:r>
              <a:rPr lang="en-US" sz="1050" dirty="0">
                <a:solidFill>
                  <a:srgbClr val="64748B"/>
                </a:solidFill>
                <a:latin typeface="Inter" pitchFamily="34" charset="0"/>
                <a:ea typeface="Inter" pitchFamily="34" charset="-122"/>
                <a:cs typeface="Inter" pitchFamily="34" charset="-120"/>
              </a:rPr>
              <a:t>Engineers re-solve known problems repeatedly</a:t>
            </a:r>
            <a:endParaRPr lang="en-US" sz="1050" dirty="0"/>
          </a:p>
        </p:txBody>
      </p:sp>
      <p:sp>
        <p:nvSpPr>
          <p:cNvPr id="23" name="Shape 21"/>
          <p:cNvSpPr/>
          <p:nvPr/>
        </p:nvSpPr>
        <p:spPr>
          <a:xfrm>
            <a:off x="6835118" y="649374"/>
            <a:ext cx="1943100" cy="1914525"/>
          </a:xfrm>
          <a:prstGeom prst="roundRect">
            <a:avLst>
              <a:gd name="adj" fmla="val 2281"/>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3600"/>
          </a:p>
        </p:txBody>
      </p:sp>
      <p:sp>
        <p:nvSpPr>
          <p:cNvPr id="24" name="Text 22"/>
          <p:cNvSpPr/>
          <p:nvPr/>
        </p:nvSpPr>
        <p:spPr>
          <a:xfrm>
            <a:off x="7004186" y="1081437"/>
            <a:ext cx="1604963" cy="204787"/>
          </a:xfrm>
          <a:prstGeom prst="rect">
            <a:avLst/>
          </a:prstGeom>
          <a:ln/>
        </p:spPr>
        <p:txBody>
          <a:bodyPr wrap="square" lIns="0" tIns="0" rIns="0" bIns="0" rtlCol="0" anchor="t"/>
          <a:lstStyle/>
          <a:p>
            <a:pPr marL="0" indent="0" algn="l">
              <a:lnSpc>
                <a:spcPts val="1620"/>
              </a:lnSpc>
              <a:spcAft>
                <a:spcPts val="405"/>
              </a:spcAft>
              <a:buNone/>
            </a:pPr>
            <a:r>
              <a:rPr lang="en-US" sz="1600" b="1" dirty="0">
                <a:solidFill>
                  <a:srgbClr val="DC2626"/>
                </a:solidFill>
                <a:latin typeface="Inter" pitchFamily="34" charset="0"/>
                <a:ea typeface="Inter" pitchFamily="34" charset="-122"/>
                <a:cs typeface="Inter" pitchFamily="34" charset="-120"/>
              </a:rPr>
              <a:t>High</a:t>
            </a:r>
            <a:endParaRPr lang="en-US" sz="1600" dirty="0"/>
          </a:p>
        </p:txBody>
      </p:sp>
      <p:sp>
        <p:nvSpPr>
          <p:cNvPr id="25" name="Text 23"/>
          <p:cNvSpPr/>
          <p:nvPr/>
        </p:nvSpPr>
        <p:spPr>
          <a:xfrm>
            <a:off x="7004186" y="1452922"/>
            <a:ext cx="1604963" cy="138113"/>
          </a:xfrm>
          <a:prstGeom prst="rect">
            <a:avLst/>
          </a:prstGeom>
          <a:ln/>
        </p:spPr>
        <p:txBody>
          <a:bodyPr wrap="square" lIns="0" tIns="0" rIns="0" bIns="0" rtlCol="0" anchor="t"/>
          <a:lstStyle/>
          <a:p>
            <a:pPr marL="0" indent="0" algn="l">
              <a:lnSpc>
                <a:spcPts val="1080"/>
              </a:lnSpc>
              <a:spcAft>
                <a:spcPts val="203"/>
              </a:spcAft>
              <a:buNone/>
            </a:pPr>
            <a:r>
              <a:rPr lang="en-US" sz="1100" b="1" dirty="0">
                <a:solidFill>
                  <a:srgbClr val="1E3A5F"/>
                </a:solidFill>
                <a:latin typeface="Inter" pitchFamily="34" charset="0"/>
                <a:ea typeface="Inter" pitchFamily="34" charset="-122"/>
                <a:cs typeface="Inter" pitchFamily="34" charset="-120"/>
              </a:rPr>
              <a:t>LLM Hallucination Risk</a:t>
            </a:r>
            <a:endParaRPr lang="en-US" sz="1100" dirty="0"/>
          </a:p>
        </p:txBody>
      </p:sp>
      <p:sp>
        <p:nvSpPr>
          <p:cNvPr id="26" name="Text 24"/>
          <p:cNvSpPr/>
          <p:nvPr/>
        </p:nvSpPr>
        <p:spPr>
          <a:xfrm>
            <a:off x="7004186" y="1801117"/>
            <a:ext cx="1604963" cy="261937"/>
          </a:xfrm>
          <a:prstGeom prst="rect">
            <a:avLst/>
          </a:prstGeom>
          <a:ln/>
        </p:spPr>
        <p:txBody>
          <a:bodyPr wrap="square" lIns="0" tIns="0" rIns="0" bIns="0" rtlCol="0" anchor="t"/>
          <a:lstStyle/>
          <a:p>
            <a:pPr marL="0" indent="0" algn="l">
              <a:lnSpc>
                <a:spcPts val="1026"/>
              </a:lnSpc>
              <a:buNone/>
            </a:pPr>
            <a:r>
              <a:rPr lang="en-US" sz="1050" dirty="0">
                <a:solidFill>
                  <a:srgbClr val="64748B"/>
                </a:solidFill>
                <a:latin typeface="Inter" pitchFamily="34" charset="0"/>
                <a:ea typeface="Inter" pitchFamily="34" charset="-122"/>
                <a:cs typeface="Inter" pitchFamily="34" charset="-120"/>
              </a:rPr>
              <a:t>Generic LLMs generate incorrect or unsafe solutions</a:t>
            </a:r>
            <a:endParaRPr lang="en-US" sz="1050" dirty="0"/>
          </a:p>
        </p:txBody>
      </p:sp>
      <p:sp>
        <p:nvSpPr>
          <p:cNvPr id="27" name="Shape 25"/>
          <p:cNvSpPr/>
          <p:nvPr/>
        </p:nvSpPr>
        <p:spPr>
          <a:xfrm>
            <a:off x="4754835" y="2638983"/>
            <a:ext cx="1943100" cy="1914525"/>
          </a:xfrm>
          <a:prstGeom prst="roundRect">
            <a:avLst>
              <a:gd name="adj" fmla="val 2281"/>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3600"/>
          </a:p>
        </p:txBody>
      </p:sp>
      <p:sp>
        <p:nvSpPr>
          <p:cNvPr id="28" name="Text 26"/>
          <p:cNvSpPr/>
          <p:nvPr/>
        </p:nvSpPr>
        <p:spPr>
          <a:xfrm>
            <a:off x="4862921" y="2978571"/>
            <a:ext cx="1604963" cy="204787"/>
          </a:xfrm>
          <a:prstGeom prst="rect">
            <a:avLst/>
          </a:prstGeom>
          <a:ln/>
        </p:spPr>
        <p:txBody>
          <a:bodyPr wrap="square" lIns="0" tIns="0" rIns="0" bIns="0" rtlCol="0" anchor="t"/>
          <a:lstStyle/>
          <a:p>
            <a:pPr marL="0" indent="0" algn="l">
              <a:lnSpc>
                <a:spcPts val="1620"/>
              </a:lnSpc>
              <a:spcAft>
                <a:spcPts val="405"/>
              </a:spcAft>
              <a:buNone/>
            </a:pPr>
            <a:r>
              <a:rPr lang="en-US" sz="1600" b="1" dirty="0">
                <a:solidFill>
                  <a:srgbClr val="D97706"/>
                </a:solidFill>
                <a:latin typeface="Inter" pitchFamily="34" charset="0"/>
                <a:ea typeface="Inter" pitchFamily="34" charset="-122"/>
                <a:cs typeface="Inter" pitchFamily="34" charset="-120"/>
              </a:rPr>
              <a:t>Fails</a:t>
            </a:r>
            <a:endParaRPr lang="en-US" sz="1600" dirty="0"/>
          </a:p>
        </p:txBody>
      </p:sp>
      <p:sp>
        <p:nvSpPr>
          <p:cNvPr id="29" name="Text 27"/>
          <p:cNvSpPr/>
          <p:nvPr/>
        </p:nvSpPr>
        <p:spPr>
          <a:xfrm>
            <a:off x="4862921" y="3381708"/>
            <a:ext cx="1604963" cy="138113"/>
          </a:xfrm>
          <a:prstGeom prst="rect">
            <a:avLst/>
          </a:prstGeom>
          <a:ln/>
        </p:spPr>
        <p:txBody>
          <a:bodyPr wrap="square" lIns="0" tIns="0" rIns="0" bIns="0" rtlCol="0" anchor="t"/>
          <a:lstStyle/>
          <a:p>
            <a:pPr marL="0" indent="0" algn="l">
              <a:lnSpc>
                <a:spcPts val="1080"/>
              </a:lnSpc>
              <a:spcAft>
                <a:spcPts val="203"/>
              </a:spcAft>
              <a:buNone/>
            </a:pPr>
            <a:r>
              <a:rPr lang="en-US" sz="1100" b="1" dirty="0">
                <a:solidFill>
                  <a:srgbClr val="1E3A5F"/>
                </a:solidFill>
                <a:latin typeface="Inter" pitchFamily="34" charset="0"/>
                <a:ea typeface="Inter" pitchFamily="34" charset="-122"/>
                <a:cs typeface="Inter" pitchFamily="34" charset="-120"/>
              </a:rPr>
              <a:t>Keyword Search</a:t>
            </a:r>
            <a:endParaRPr lang="en-US" sz="1100" dirty="0"/>
          </a:p>
        </p:txBody>
      </p:sp>
      <p:sp>
        <p:nvSpPr>
          <p:cNvPr id="30" name="Text 28"/>
          <p:cNvSpPr/>
          <p:nvPr/>
        </p:nvSpPr>
        <p:spPr>
          <a:xfrm>
            <a:off x="4862921" y="3775211"/>
            <a:ext cx="1604963" cy="261937"/>
          </a:xfrm>
          <a:prstGeom prst="rect">
            <a:avLst/>
          </a:prstGeom>
          <a:ln/>
        </p:spPr>
        <p:txBody>
          <a:bodyPr wrap="square" lIns="0" tIns="0" rIns="0" bIns="0" rtlCol="0" anchor="t"/>
          <a:lstStyle/>
          <a:p>
            <a:pPr marL="0" indent="0" algn="l">
              <a:lnSpc>
                <a:spcPts val="1026"/>
              </a:lnSpc>
              <a:buNone/>
            </a:pPr>
            <a:r>
              <a:rPr lang="en-US" sz="1050" dirty="0">
                <a:solidFill>
                  <a:srgbClr val="64748B"/>
                </a:solidFill>
                <a:latin typeface="Inter" pitchFamily="34" charset="0"/>
                <a:ea typeface="Inter" pitchFamily="34" charset="-122"/>
                <a:cs typeface="Inter" pitchFamily="34" charset="-120"/>
              </a:rPr>
              <a:t>Paraphrased queries &amp; mixed technical language</a:t>
            </a:r>
            <a:endParaRPr lang="en-US" sz="1050" dirty="0"/>
          </a:p>
        </p:txBody>
      </p:sp>
      <p:sp>
        <p:nvSpPr>
          <p:cNvPr id="31" name="Shape 29"/>
          <p:cNvSpPr/>
          <p:nvPr/>
        </p:nvSpPr>
        <p:spPr>
          <a:xfrm>
            <a:off x="6835118" y="2638983"/>
            <a:ext cx="1943100" cy="1914525"/>
          </a:xfrm>
          <a:prstGeom prst="roundRect">
            <a:avLst>
              <a:gd name="adj" fmla="val 2281"/>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3600"/>
          </a:p>
        </p:txBody>
      </p:sp>
      <p:sp>
        <p:nvSpPr>
          <p:cNvPr id="32" name="Text 30"/>
          <p:cNvSpPr/>
          <p:nvPr/>
        </p:nvSpPr>
        <p:spPr>
          <a:xfrm>
            <a:off x="7004186" y="2978510"/>
            <a:ext cx="1604963" cy="204787"/>
          </a:xfrm>
          <a:prstGeom prst="rect">
            <a:avLst/>
          </a:prstGeom>
          <a:ln/>
        </p:spPr>
        <p:txBody>
          <a:bodyPr wrap="square" lIns="0" tIns="0" rIns="0" bIns="0" rtlCol="0" anchor="t"/>
          <a:lstStyle/>
          <a:p>
            <a:pPr marL="0" indent="0" algn="l">
              <a:lnSpc>
                <a:spcPts val="1620"/>
              </a:lnSpc>
              <a:spcAft>
                <a:spcPts val="405"/>
              </a:spcAft>
              <a:buNone/>
            </a:pPr>
            <a:r>
              <a:rPr lang="en-US" sz="1600" b="1" dirty="0">
                <a:solidFill>
                  <a:srgbClr val="DC2626"/>
                </a:solidFill>
                <a:latin typeface="Inter" pitchFamily="34" charset="0"/>
                <a:ea typeface="Inter" pitchFamily="34" charset="-122"/>
                <a:cs typeface="Inter" pitchFamily="34" charset="-120"/>
              </a:rPr>
              <a:t>Slow</a:t>
            </a:r>
            <a:endParaRPr lang="en-US" sz="1600" dirty="0"/>
          </a:p>
        </p:txBody>
      </p:sp>
      <p:sp>
        <p:nvSpPr>
          <p:cNvPr id="33" name="Text 31"/>
          <p:cNvSpPr/>
          <p:nvPr/>
        </p:nvSpPr>
        <p:spPr>
          <a:xfrm>
            <a:off x="7004186" y="3365894"/>
            <a:ext cx="1604963" cy="138113"/>
          </a:xfrm>
          <a:prstGeom prst="rect">
            <a:avLst/>
          </a:prstGeom>
          <a:ln/>
        </p:spPr>
        <p:txBody>
          <a:bodyPr wrap="square" lIns="0" tIns="0" rIns="0" bIns="0" rtlCol="0" anchor="t"/>
          <a:lstStyle/>
          <a:p>
            <a:pPr marL="0" indent="0" algn="l">
              <a:lnSpc>
                <a:spcPts val="1080"/>
              </a:lnSpc>
              <a:spcAft>
                <a:spcPts val="203"/>
              </a:spcAft>
              <a:buNone/>
            </a:pPr>
            <a:r>
              <a:rPr lang="en-US" sz="1100" b="1" dirty="0">
                <a:solidFill>
                  <a:srgbClr val="1E3A5F"/>
                </a:solidFill>
                <a:latin typeface="Inter" pitchFamily="34" charset="0"/>
                <a:ea typeface="Inter" pitchFamily="34" charset="-122"/>
                <a:cs typeface="Inter" pitchFamily="34" charset="-120"/>
              </a:rPr>
              <a:t>Triage Inefficiency</a:t>
            </a:r>
            <a:endParaRPr lang="en-US" sz="1100" dirty="0"/>
          </a:p>
        </p:txBody>
      </p:sp>
      <p:sp>
        <p:nvSpPr>
          <p:cNvPr id="34" name="Text 32"/>
          <p:cNvSpPr/>
          <p:nvPr/>
        </p:nvSpPr>
        <p:spPr>
          <a:xfrm>
            <a:off x="6994972" y="3747529"/>
            <a:ext cx="1604963" cy="261937"/>
          </a:xfrm>
          <a:prstGeom prst="rect">
            <a:avLst/>
          </a:prstGeom>
          <a:ln/>
        </p:spPr>
        <p:txBody>
          <a:bodyPr wrap="square" lIns="0" tIns="0" rIns="0" bIns="0" rtlCol="0" anchor="t"/>
          <a:lstStyle/>
          <a:p>
            <a:pPr marL="0" indent="0" algn="l">
              <a:lnSpc>
                <a:spcPts val="1026"/>
              </a:lnSpc>
              <a:buNone/>
            </a:pPr>
            <a:r>
              <a:rPr lang="en-US" sz="1050" dirty="0">
                <a:solidFill>
                  <a:srgbClr val="64748B"/>
                </a:solidFill>
                <a:latin typeface="Inter" pitchFamily="34" charset="0"/>
                <a:ea typeface="Inter" pitchFamily="34" charset="-122"/>
                <a:cs typeface="Inter" pitchFamily="34" charset="-120"/>
              </a:rPr>
              <a:t>Wrong departments, SLA breaches, longer resolution</a:t>
            </a:r>
            <a:endParaRPr lang="en-US" sz="1050" dirty="0"/>
          </a:p>
        </p:txBody>
      </p:sp>
      <p:sp>
        <p:nvSpPr>
          <p:cNvPr id="35" name="Shape 33"/>
          <p:cNvSpPr/>
          <p:nvPr/>
        </p:nvSpPr>
        <p:spPr>
          <a:xfrm>
            <a:off x="366713" y="4705610"/>
            <a:ext cx="8410575" cy="233362"/>
          </a:xfrm>
          <a:prstGeom prst="rect">
            <a:avLst/>
          </a:prstGeom>
          <a:ln/>
        </p:spPr>
        <p:txBody>
          <a:bodyPr/>
          <a:lstStyle/>
          <a:p>
            <a:endParaRPr lang="en-IN"/>
          </a:p>
        </p:txBody>
      </p:sp>
      <p:sp>
        <p:nvSpPr>
          <p:cNvPr id="36" name="Text 34"/>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37" name="Text 35"/>
          <p:cNvSpPr/>
          <p:nvPr/>
        </p:nvSpPr>
        <p:spPr>
          <a:xfrm>
            <a:off x="8283439" y="4814181"/>
            <a:ext cx="4953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2 of 24</a:t>
            </a:r>
            <a:endParaRPr lang="en-US" sz="600" dirty="0"/>
          </a:p>
        </p:txBody>
      </p:sp>
      <p:pic>
        <p:nvPicPr>
          <p:cNvPr id="3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3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sp>
        <p:nvSpPr>
          <p:cNvPr id="40" name="Shape 9">
            <a:extLst>
              <a:ext uri="{FF2B5EF4-FFF2-40B4-BE49-F238E27FC236}">
                <a16:creationId xmlns:a16="http://schemas.microsoft.com/office/drawing/2014/main" id="{43D79B13-BD57-A347-5E6C-3EB7AE5F4269}"/>
              </a:ext>
            </a:extLst>
          </p:cNvPr>
          <p:cNvSpPr/>
          <p:nvPr/>
        </p:nvSpPr>
        <p:spPr>
          <a:xfrm>
            <a:off x="366713" y="1756730"/>
            <a:ext cx="4024312" cy="1576983"/>
          </a:xfrm>
          <a:prstGeom prst="roundRect">
            <a:avLst>
              <a:gd name="adj" fmla="val 7030"/>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a:p>
        </p:txBody>
      </p:sp>
      <p:sp>
        <p:nvSpPr>
          <p:cNvPr id="41" name="TextBox 40">
            <a:extLst>
              <a:ext uri="{FF2B5EF4-FFF2-40B4-BE49-F238E27FC236}">
                <a16:creationId xmlns:a16="http://schemas.microsoft.com/office/drawing/2014/main" id="{5089AF8D-78DE-961C-34B6-5B8BE7718B16}"/>
              </a:ext>
            </a:extLst>
          </p:cNvPr>
          <p:cNvSpPr txBox="1"/>
          <p:nvPr/>
        </p:nvSpPr>
        <p:spPr>
          <a:xfrm>
            <a:off x="366714" y="1767631"/>
            <a:ext cx="4024311" cy="191514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GB" sz="1000" dirty="0">
                <a:latin typeface="Inter"/>
              </a:rPr>
              <a:t>Recent research shows that 66% of workers report job burnout, with 82% at risk of it in 2025. [</a:t>
            </a:r>
            <a:r>
              <a:rPr lang="en-GB" sz="1000" dirty="0">
                <a:latin typeface="Inter"/>
                <a:hlinkClick r:id="rId5"/>
              </a:rPr>
              <a:t>1</a:t>
            </a:r>
            <a:r>
              <a:rPr lang="en-GB" sz="1000" dirty="0">
                <a:latin typeface="Inter"/>
              </a:rPr>
              <a:t>]</a:t>
            </a:r>
          </a:p>
          <a:p>
            <a:pPr marL="171450" indent="-171450">
              <a:lnSpc>
                <a:spcPct val="150000"/>
              </a:lnSpc>
              <a:buFont typeface="Arial" panose="020B0604020202020204" pitchFamily="34" charset="0"/>
              <a:buChar char="•"/>
            </a:pPr>
            <a:r>
              <a:rPr lang="en-IN" sz="1000" dirty="0">
                <a:latin typeface="Inter"/>
              </a:rPr>
              <a:t>In recent survey shows IT helpdesk can be an unforgiving job, over</a:t>
            </a:r>
            <a:r>
              <a:rPr lang="en-GB" sz="1000" dirty="0">
                <a:latin typeface="Inter"/>
              </a:rPr>
              <a:t> 73% of IT professionals believed their IT department was understaffed. [</a:t>
            </a:r>
            <a:r>
              <a:rPr lang="en-GB" sz="1000" dirty="0">
                <a:latin typeface="Inter"/>
                <a:hlinkClick r:id="rId5"/>
              </a:rPr>
              <a:t>2</a:t>
            </a:r>
            <a:r>
              <a:rPr lang="en-GB" sz="1000" dirty="0">
                <a:latin typeface="Inter"/>
              </a:rPr>
              <a:t>]</a:t>
            </a:r>
          </a:p>
          <a:p>
            <a:pPr marL="171450" indent="-171450">
              <a:lnSpc>
                <a:spcPct val="150000"/>
              </a:lnSpc>
              <a:buFont typeface="Arial" panose="020B0604020202020204" pitchFamily="34" charset="0"/>
              <a:buChar char="•"/>
            </a:pPr>
            <a:r>
              <a:rPr lang="en-GB" sz="1000" dirty="0">
                <a:latin typeface="Inter"/>
              </a:rPr>
              <a:t>Inefficient triaging and resolution delays cost organizations </a:t>
            </a:r>
            <a:r>
              <a:rPr lang="en-GB" sz="1000" b="1" dirty="0">
                <a:latin typeface="Inter"/>
              </a:rPr>
              <a:t>millions annually. </a:t>
            </a:r>
            <a:r>
              <a:rPr lang="en-GB" sz="1000" dirty="0">
                <a:latin typeface="Inter"/>
              </a:rPr>
              <a:t>[</a:t>
            </a:r>
            <a:r>
              <a:rPr lang="en-GB" sz="1000" dirty="0">
                <a:latin typeface="Inter"/>
                <a:hlinkClick r:id="rId6"/>
              </a:rPr>
              <a:t>3</a:t>
            </a:r>
            <a:r>
              <a:rPr lang="en-GB" sz="1000" dirty="0">
                <a:latin typeface="Inter"/>
              </a:rPr>
              <a:t>]</a:t>
            </a:r>
          </a:p>
          <a:p>
            <a:pPr marL="171450" indent="-171450">
              <a:lnSpc>
                <a:spcPct val="150000"/>
              </a:lnSpc>
              <a:buFont typeface="Arial" panose="020B0604020202020204" pitchFamily="34" charset="0"/>
              <a:buChar char="•"/>
            </a:pPr>
            <a:endParaRPr lang="en-GB" sz="1000" dirty="0">
              <a:latin typeface="Inter"/>
            </a:endParaRPr>
          </a:p>
          <a:p>
            <a:pPr marL="285750" indent="-285750">
              <a:lnSpc>
                <a:spcPct val="150000"/>
              </a:lnSpc>
              <a:buFont typeface="Arial" panose="020B0604020202020204" pitchFamily="34" charset="0"/>
              <a:buChar char="•"/>
            </a:pPr>
            <a:endParaRPr lang="en-IN" sz="1000" dirty="0">
              <a:latin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535853"/>
            <a:ext cx="8321040" cy="213954"/>
          </a:xfrm>
          <a:prstGeom prst="rect">
            <a:avLst/>
          </a:prstGeom>
          <a:noFill/>
          <a:ln/>
        </p:spPr>
        <p:txBody>
          <a:bodyPr wrap="square" lIns="0" tIns="0" rIns="0" bIns="0" rtlCol="0" anchor="ctr"/>
          <a:lstStyle/>
          <a:p>
            <a:r>
              <a:rPr lang="en-US" sz="2300" b="1" dirty="0">
                <a:solidFill>
                  <a:srgbClr val="1E3A5F"/>
                </a:solidFill>
                <a:latin typeface="Inter" pitchFamily="34" charset="0"/>
                <a:ea typeface="Inter" pitchFamily="34" charset="-122"/>
                <a:cs typeface="Inter" pitchFamily="34" charset="-120"/>
              </a:rPr>
              <a:t>What We Set Out To Build </a:t>
            </a:r>
            <a:endParaRPr lang="en-US" sz="2300" dirty="0"/>
          </a:p>
        </p:txBody>
      </p:sp>
      <p:sp>
        <p:nvSpPr>
          <p:cNvPr id="4" name="Shape 2"/>
          <p:cNvSpPr/>
          <p:nvPr/>
        </p:nvSpPr>
        <p:spPr>
          <a:xfrm>
            <a:off x="411480" y="804672"/>
            <a:ext cx="8321040" cy="27432"/>
          </a:xfrm>
          <a:prstGeom prst="rect">
            <a:avLst/>
          </a:prstGeom>
          <a:solidFill>
            <a:srgbClr val="007A7A"/>
          </a:solidFill>
          <a:ln w="12700">
            <a:solidFill>
              <a:srgbClr val="FFFFFF"/>
            </a:solidFill>
            <a:prstDash val="solid"/>
          </a:ln>
        </p:spPr>
        <p:txBody>
          <a:bodyPr/>
          <a:lstStyle/>
          <a:p>
            <a:endParaRPr lang="en-IN"/>
          </a:p>
        </p:txBody>
      </p:sp>
      <p:sp>
        <p:nvSpPr>
          <p:cNvPr id="5" name="Shape 3"/>
          <p:cNvSpPr/>
          <p:nvPr/>
        </p:nvSpPr>
        <p:spPr>
          <a:xfrm>
            <a:off x="320040" y="987552"/>
            <a:ext cx="8503920" cy="1170432"/>
          </a:xfrm>
          <a:prstGeom prst="rect">
            <a:avLst/>
          </a:prstGeom>
          <a:solidFill>
            <a:srgbClr val="132840"/>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6" name="Shape 4"/>
          <p:cNvSpPr/>
          <p:nvPr/>
        </p:nvSpPr>
        <p:spPr>
          <a:xfrm>
            <a:off x="384048" y="1188720"/>
            <a:ext cx="658368" cy="658368"/>
          </a:xfrm>
          <a:prstGeom prst="ellipse">
            <a:avLst/>
          </a:prstGeom>
          <a:solidFill>
            <a:srgbClr val="00A8A8"/>
          </a:solidFill>
          <a:ln w="12700">
            <a:solidFill>
              <a:srgbClr val="FFFFFF"/>
            </a:solidFill>
            <a:prstDash val="solid"/>
          </a:ln>
        </p:spPr>
        <p:txBody>
          <a:bodyPr/>
          <a:lstStyle/>
          <a:p>
            <a:endParaRPr lang="en-IN"/>
          </a:p>
        </p:txBody>
      </p:sp>
      <p:sp>
        <p:nvSpPr>
          <p:cNvPr id="7" name="Text 5"/>
          <p:cNvSpPr/>
          <p:nvPr/>
        </p:nvSpPr>
        <p:spPr>
          <a:xfrm>
            <a:off x="384048" y="1188720"/>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170432" y="1078992"/>
            <a:ext cx="7498080" cy="347472"/>
          </a:xfrm>
          <a:prstGeom prst="rect">
            <a:avLst/>
          </a:prstGeom>
          <a:noFill/>
          <a:ln/>
        </p:spPr>
        <p:txBody>
          <a:bodyPr wrap="square" lIns="0" tIns="0" rIns="0" bIns="0" rtlCol="0" anchor="ctr"/>
          <a:lstStyle/>
          <a:p>
            <a:pPr marL="0" indent="0" algn="l">
              <a:buNone/>
            </a:pPr>
            <a:r>
              <a:rPr lang="en-US" sz="1400" b="1" dirty="0">
                <a:solidFill>
                  <a:srgbClr val="00A8A8"/>
                </a:solidFill>
                <a:latin typeface="Calibri" pitchFamily="34" charset="0"/>
                <a:ea typeface="Calibri" pitchFamily="34" charset="-122"/>
                <a:cs typeface="Calibri" pitchFamily="34" charset="-120"/>
              </a:rPr>
              <a:t>Find Similar Past Tickets</a:t>
            </a:r>
            <a:endParaRPr lang="en-US" sz="1400" dirty="0"/>
          </a:p>
        </p:txBody>
      </p:sp>
      <p:sp>
        <p:nvSpPr>
          <p:cNvPr id="9" name="Text 7"/>
          <p:cNvSpPr/>
          <p:nvPr/>
        </p:nvSpPr>
        <p:spPr>
          <a:xfrm>
            <a:off x="1170432" y="1444752"/>
            <a:ext cx="7452360" cy="621792"/>
          </a:xfrm>
          <a:prstGeom prst="rect">
            <a:avLst/>
          </a:prstGeom>
          <a:noFill/>
          <a:ln/>
        </p:spPr>
        <p:txBody>
          <a:bodyPr wrap="square" lIns="0" tIns="0" rIns="0" bIns="0" rtlCol="0" anchor="ctr"/>
          <a:lstStyle/>
          <a:p>
            <a:pPr marL="0" indent="0" algn="l">
              <a:buNone/>
            </a:pPr>
            <a:r>
              <a:rPr lang="en-US" sz="1200" dirty="0">
                <a:solidFill>
                  <a:srgbClr val="F4F8F8"/>
                </a:solidFill>
                <a:latin typeface="Calibri" pitchFamily="34" charset="0"/>
                <a:ea typeface="Calibri" pitchFamily="34" charset="-122"/>
                <a:cs typeface="Calibri" pitchFamily="34" charset="-120"/>
              </a:rPr>
              <a:t>When a new problem comes in, the system instantly searches 80,000 past tickets and finds the closest matches, so teams don't start from scratch.</a:t>
            </a:r>
            <a:endParaRPr lang="en-US" sz="1200" dirty="0"/>
          </a:p>
        </p:txBody>
      </p:sp>
      <p:sp>
        <p:nvSpPr>
          <p:cNvPr id="10" name="Shape 8"/>
          <p:cNvSpPr/>
          <p:nvPr/>
        </p:nvSpPr>
        <p:spPr>
          <a:xfrm>
            <a:off x="320040" y="2286000"/>
            <a:ext cx="8503920" cy="1170432"/>
          </a:xfrm>
          <a:prstGeom prst="rect">
            <a:avLst/>
          </a:prstGeom>
          <a:solidFill>
            <a:srgbClr val="132840"/>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11" name="Shape 9"/>
          <p:cNvSpPr/>
          <p:nvPr/>
        </p:nvSpPr>
        <p:spPr>
          <a:xfrm>
            <a:off x="384048" y="2487168"/>
            <a:ext cx="658368" cy="658368"/>
          </a:xfrm>
          <a:prstGeom prst="ellipse">
            <a:avLst/>
          </a:prstGeom>
          <a:solidFill>
            <a:srgbClr val="B8E0E0"/>
          </a:solidFill>
          <a:ln w="12700">
            <a:solidFill>
              <a:srgbClr val="FFFFFF"/>
            </a:solidFill>
            <a:prstDash val="solid"/>
          </a:ln>
        </p:spPr>
        <p:txBody>
          <a:bodyPr/>
          <a:lstStyle/>
          <a:p>
            <a:endParaRPr lang="en-IN"/>
          </a:p>
        </p:txBody>
      </p:sp>
      <p:sp>
        <p:nvSpPr>
          <p:cNvPr id="12" name="Text 10"/>
          <p:cNvSpPr/>
          <p:nvPr/>
        </p:nvSpPr>
        <p:spPr>
          <a:xfrm>
            <a:off x="384048" y="248716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1170432" y="2377440"/>
            <a:ext cx="7498080" cy="347472"/>
          </a:xfrm>
          <a:prstGeom prst="rect">
            <a:avLst/>
          </a:prstGeom>
          <a:noFill/>
          <a:ln/>
        </p:spPr>
        <p:txBody>
          <a:bodyPr wrap="square" lIns="0" tIns="0" rIns="0" bIns="0" rtlCol="0" anchor="ctr"/>
          <a:lstStyle/>
          <a:p>
            <a:pPr marL="0" indent="0" algn="l">
              <a:buNone/>
            </a:pPr>
            <a:r>
              <a:rPr lang="en-US" sz="1400" b="1" dirty="0">
                <a:solidFill>
                  <a:srgbClr val="B8E0E0"/>
                </a:solidFill>
                <a:latin typeface="Calibri" pitchFamily="34" charset="0"/>
                <a:ea typeface="Calibri" pitchFamily="34" charset="-122"/>
                <a:cs typeface="Calibri" pitchFamily="34" charset="-120"/>
              </a:rPr>
              <a:t>Give a Grounded, Trustworthy Answer</a:t>
            </a:r>
            <a:endParaRPr lang="en-US" sz="1400" dirty="0"/>
          </a:p>
        </p:txBody>
      </p:sp>
      <p:sp>
        <p:nvSpPr>
          <p:cNvPr id="14" name="Text 12"/>
          <p:cNvSpPr/>
          <p:nvPr/>
        </p:nvSpPr>
        <p:spPr>
          <a:xfrm>
            <a:off x="1170432" y="2743200"/>
            <a:ext cx="7452360" cy="621792"/>
          </a:xfrm>
          <a:prstGeom prst="rect">
            <a:avLst/>
          </a:prstGeom>
          <a:noFill/>
          <a:ln/>
        </p:spPr>
        <p:txBody>
          <a:bodyPr wrap="square" lIns="0" tIns="0" rIns="0" bIns="0" rtlCol="0" anchor="ctr"/>
          <a:lstStyle/>
          <a:p>
            <a:pPr marL="0" indent="0" algn="l">
              <a:buNone/>
            </a:pPr>
            <a:r>
              <a:rPr lang="en-US" sz="1200" dirty="0">
                <a:solidFill>
                  <a:srgbClr val="F4F8F8"/>
                </a:solidFill>
                <a:latin typeface="Calibri" pitchFamily="34" charset="0"/>
                <a:ea typeface="Calibri" pitchFamily="34" charset="-122"/>
                <a:cs typeface="Calibri" pitchFamily="34" charset="-120"/>
              </a:rPr>
              <a:t>Instead of guessing, the AI pulls the actual solution steps from verified runbooks and past resolutions. Every answer comes with a source, so staff can check it.</a:t>
            </a:r>
            <a:endParaRPr lang="en-US" sz="1200" dirty="0"/>
          </a:p>
        </p:txBody>
      </p:sp>
      <p:sp>
        <p:nvSpPr>
          <p:cNvPr id="15" name="Shape 13"/>
          <p:cNvSpPr/>
          <p:nvPr/>
        </p:nvSpPr>
        <p:spPr>
          <a:xfrm>
            <a:off x="320040" y="3584448"/>
            <a:ext cx="8503920" cy="1170432"/>
          </a:xfrm>
          <a:prstGeom prst="rect">
            <a:avLst/>
          </a:prstGeom>
          <a:solidFill>
            <a:srgbClr val="132840"/>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16" name="Shape 14"/>
          <p:cNvSpPr/>
          <p:nvPr/>
        </p:nvSpPr>
        <p:spPr>
          <a:xfrm>
            <a:off x="384048" y="3785616"/>
            <a:ext cx="658368" cy="658368"/>
          </a:xfrm>
          <a:prstGeom prst="ellipse">
            <a:avLst/>
          </a:prstGeom>
          <a:solidFill>
            <a:srgbClr val="F97316"/>
          </a:solidFill>
          <a:ln w="12700">
            <a:solidFill>
              <a:srgbClr val="FFFFFF"/>
            </a:solidFill>
            <a:prstDash val="solid"/>
          </a:ln>
        </p:spPr>
        <p:txBody>
          <a:bodyPr/>
          <a:lstStyle/>
          <a:p>
            <a:endParaRPr lang="en-IN"/>
          </a:p>
        </p:txBody>
      </p:sp>
      <p:sp>
        <p:nvSpPr>
          <p:cNvPr id="17" name="Text 15"/>
          <p:cNvSpPr/>
          <p:nvPr/>
        </p:nvSpPr>
        <p:spPr>
          <a:xfrm>
            <a:off x="384048" y="3785616"/>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1170432" y="3675888"/>
            <a:ext cx="7498080" cy="347472"/>
          </a:xfrm>
          <a:prstGeom prst="rect">
            <a:avLst/>
          </a:prstGeom>
          <a:noFill/>
          <a:ln/>
        </p:spPr>
        <p:txBody>
          <a:bodyPr wrap="square" lIns="0" tIns="0" rIns="0" bIns="0" rtlCol="0" anchor="ctr"/>
          <a:lstStyle/>
          <a:p>
            <a:pPr marL="0" indent="0" algn="l">
              <a:buNone/>
            </a:pPr>
            <a:r>
              <a:rPr lang="en-US" sz="1400" b="1" dirty="0">
                <a:solidFill>
                  <a:srgbClr val="F97316"/>
                </a:solidFill>
                <a:latin typeface="Calibri" pitchFamily="34" charset="0"/>
                <a:ea typeface="Calibri" pitchFamily="34" charset="-122"/>
                <a:cs typeface="Calibri" pitchFamily="34" charset="-120"/>
              </a:rPr>
              <a:t>Route to the Right Team or Escalate</a:t>
            </a:r>
            <a:endParaRPr lang="en-US" sz="1400" dirty="0"/>
          </a:p>
        </p:txBody>
      </p:sp>
      <p:sp>
        <p:nvSpPr>
          <p:cNvPr id="19" name="Text 17"/>
          <p:cNvSpPr/>
          <p:nvPr/>
        </p:nvSpPr>
        <p:spPr>
          <a:xfrm>
            <a:off x="1170432" y="4041648"/>
            <a:ext cx="7452360" cy="621792"/>
          </a:xfrm>
          <a:prstGeom prst="rect">
            <a:avLst/>
          </a:prstGeom>
          <a:noFill/>
          <a:ln/>
        </p:spPr>
        <p:txBody>
          <a:bodyPr wrap="square" lIns="0" tIns="0" rIns="0" bIns="0" rtlCol="0" anchor="ctr"/>
          <a:lstStyle/>
          <a:p>
            <a:pPr marL="0" indent="0" algn="l">
              <a:buNone/>
            </a:pPr>
            <a:r>
              <a:rPr lang="en-US" sz="1200" dirty="0">
                <a:solidFill>
                  <a:srgbClr val="F4F8F8"/>
                </a:solidFill>
                <a:latin typeface="Calibri" pitchFamily="34" charset="0"/>
                <a:ea typeface="Calibri" pitchFamily="34" charset="-122"/>
                <a:cs typeface="Calibri" pitchFamily="34" charset="-120"/>
              </a:rPr>
              <a:t>The system decides which of 9 departments should handle the ticket. If it's not confident, it flags the ticket for a human rather than risk a wrong answer.</a:t>
            </a:r>
            <a:endParaRPr lang="en-US" sz="1200" dirty="0"/>
          </a:p>
        </p:txBody>
      </p:sp>
      <p:sp>
        <p:nvSpPr>
          <p:cNvPr id="20" name="Shape 2">
            <a:extLst>
              <a:ext uri="{FF2B5EF4-FFF2-40B4-BE49-F238E27FC236}">
                <a16:creationId xmlns:a16="http://schemas.microsoft.com/office/drawing/2014/main" id="{EFE09E08-5523-46EF-0C1D-1400572E38B1}"/>
              </a:ext>
            </a:extLst>
          </p:cNvPr>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21" name="Text 3">
            <a:extLst>
              <a:ext uri="{FF2B5EF4-FFF2-40B4-BE49-F238E27FC236}">
                <a16:creationId xmlns:a16="http://schemas.microsoft.com/office/drawing/2014/main" id="{EA94EDDA-CFD1-F356-01C3-DE718641D0A6}"/>
              </a:ext>
            </a:extLst>
          </p:cNvPr>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22" name="Text 4">
            <a:extLst>
              <a:ext uri="{FF2B5EF4-FFF2-40B4-BE49-F238E27FC236}">
                <a16:creationId xmlns:a16="http://schemas.microsoft.com/office/drawing/2014/main" id="{ED4F46A4-5E53-50E0-5351-415E54D9C653}"/>
              </a:ext>
            </a:extLst>
          </p:cNvPr>
          <p:cNvSpPr/>
          <p:nvPr/>
        </p:nvSpPr>
        <p:spPr>
          <a:xfrm>
            <a:off x="6991983" y="228042"/>
            <a:ext cx="1009650" cy="138113"/>
          </a:xfrm>
          <a:prstGeom prst="rect">
            <a:avLst/>
          </a:prstGeom>
          <a:ln/>
        </p:spPr>
        <p:txBody>
          <a:bodyPr wrap="square" lIns="0" tIns="0" rIns="0" bIns="0" rtlCol="0" anchor="t"/>
          <a:lstStyle/>
          <a:p>
            <a:pPr marL="0" indent="0" algn="l">
              <a:lnSpc>
                <a:spcPts val="1080"/>
              </a:lnSpc>
              <a:buNone/>
            </a:pPr>
            <a:r>
              <a:rPr lang="en-US" sz="700" b="1" dirty="0">
                <a:solidFill>
                  <a:schemeClr val="bg2">
                    <a:lumMod val="75000"/>
                  </a:schemeClr>
                </a:solidFill>
              </a:rPr>
              <a:t>OBJECTIVE &amp; PURPOSE</a:t>
            </a:r>
          </a:p>
        </p:txBody>
      </p:sp>
      <p:sp>
        <p:nvSpPr>
          <p:cNvPr id="23" name="Text 5">
            <a:extLst>
              <a:ext uri="{FF2B5EF4-FFF2-40B4-BE49-F238E27FC236}">
                <a16:creationId xmlns:a16="http://schemas.microsoft.com/office/drawing/2014/main" id="{D6554E1F-39BA-8CD8-D1CD-910F79079BDB}"/>
              </a:ext>
            </a:extLst>
          </p:cNvPr>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b="1" dirty="0">
                <a:solidFill>
                  <a:schemeClr val="bg2">
                    <a:lumMod val="75000"/>
                  </a:schemeClr>
                </a:solidFill>
                <a:latin typeface="Inter" pitchFamily="34" charset="0"/>
                <a:ea typeface="Inter" pitchFamily="34" charset="-122"/>
                <a:cs typeface="Inter" pitchFamily="34" charset="-120"/>
              </a:rPr>
              <a:t>SPRING 2026</a:t>
            </a:r>
            <a:endParaRPr lang="en-US" sz="700" b="1" dirty="0">
              <a:solidFill>
                <a:schemeClr val="bg2">
                  <a:lumMod val="7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451594"/>
            <a:ext cx="8321040" cy="298214"/>
          </a:xfrm>
          <a:prstGeom prst="rect">
            <a:avLst/>
          </a:prstGeom>
          <a:noFill/>
          <a:ln/>
        </p:spPr>
        <p:txBody>
          <a:bodyPr wrap="square" lIns="0" tIns="0" rIns="0" bIns="0" rtlCol="0" anchor="ctr"/>
          <a:lstStyle/>
          <a:p>
            <a:pPr>
              <a:lnSpc>
                <a:spcPts val="2534"/>
              </a:lnSpc>
              <a:spcAft>
                <a:spcPts val="607"/>
              </a:spcAft>
            </a:pPr>
            <a:r>
              <a:rPr lang="en-US" sz="2300" b="1" dirty="0">
                <a:solidFill>
                  <a:srgbClr val="1E3A5F"/>
                </a:solidFill>
                <a:latin typeface="Inter" pitchFamily="34" charset="0"/>
                <a:ea typeface="Inter" pitchFamily="34" charset="-122"/>
                <a:cs typeface="Inter" pitchFamily="34" charset="-120"/>
              </a:rPr>
              <a:t>Three Phase Engineering</a:t>
            </a:r>
            <a:endParaRPr lang="en-US" sz="2300" dirty="0"/>
          </a:p>
        </p:txBody>
      </p:sp>
      <p:sp>
        <p:nvSpPr>
          <p:cNvPr id="4" name="Shape 2"/>
          <p:cNvSpPr/>
          <p:nvPr/>
        </p:nvSpPr>
        <p:spPr>
          <a:xfrm>
            <a:off x="411480" y="804672"/>
            <a:ext cx="8321040" cy="27432"/>
          </a:xfrm>
          <a:prstGeom prst="rect">
            <a:avLst/>
          </a:prstGeom>
          <a:solidFill>
            <a:srgbClr val="00A8A8"/>
          </a:solidFill>
          <a:ln w="12700">
            <a:solidFill>
              <a:srgbClr val="FFFFFF"/>
            </a:solidFill>
            <a:prstDash val="solid"/>
          </a:ln>
        </p:spPr>
        <p:txBody>
          <a:bodyPr/>
          <a:lstStyle/>
          <a:p>
            <a:endParaRPr lang="en-IN"/>
          </a:p>
        </p:txBody>
      </p:sp>
      <p:sp>
        <p:nvSpPr>
          <p:cNvPr id="5" name="Shape 3"/>
          <p:cNvSpPr/>
          <p:nvPr/>
        </p:nvSpPr>
        <p:spPr>
          <a:xfrm>
            <a:off x="320040" y="960119"/>
            <a:ext cx="2670048" cy="1993053"/>
          </a:xfrm>
          <a:prstGeom prst="rect">
            <a:avLst/>
          </a:prstGeom>
          <a:solidFill>
            <a:srgbClr val="FFFFFF"/>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2670048" cy="310896"/>
          </a:xfrm>
          <a:prstGeom prst="rect">
            <a:avLst/>
          </a:prstGeom>
          <a:solidFill>
            <a:srgbClr val="007A7A"/>
          </a:solidFill>
          <a:ln w="12700">
            <a:solidFill>
              <a:srgbClr val="FFFFFF"/>
            </a:solidFill>
            <a:prstDash val="solid"/>
          </a:ln>
        </p:spPr>
        <p:txBody>
          <a:bodyPr/>
          <a:lstStyle/>
          <a:p>
            <a:endParaRPr lang="en-IN"/>
          </a:p>
        </p:txBody>
      </p:sp>
      <p:sp>
        <p:nvSpPr>
          <p:cNvPr id="7" name="Text 5"/>
          <p:cNvSpPr/>
          <p:nvPr/>
        </p:nvSpPr>
        <p:spPr>
          <a:xfrm>
            <a:off x="411480" y="987552"/>
            <a:ext cx="2487168" cy="256032"/>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STAGE 1  ·  Prove the Idea</a:t>
            </a:r>
            <a:endParaRPr lang="en-US" sz="1050" dirty="0"/>
          </a:p>
        </p:txBody>
      </p:sp>
      <p:sp>
        <p:nvSpPr>
          <p:cNvPr id="8" name="Text 6"/>
          <p:cNvSpPr/>
          <p:nvPr/>
        </p:nvSpPr>
        <p:spPr>
          <a:xfrm>
            <a:off x="411480" y="1335024"/>
            <a:ext cx="2487168" cy="1503003"/>
          </a:xfrm>
          <a:prstGeom prst="rect">
            <a:avLst/>
          </a:prstGeom>
          <a:noFill/>
          <a:ln/>
        </p:spPr>
        <p:txBody>
          <a:bodyPr wrap="square" lIns="0" tIns="0" rIns="0" bIns="0" rtlCol="0" anchor="ctr"/>
          <a:lstStyle/>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Started with ~2,600 real support tickets</a:t>
            </a:r>
            <a:endParaRPr lang="en-US" sz="1150" dirty="0"/>
          </a:p>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Built the first version of the AI assistant</a:t>
            </a:r>
            <a:endParaRPr lang="en-US" sz="1150" dirty="0"/>
          </a:p>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Ran early tests to check accuracy</a:t>
            </a:r>
            <a:endParaRPr lang="en-US" sz="1150" dirty="0"/>
          </a:p>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Result: answers were correct 93% of the time</a:t>
            </a:r>
            <a:endParaRPr lang="en-US" sz="1150" dirty="0"/>
          </a:p>
        </p:txBody>
      </p:sp>
      <p:sp>
        <p:nvSpPr>
          <p:cNvPr id="9" name="Shape 7"/>
          <p:cNvSpPr/>
          <p:nvPr/>
        </p:nvSpPr>
        <p:spPr>
          <a:xfrm>
            <a:off x="3172968" y="960120"/>
            <a:ext cx="2670048" cy="1993052"/>
          </a:xfrm>
          <a:prstGeom prst="rect">
            <a:avLst/>
          </a:prstGeom>
          <a:solidFill>
            <a:srgbClr val="FFFFFF"/>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10" name="Shape 8"/>
          <p:cNvSpPr/>
          <p:nvPr/>
        </p:nvSpPr>
        <p:spPr>
          <a:xfrm>
            <a:off x="3172968" y="960120"/>
            <a:ext cx="2670048" cy="310896"/>
          </a:xfrm>
          <a:prstGeom prst="rect">
            <a:avLst/>
          </a:prstGeom>
          <a:solidFill>
            <a:srgbClr val="00A8A8"/>
          </a:solidFill>
          <a:ln w="12700">
            <a:solidFill>
              <a:srgbClr val="FFFFFF"/>
            </a:solidFill>
            <a:prstDash val="solid"/>
          </a:ln>
        </p:spPr>
        <p:txBody>
          <a:bodyPr/>
          <a:lstStyle/>
          <a:p>
            <a:endParaRPr lang="en-IN"/>
          </a:p>
        </p:txBody>
      </p:sp>
      <p:sp>
        <p:nvSpPr>
          <p:cNvPr id="11" name="Text 9"/>
          <p:cNvSpPr/>
          <p:nvPr/>
        </p:nvSpPr>
        <p:spPr>
          <a:xfrm>
            <a:off x="3264408" y="987552"/>
            <a:ext cx="2487168" cy="256032"/>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STAGE 2  ·  Scale &amp; Strengthen</a:t>
            </a:r>
            <a:endParaRPr lang="en-US" sz="1050" dirty="0"/>
          </a:p>
        </p:txBody>
      </p:sp>
      <p:sp>
        <p:nvSpPr>
          <p:cNvPr id="12" name="Text 10"/>
          <p:cNvSpPr/>
          <p:nvPr/>
        </p:nvSpPr>
        <p:spPr>
          <a:xfrm>
            <a:off x="3264408" y="1335024"/>
            <a:ext cx="2487168" cy="1453896"/>
          </a:xfrm>
          <a:prstGeom prst="rect">
            <a:avLst/>
          </a:prstGeom>
          <a:noFill/>
          <a:ln/>
        </p:spPr>
        <p:txBody>
          <a:bodyPr wrap="square" lIns="0" tIns="0" rIns="0" bIns="0" rtlCol="0" anchor="ctr"/>
          <a:lstStyle/>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Grew the dataset to 70,000+ tickets</a:t>
            </a:r>
            <a:endParaRPr lang="en-US" sz="1150" dirty="0"/>
          </a:p>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Added smarter ways to search and rank answers</a:t>
            </a:r>
            <a:endParaRPr lang="en-US" sz="1150" dirty="0"/>
          </a:p>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Ran 8 different tests to find weak spots</a:t>
            </a:r>
            <a:endParaRPr lang="en-US" sz="1150" dirty="0"/>
          </a:p>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Result: accuracy rose to 99.6%, AI errors dropped to 4.5%</a:t>
            </a:r>
            <a:endParaRPr lang="en-US" sz="1150" dirty="0"/>
          </a:p>
        </p:txBody>
      </p:sp>
      <p:sp>
        <p:nvSpPr>
          <p:cNvPr id="13" name="Shape 11"/>
          <p:cNvSpPr/>
          <p:nvPr/>
        </p:nvSpPr>
        <p:spPr>
          <a:xfrm>
            <a:off x="6025896" y="960120"/>
            <a:ext cx="2670048" cy="1993052"/>
          </a:xfrm>
          <a:prstGeom prst="rect">
            <a:avLst/>
          </a:prstGeom>
          <a:solidFill>
            <a:srgbClr val="FFFFFF"/>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14" name="Shape 12"/>
          <p:cNvSpPr/>
          <p:nvPr/>
        </p:nvSpPr>
        <p:spPr>
          <a:xfrm>
            <a:off x="6025896" y="960120"/>
            <a:ext cx="2670048" cy="310896"/>
          </a:xfrm>
          <a:prstGeom prst="rect">
            <a:avLst/>
          </a:prstGeom>
          <a:solidFill>
            <a:srgbClr val="F97316"/>
          </a:solidFill>
          <a:ln w="12700">
            <a:solidFill>
              <a:srgbClr val="FFFFFF"/>
            </a:solidFill>
            <a:prstDash val="solid"/>
          </a:ln>
        </p:spPr>
        <p:txBody>
          <a:bodyPr/>
          <a:lstStyle/>
          <a:p>
            <a:endParaRPr lang="en-IN"/>
          </a:p>
        </p:txBody>
      </p:sp>
      <p:sp>
        <p:nvSpPr>
          <p:cNvPr id="15" name="Text 13"/>
          <p:cNvSpPr/>
          <p:nvPr/>
        </p:nvSpPr>
        <p:spPr>
          <a:xfrm>
            <a:off x="6117336" y="987552"/>
            <a:ext cx="2487168" cy="256032"/>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STAGE 3  ·  Ship the Product</a:t>
            </a:r>
            <a:endParaRPr lang="en-US" sz="1050" dirty="0"/>
          </a:p>
        </p:txBody>
      </p:sp>
      <p:sp>
        <p:nvSpPr>
          <p:cNvPr id="16" name="Text 14"/>
          <p:cNvSpPr/>
          <p:nvPr/>
        </p:nvSpPr>
        <p:spPr>
          <a:xfrm>
            <a:off x="6117336" y="1335024"/>
            <a:ext cx="2487168" cy="1618148"/>
          </a:xfrm>
          <a:prstGeom prst="rect">
            <a:avLst/>
          </a:prstGeom>
          <a:noFill/>
          <a:ln/>
        </p:spPr>
        <p:txBody>
          <a:bodyPr wrap="square" lIns="0" tIns="0" rIns="0" bIns="0" rtlCol="0" anchor="ctr"/>
          <a:lstStyle/>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Scaled to 80,000 tickets, 10 categories, 9 departments</a:t>
            </a:r>
            <a:endParaRPr lang="en-US" sz="1150" dirty="0"/>
          </a:p>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Built a live web app with login, chat, and admin views</a:t>
            </a:r>
            <a:endParaRPr lang="en-US" sz="1150" dirty="0"/>
          </a:p>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Fine-tuned the AI to match IT support tone and format</a:t>
            </a:r>
            <a:endParaRPr lang="en-US" sz="1150" dirty="0"/>
          </a:p>
          <a:p>
            <a:pPr marL="342900" indent="-342900" algn="l">
              <a:spcAft>
                <a:spcPts val="500"/>
              </a:spcAft>
              <a:buSzPct val="100000"/>
              <a:buChar char="•"/>
            </a:pPr>
            <a:r>
              <a:rPr lang="en-US" sz="1150" dirty="0">
                <a:solidFill>
                  <a:srgbClr val="0F2044"/>
                </a:solidFill>
                <a:latin typeface="Calibri" pitchFamily="34" charset="0"/>
                <a:ea typeface="Calibri" pitchFamily="34" charset="-122"/>
                <a:cs typeface="Calibri" pitchFamily="34" charset="-120"/>
              </a:rPr>
              <a:t>Kept a private, offline option for sensitive environments</a:t>
            </a:r>
            <a:endParaRPr lang="en-US" sz="1150" dirty="0"/>
          </a:p>
        </p:txBody>
      </p:sp>
      <p:sp>
        <p:nvSpPr>
          <p:cNvPr id="17" name="Text 15"/>
          <p:cNvSpPr/>
          <p:nvPr/>
        </p:nvSpPr>
        <p:spPr>
          <a:xfrm>
            <a:off x="1005840" y="2468880"/>
            <a:ext cx="320040" cy="320040"/>
          </a:xfrm>
          <a:prstGeom prst="rect">
            <a:avLst/>
          </a:prstGeom>
          <a:noFill/>
          <a:ln/>
        </p:spPr>
        <p:txBody>
          <a:bodyPr wrap="square" lIns="0" tIns="0" rIns="0" bIns="0" rtlCol="0" anchor="ctr"/>
          <a:lstStyle/>
          <a:p>
            <a:pPr marL="0" indent="0" algn="ctr">
              <a:buNone/>
            </a:pPr>
            <a:endParaRPr lang="en-US" sz="1500" dirty="0"/>
          </a:p>
        </p:txBody>
      </p:sp>
      <p:sp>
        <p:nvSpPr>
          <p:cNvPr id="18" name="Text 16"/>
          <p:cNvSpPr/>
          <p:nvPr/>
        </p:nvSpPr>
        <p:spPr>
          <a:xfrm>
            <a:off x="3858768" y="2468880"/>
            <a:ext cx="320040" cy="320040"/>
          </a:xfrm>
          <a:prstGeom prst="rect">
            <a:avLst/>
          </a:prstGeom>
          <a:noFill/>
          <a:ln/>
        </p:spPr>
        <p:txBody>
          <a:bodyPr wrap="square" lIns="0" tIns="0" rIns="0" bIns="0" rtlCol="0" anchor="ctr"/>
          <a:lstStyle/>
          <a:p>
            <a:pPr marL="0" indent="0" algn="ctr">
              <a:buNone/>
            </a:pPr>
            <a:endParaRPr lang="en-US" sz="1500" dirty="0"/>
          </a:p>
        </p:txBody>
      </p:sp>
      <p:sp>
        <p:nvSpPr>
          <p:cNvPr id="21" name="Shape 2">
            <a:extLst>
              <a:ext uri="{FF2B5EF4-FFF2-40B4-BE49-F238E27FC236}">
                <a16:creationId xmlns:a16="http://schemas.microsoft.com/office/drawing/2014/main" id="{A55F5149-14EB-40A0-224D-6123F0D3BCF4}"/>
              </a:ext>
            </a:extLst>
          </p:cNvPr>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22" name="Text 3">
            <a:extLst>
              <a:ext uri="{FF2B5EF4-FFF2-40B4-BE49-F238E27FC236}">
                <a16:creationId xmlns:a16="http://schemas.microsoft.com/office/drawing/2014/main" id="{1E227845-7273-A5B5-72ED-7A0415C687F0}"/>
              </a:ext>
            </a:extLst>
          </p:cNvPr>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23" name="Text 4">
            <a:extLst>
              <a:ext uri="{FF2B5EF4-FFF2-40B4-BE49-F238E27FC236}">
                <a16:creationId xmlns:a16="http://schemas.microsoft.com/office/drawing/2014/main" id="{3625D6F4-AD1F-7689-C827-2DE19E26ABF2}"/>
              </a:ext>
            </a:extLst>
          </p:cNvPr>
          <p:cNvSpPr/>
          <p:nvPr/>
        </p:nvSpPr>
        <p:spPr>
          <a:xfrm>
            <a:off x="6991983" y="228042"/>
            <a:ext cx="1009650" cy="138113"/>
          </a:xfrm>
          <a:prstGeom prst="rect">
            <a:avLst/>
          </a:prstGeom>
          <a:ln/>
        </p:spPr>
        <p:txBody>
          <a:bodyPr wrap="square" lIns="0" tIns="0" rIns="0" bIns="0" rtlCol="0" anchor="t"/>
          <a:lstStyle/>
          <a:p>
            <a:pPr marL="0" indent="0" algn="l">
              <a:lnSpc>
                <a:spcPts val="1080"/>
              </a:lnSpc>
              <a:buNone/>
            </a:pPr>
            <a:r>
              <a:rPr lang="en-US" sz="700" b="1" dirty="0">
                <a:solidFill>
                  <a:schemeClr val="bg2">
                    <a:lumMod val="75000"/>
                  </a:schemeClr>
                </a:solidFill>
              </a:rPr>
              <a:t>METHODOLOGY</a:t>
            </a:r>
          </a:p>
        </p:txBody>
      </p:sp>
      <p:sp>
        <p:nvSpPr>
          <p:cNvPr id="24" name="Text 5">
            <a:extLst>
              <a:ext uri="{FF2B5EF4-FFF2-40B4-BE49-F238E27FC236}">
                <a16:creationId xmlns:a16="http://schemas.microsoft.com/office/drawing/2014/main" id="{D4ED87EB-6816-E810-56AC-1799D35800D9}"/>
              </a:ext>
            </a:extLst>
          </p:cNvPr>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b="1" dirty="0">
                <a:solidFill>
                  <a:schemeClr val="bg2">
                    <a:lumMod val="75000"/>
                  </a:schemeClr>
                </a:solidFill>
                <a:latin typeface="Inter" pitchFamily="34" charset="0"/>
                <a:ea typeface="Inter" pitchFamily="34" charset="-122"/>
                <a:cs typeface="Inter" pitchFamily="34" charset="-120"/>
              </a:rPr>
              <a:t>SPRING 2026</a:t>
            </a:r>
            <a:endParaRPr lang="en-US" sz="700" b="1" dirty="0">
              <a:solidFill>
                <a:schemeClr val="bg2">
                  <a:lumMod val="75000"/>
                </a:schemeClr>
              </a:solidFill>
            </a:endParaRPr>
          </a:p>
        </p:txBody>
      </p:sp>
      <p:sp>
        <p:nvSpPr>
          <p:cNvPr id="25" name="Shape 15">
            <a:extLst>
              <a:ext uri="{FF2B5EF4-FFF2-40B4-BE49-F238E27FC236}">
                <a16:creationId xmlns:a16="http://schemas.microsoft.com/office/drawing/2014/main" id="{11C4518D-D612-E11D-B3CF-83D88296BD6B}"/>
              </a:ext>
            </a:extLst>
          </p:cNvPr>
          <p:cNvSpPr/>
          <p:nvPr/>
        </p:nvSpPr>
        <p:spPr>
          <a:xfrm>
            <a:off x="366675" y="3099010"/>
            <a:ext cx="4024312" cy="771525"/>
          </a:xfrm>
          <a:prstGeom prst="roundRect">
            <a:avLst>
              <a:gd name="adj" fmla="val 14047"/>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400"/>
          </a:p>
        </p:txBody>
      </p:sp>
      <p:sp>
        <p:nvSpPr>
          <p:cNvPr id="26" name="Text 16">
            <a:extLst>
              <a:ext uri="{FF2B5EF4-FFF2-40B4-BE49-F238E27FC236}">
                <a16:creationId xmlns:a16="http://schemas.microsoft.com/office/drawing/2014/main" id="{537573B4-C74F-DF2F-9BD9-1EAC017AB14E}"/>
              </a:ext>
            </a:extLst>
          </p:cNvPr>
          <p:cNvSpPr/>
          <p:nvPr/>
        </p:nvSpPr>
        <p:spPr>
          <a:xfrm>
            <a:off x="554794" y="3233811"/>
            <a:ext cx="3648075" cy="128588"/>
          </a:xfrm>
          <a:prstGeom prst="rect">
            <a:avLst/>
          </a:prstGeom>
          <a:ln/>
        </p:spPr>
        <p:txBody>
          <a:bodyPr wrap="square" lIns="0" tIns="0" rIns="0" bIns="0" rtlCol="0" anchor="t"/>
          <a:lstStyle/>
          <a:p>
            <a:pPr marL="0" indent="0" algn="l">
              <a:lnSpc>
                <a:spcPts val="1026"/>
              </a:lnSpc>
              <a:spcAft>
                <a:spcPts val="405"/>
              </a:spcAft>
              <a:buNone/>
            </a:pPr>
            <a:r>
              <a:rPr lang="en-US" sz="800" b="1" dirty="0">
                <a:solidFill>
                  <a:srgbClr val="0D9488"/>
                </a:solidFill>
                <a:latin typeface="Inter" pitchFamily="34" charset="0"/>
                <a:ea typeface="Inter" pitchFamily="34" charset="-122"/>
                <a:cs typeface="Inter" pitchFamily="34" charset="-120"/>
              </a:rPr>
              <a:t>USER PERSPECTIVE</a:t>
            </a:r>
            <a:endParaRPr lang="en-US" sz="800" dirty="0"/>
          </a:p>
        </p:txBody>
      </p:sp>
      <p:sp>
        <p:nvSpPr>
          <p:cNvPr id="27" name="Text 17">
            <a:extLst>
              <a:ext uri="{FF2B5EF4-FFF2-40B4-BE49-F238E27FC236}">
                <a16:creationId xmlns:a16="http://schemas.microsoft.com/office/drawing/2014/main" id="{7BD178E8-BB1C-CA4C-F89A-16BEEAAF5249}"/>
              </a:ext>
            </a:extLst>
          </p:cNvPr>
          <p:cNvSpPr/>
          <p:nvPr/>
        </p:nvSpPr>
        <p:spPr>
          <a:xfrm>
            <a:off x="554794" y="3413670"/>
            <a:ext cx="3648075" cy="323850"/>
          </a:xfrm>
          <a:prstGeom prst="rect">
            <a:avLst/>
          </a:prstGeom>
          <a:ln/>
        </p:spPr>
        <p:txBody>
          <a:bodyPr wrap="square" lIns="0" tIns="0" rIns="0" bIns="0" rtlCol="0" anchor="t"/>
          <a:lstStyle/>
          <a:p>
            <a:pPr marL="0" indent="0" algn="l">
              <a:lnSpc>
                <a:spcPts val="1267"/>
              </a:lnSpc>
              <a:buNone/>
            </a:pPr>
            <a:r>
              <a:rPr lang="en-US" sz="900" dirty="0">
                <a:solidFill>
                  <a:srgbClr val="1E3A5F"/>
                </a:solidFill>
                <a:latin typeface="Inter" pitchFamily="34" charset="0"/>
                <a:ea typeface="Inter" pitchFamily="34" charset="-122"/>
                <a:cs typeface="Inter" pitchFamily="34" charset="-120"/>
              </a:rPr>
              <a:t>Accurate, grounded solutions  improve self-resolution capability and reduce dependency on manual intervention</a:t>
            </a:r>
            <a:endParaRPr lang="en-US" sz="900" dirty="0"/>
          </a:p>
        </p:txBody>
      </p:sp>
      <p:sp>
        <p:nvSpPr>
          <p:cNvPr id="31" name="Shape 21">
            <a:extLst>
              <a:ext uri="{FF2B5EF4-FFF2-40B4-BE49-F238E27FC236}">
                <a16:creationId xmlns:a16="http://schemas.microsoft.com/office/drawing/2014/main" id="{0B9A52B0-835F-0023-8C69-3E0220B14436}"/>
              </a:ext>
            </a:extLst>
          </p:cNvPr>
          <p:cNvSpPr/>
          <p:nvPr/>
        </p:nvSpPr>
        <p:spPr>
          <a:xfrm>
            <a:off x="4580192" y="3064465"/>
            <a:ext cx="4024312" cy="1627441"/>
          </a:xfrm>
          <a:prstGeom prst="roundRect">
            <a:avLst>
              <a:gd name="adj" fmla="val 11767"/>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3200"/>
          </a:p>
        </p:txBody>
      </p:sp>
      <p:sp>
        <p:nvSpPr>
          <p:cNvPr id="32" name="Text 22">
            <a:extLst>
              <a:ext uri="{FF2B5EF4-FFF2-40B4-BE49-F238E27FC236}">
                <a16:creationId xmlns:a16="http://schemas.microsoft.com/office/drawing/2014/main" id="{AE11FB5A-48BE-C5C3-BA78-CDAF0E499E09}"/>
              </a:ext>
            </a:extLst>
          </p:cNvPr>
          <p:cNvSpPr/>
          <p:nvPr/>
        </p:nvSpPr>
        <p:spPr>
          <a:xfrm>
            <a:off x="4768906" y="3246969"/>
            <a:ext cx="3648075" cy="128588"/>
          </a:xfrm>
          <a:prstGeom prst="rect">
            <a:avLst/>
          </a:prstGeom>
          <a:ln/>
        </p:spPr>
        <p:txBody>
          <a:bodyPr wrap="square" lIns="0" tIns="0" rIns="0" bIns="0" rtlCol="0" anchor="t"/>
          <a:lstStyle/>
          <a:p>
            <a:pPr marL="0" indent="0" algn="l">
              <a:lnSpc>
                <a:spcPts val="1026"/>
              </a:lnSpc>
              <a:spcAft>
                <a:spcPts val="607"/>
              </a:spcAft>
              <a:buNone/>
            </a:pPr>
            <a:r>
              <a:rPr lang="en-US" sz="800" b="1" dirty="0">
                <a:solidFill>
                  <a:srgbClr val="0D9488"/>
                </a:solidFill>
                <a:latin typeface="Inter" pitchFamily="34" charset="0"/>
                <a:ea typeface="Inter" pitchFamily="34" charset="-122"/>
                <a:cs typeface="Inter" pitchFamily="34" charset="-120"/>
              </a:rPr>
              <a:t>SUCCESS CRITERIA</a:t>
            </a:r>
            <a:endParaRPr lang="en-US" sz="800" dirty="0"/>
          </a:p>
        </p:txBody>
      </p:sp>
      <p:sp>
        <p:nvSpPr>
          <p:cNvPr id="33" name="Text 23">
            <a:extLst>
              <a:ext uri="{FF2B5EF4-FFF2-40B4-BE49-F238E27FC236}">
                <a16:creationId xmlns:a16="http://schemas.microsoft.com/office/drawing/2014/main" id="{E20E134B-80A9-4E35-A655-B78D1751476D}"/>
              </a:ext>
            </a:extLst>
          </p:cNvPr>
          <p:cNvSpPr/>
          <p:nvPr/>
        </p:nvSpPr>
        <p:spPr>
          <a:xfrm>
            <a:off x="4768906" y="3721300"/>
            <a:ext cx="1028700" cy="247650"/>
          </a:xfrm>
          <a:prstGeom prst="rect">
            <a:avLst/>
          </a:prstGeom>
          <a:ln/>
        </p:spPr>
        <p:txBody>
          <a:bodyPr wrap="square" lIns="0" tIns="0" rIns="0" bIns="0" rtlCol="0" anchor="t"/>
          <a:lstStyle/>
          <a:p>
            <a:pPr marL="0" indent="0" algn="ctr">
              <a:lnSpc>
                <a:spcPts val="1944"/>
              </a:lnSpc>
              <a:buNone/>
            </a:pPr>
            <a:r>
              <a:rPr lang="en-US" sz="1600" b="1" dirty="0">
                <a:solidFill>
                  <a:srgbClr val="0D9488"/>
                </a:solidFill>
                <a:latin typeface="Inter" pitchFamily="34" charset="0"/>
                <a:ea typeface="Inter" pitchFamily="34" charset="-122"/>
                <a:cs typeface="Inter" pitchFamily="34" charset="-120"/>
              </a:rPr>
              <a:t>High</a:t>
            </a:r>
            <a:endParaRPr lang="en-US" sz="1600" dirty="0"/>
          </a:p>
        </p:txBody>
      </p:sp>
      <p:sp>
        <p:nvSpPr>
          <p:cNvPr id="34" name="Text 24">
            <a:extLst>
              <a:ext uri="{FF2B5EF4-FFF2-40B4-BE49-F238E27FC236}">
                <a16:creationId xmlns:a16="http://schemas.microsoft.com/office/drawing/2014/main" id="{D01EFEBB-258D-219D-667C-18CA8DE98C9F}"/>
              </a:ext>
            </a:extLst>
          </p:cNvPr>
          <p:cNvSpPr/>
          <p:nvPr/>
        </p:nvSpPr>
        <p:spPr>
          <a:xfrm>
            <a:off x="4768311" y="4154227"/>
            <a:ext cx="1028700" cy="123825"/>
          </a:xfrm>
          <a:prstGeom prst="rect">
            <a:avLst/>
          </a:prstGeom>
          <a:ln/>
        </p:spPr>
        <p:txBody>
          <a:bodyPr wrap="square" lIns="0" tIns="0" rIns="0" bIns="0" rtlCol="0" anchor="t"/>
          <a:lstStyle/>
          <a:p>
            <a:pPr marL="0" indent="0" algn="ctr">
              <a:lnSpc>
                <a:spcPts val="972"/>
              </a:lnSpc>
              <a:buNone/>
            </a:pPr>
            <a:r>
              <a:rPr lang="en-US" sz="1000" dirty="0">
                <a:solidFill>
                  <a:srgbClr val="64748B"/>
                </a:solidFill>
                <a:latin typeface="Inter" pitchFamily="34" charset="0"/>
                <a:ea typeface="Inter" pitchFamily="34" charset="-122"/>
                <a:cs typeface="Inter" pitchFamily="34" charset="-120"/>
              </a:rPr>
              <a:t>Recall@k &amp; MRR</a:t>
            </a:r>
            <a:endParaRPr lang="en-US" sz="1000" dirty="0"/>
          </a:p>
        </p:txBody>
      </p:sp>
      <p:sp>
        <p:nvSpPr>
          <p:cNvPr id="35" name="Text 26">
            <a:extLst>
              <a:ext uri="{FF2B5EF4-FFF2-40B4-BE49-F238E27FC236}">
                <a16:creationId xmlns:a16="http://schemas.microsoft.com/office/drawing/2014/main" id="{9BEC85F7-3EBB-94CC-52D4-E4101098DC6F}"/>
              </a:ext>
            </a:extLst>
          </p:cNvPr>
          <p:cNvSpPr/>
          <p:nvPr/>
        </p:nvSpPr>
        <p:spPr>
          <a:xfrm>
            <a:off x="6077998" y="3728074"/>
            <a:ext cx="1028700" cy="247650"/>
          </a:xfrm>
          <a:prstGeom prst="rect">
            <a:avLst/>
          </a:prstGeom>
          <a:ln/>
        </p:spPr>
        <p:txBody>
          <a:bodyPr wrap="square" lIns="0" tIns="0" rIns="0" bIns="0" rtlCol="0" anchor="t"/>
          <a:lstStyle/>
          <a:p>
            <a:pPr marL="0" indent="0" algn="ctr">
              <a:lnSpc>
                <a:spcPts val="1944"/>
              </a:lnSpc>
              <a:buNone/>
            </a:pPr>
            <a:r>
              <a:rPr lang="en-US" sz="1600" b="1" dirty="0">
                <a:solidFill>
                  <a:srgbClr val="1E3A5F"/>
                </a:solidFill>
                <a:latin typeface="Inter" pitchFamily="34" charset="0"/>
                <a:ea typeface="Inter" pitchFamily="34" charset="-122"/>
                <a:cs typeface="Inter" pitchFamily="34" charset="-120"/>
              </a:rPr>
              <a:t>Low</a:t>
            </a:r>
            <a:endParaRPr lang="en-US" sz="1600" dirty="0"/>
          </a:p>
        </p:txBody>
      </p:sp>
      <p:sp>
        <p:nvSpPr>
          <p:cNvPr id="36" name="Text 27">
            <a:extLst>
              <a:ext uri="{FF2B5EF4-FFF2-40B4-BE49-F238E27FC236}">
                <a16:creationId xmlns:a16="http://schemas.microsoft.com/office/drawing/2014/main" id="{FE732DAA-B119-37A5-D58C-DCA28C85BF78}"/>
              </a:ext>
            </a:extLst>
          </p:cNvPr>
          <p:cNvSpPr/>
          <p:nvPr/>
        </p:nvSpPr>
        <p:spPr>
          <a:xfrm>
            <a:off x="6117336" y="4131896"/>
            <a:ext cx="1028700" cy="123825"/>
          </a:xfrm>
          <a:prstGeom prst="rect">
            <a:avLst/>
          </a:prstGeom>
          <a:ln/>
        </p:spPr>
        <p:txBody>
          <a:bodyPr wrap="square" lIns="0" tIns="0" rIns="0" bIns="0" rtlCol="0" anchor="t"/>
          <a:lstStyle/>
          <a:p>
            <a:pPr marL="0" indent="0" algn="ctr">
              <a:lnSpc>
                <a:spcPts val="972"/>
              </a:lnSpc>
              <a:buNone/>
            </a:pPr>
            <a:r>
              <a:rPr lang="en-US" sz="1000" dirty="0">
                <a:solidFill>
                  <a:srgbClr val="64748B"/>
                </a:solidFill>
                <a:latin typeface="Inter" pitchFamily="34" charset="0"/>
                <a:ea typeface="Inter" pitchFamily="34" charset="-122"/>
                <a:cs typeface="Inter" pitchFamily="34" charset="-120"/>
              </a:rPr>
              <a:t>Hallucination Rate</a:t>
            </a:r>
            <a:endParaRPr lang="en-US" sz="1000" dirty="0"/>
          </a:p>
        </p:txBody>
      </p:sp>
      <p:sp>
        <p:nvSpPr>
          <p:cNvPr id="37" name="Text 29">
            <a:extLst>
              <a:ext uri="{FF2B5EF4-FFF2-40B4-BE49-F238E27FC236}">
                <a16:creationId xmlns:a16="http://schemas.microsoft.com/office/drawing/2014/main" id="{18CD8B27-A760-7F4E-598C-5E604668B06B}"/>
              </a:ext>
            </a:extLst>
          </p:cNvPr>
          <p:cNvSpPr/>
          <p:nvPr/>
        </p:nvSpPr>
        <p:spPr>
          <a:xfrm>
            <a:off x="7387686" y="3761560"/>
            <a:ext cx="1028700" cy="247650"/>
          </a:xfrm>
          <a:prstGeom prst="rect">
            <a:avLst/>
          </a:prstGeom>
          <a:ln/>
        </p:spPr>
        <p:txBody>
          <a:bodyPr wrap="square" lIns="0" tIns="0" rIns="0" bIns="0" rtlCol="0" anchor="t"/>
          <a:lstStyle/>
          <a:p>
            <a:pPr marL="0" indent="0" algn="ctr">
              <a:lnSpc>
                <a:spcPts val="1944"/>
              </a:lnSpc>
              <a:buNone/>
            </a:pPr>
            <a:r>
              <a:rPr lang="en-US" sz="1600" b="1" dirty="0">
                <a:solidFill>
                  <a:srgbClr val="D97706"/>
                </a:solidFill>
                <a:latin typeface="Inter" pitchFamily="34" charset="0"/>
                <a:ea typeface="Inter" pitchFamily="34" charset="-122"/>
                <a:cs typeface="Inter" pitchFamily="34" charset="-120"/>
              </a:rPr>
              <a:t>Sub-s</a:t>
            </a:r>
            <a:endParaRPr lang="en-US" sz="1600" dirty="0"/>
          </a:p>
        </p:txBody>
      </p:sp>
      <p:sp>
        <p:nvSpPr>
          <p:cNvPr id="38" name="Text 30">
            <a:extLst>
              <a:ext uri="{FF2B5EF4-FFF2-40B4-BE49-F238E27FC236}">
                <a16:creationId xmlns:a16="http://schemas.microsoft.com/office/drawing/2014/main" id="{64B1A859-0F70-74C9-74BC-ACE173EFCE6D}"/>
              </a:ext>
            </a:extLst>
          </p:cNvPr>
          <p:cNvSpPr/>
          <p:nvPr/>
        </p:nvSpPr>
        <p:spPr>
          <a:xfrm>
            <a:off x="7360920" y="4126815"/>
            <a:ext cx="1028700" cy="123825"/>
          </a:xfrm>
          <a:prstGeom prst="rect">
            <a:avLst/>
          </a:prstGeom>
          <a:ln/>
        </p:spPr>
        <p:txBody>
          <a:bodyPr wrap="square" lIns="0" tIns="0" rIns="0" bIns="0" rtlCol="0" anchor="t"/>
          <a:lstStyle/>
          <a:p>
            <a:pPr marL="0" indent="0" algn="ctr">
              <a:lnSpc>
                <a:spcPts val="972"/>
              </a:lnSpc>
              <a:buNone/>
            </a:pPr>
            <a:r>
              <a:rPr lang="en-US" sz="1000" dirty="0">
                <a:solidFill>
                  <a:srgbClr val="64748B"/>
                </a:solidFill>
                <a:latin typeface="Inter" pitchFamily="34" charset="0"/>
                <a:ea typeface="Inter" pitchFamily="34" charset="-122"/>
                <a:cs typeface="Inter" pitchFamily="34" charset="-120"/>
              </a:rPr>
              <a:t>Latency</a:t>
            </a:r>
            <a:endParaRPr lang="en-US" sz="1000" dirty="0"/>
          </a:p>
        </p:txBody>
      </p:sp>
      <p:sp>
        <p:nvSpPr>
          <p:cNvPr id="39" name="Shape 18">
            <a:extLst>
              <a:ext uri="{FF2B5EF4-FFF2-40B4-BE49-F238E27FC236}">
                <a16:creationId xmlns:a16="http://schemas.microsoft.com/office/drawing/2014/main" id="{44C17D5C-FBA9-D53D-9029-B3A566BFEE85}"/>
              </a:ext>
            </a:extLst>
          </p:cNvPr>
          <p:cNvSpPr/>
          <p:nvPr/>
        </p:nvSpPr>
        <p:spPr>
          <a:xfrm>
            <a:off x="366674" y="3971883"/>
            <a:ext cx="4024312" cy="771525"/>
          </a:xfrm>
          <a:prstGeom prst="roundRect">
            <a:avLst>
              <a:gd name="adj" fmla="val 14047"/>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a:p>
        </p:txBody>
      </p:sp>
      <p:sp>
        <p:nvSpPr>
          <p:cNvPr id="40" name="Text 19">
            <a:extLst>
              <a:ext uri="{FF2B5EF4-FFF2-40B4-BE49-F238E27FC236}">
                <a16:creationId xmlns:a16="http://schemas.microsoft.com/office/drawing/2014/main" id="{913EB3E9-4E0C-DEB7-52E1-6C4E78C43033}"/>
              </a:ext>
            </a:extLst>
          </p:cNvPr>
          <p:cNvSpPr/>
          <p:nvPr/>
        </p:nvSpPr>
        <p:spPr>
          <a:xfrm>
            <a:off x="554794" y="4126815"/>
            <a:ext cx="3648075" cy="128588"/>
          </a:xfrm>
          <a:prstGeom prst="rect">
            <a:avLst/>
          </a:prstGeom>
          <a:ln/>
        </p:spPr>
        <p:txBody>
          <a:bodyPr wrap="square" lIns="0" tIns="0" rIns="0" bIns="0" rtlCol="0" anchor="t"/>
          <a:lstStyle/>
          <a:p>
            <a:pPr marL="0" indent="0" algn="l">
              <a:lnSpc>
                <a:spcPts val="1026"/>
              </a:lnSpc>
              <a:spcAft>
                <a:spcPts val="405"/>
              </a:spcAft>
              <a:buNone/>
            </a:pPr>
            <a:r>
              <a:rPr lang="en-US" sz="800" b="1" dirty="0">
                <a:solidFill>
                  <a:srgbClr val="0D9488"/>
                </a:solidFill>
                <a:latin typeface="Inter" pitchFamily="34" charset="0"/>
                <a:ea typeface="Inter" pitchFamily="34" charset="-122"/>
                <a:cs typeface="Inter" pitchFamily="34" charset="-120"/>
              </a:rPr>
              <a:t>BUSINESS PERSPECTIVE</a:t>
            </a:r>
            <a:endParaRPr lang="en-US" sz="800" dirty="0"/>
          </a:p>
        </p:txBody>
      </p:sp>
      <p:sp>
        <p:nvSpPr>
          <p:cNvPr id="41" name="Text 20">
            <a:extLst>
              <a:ext uri="{FF2B5EF4-FFF2-40B4-BE49-F238E27FC236}">
                <a16:creationId xmlns:a16="http://schemas.microsoft.com/office/drawing/2014/main" id="{BBCF3ABF-2B85-0D2F-DD95-92E69DC67B85}"/>
              </a:ext>
            </a:extLst>
          </p:cNvPr>
          <p:cNvSpPr/>
          <p:nvPr/>
        </p:nvSpPr>
        <p:spPr>
          <a:xfrm>
            <a:off x="554794" y="4306077"/>
            <a:ext cx="3648075" cy="323850"/>
          </a:xfrm>
          <a:prstGeom prst="rect">
            <a:avLst/>
          </a:prstGeom>
          <a:ln/>
        </p:spPr>
        <p:txBody>
          <a:bodyPr wrap="square" lIns="0" tIns="0" rIns="0" bIns="0" rtlCol="0" anchor="t"/>
          <a:lstStyle/>
          <a:p>
            <a:pPr marL="0" indent="0" algn="l">
              <a:lnSpc>
                <a:spcPts val="1267"/>
              </a:lnSpc>
              <a:buNone/>
            </a:pPr>
            <a:r>
              <a:rPr lang="en-US" sz="900" dirty="0">
                <a:solidFill>
                  <a:srgbClr val="1E3A5F"/>
                </a:solidFill>
                <a:latin typeface="Inter" pitchFamily="34" charset="0"/>
                <a:ea typeface="Inter" pitchFamily="34" charset="-122"/>
                <a:cs typeface="Inter" pitchFamily="34" charset="-120"/>
              </a:rPr>
              <a:t>Reduce duplicate handling effort, improve triage accuracy, decrease Mean Time To Resolution (MTTR)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24554"/>
            <a:ext cx="9144000" cy="5168053"/>
          </a:xfrm>
          <a:prstGeom prst="rect">
            <a:avLst/>
          </a:prstGeom>
          <a:solidFill>
            <a:srgbClr val="FAFBFC"/>
          </a:solidFill>
          <a:ln/>
        </p:spPr>
        <p:txBody>
          <a:bodyPr/>
          <a:lstStyle/>
          <a:p>
            <a:endParaRPr lang="en-IN" dirty="0"/>
          </a:p>
        </p:txBody>
      </p:sp>
      <p:sp>
        <p:nvSpPr>
          <p:cNvPr id="3" name="Shape 1"/>
          <p:cNvSpPr/>
          <p:nvPr/>
        </p:nvSpPr>
        <p:spPr>
          <a:xfrm>
            <a:off x="366713" y="205643"/>
            <a:ext cx="8410575" cy="290513"/>
          </a:xfrm>
          <a:prstGeom prst="rect">
            <a:avLst/>
          </a:prstGeom>
          <a:ln/>
        </p:spPr>
        <p:txBody>
          <a:bodyPr/>
          <a:lstStyle/>
          <a:p>
            <a:endParaRPr lang="en-IN"/>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p:cNvSpPr/>
          <p:nvPr/>
        </p:nvSpPr>
        <p:spPr>
          <a:xfrm>
            <a:off x="7282495" y="228042"/>
            <a:ext cx="719137"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METHODOLOGY</a:t>
            </a:r>
            <a:endParaRPr lang="en-US" sz="700" dirty="0"/>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8" name="Text 6"/>
          <p:cNvSpPr/>
          <p:nvPr/>
        </p:nvSpPr>
        <p:spPr>
          <a:xfrm>
            <a:off x="366713" y="649635"/>
            <a:ext cx="8410575" cy="152400"/>
          </a:xfrm>
          <a:prstGeom prst="rect">
            <a:avLst/>
          </a:prstGeom>
          <a:ln/>
        </p:spPr>
        <p:txBody>
          <a:bodyPr wrap="square" lIns="0" tIns="0" rIns="0" bIns="0" rtlCol="0" anchor="t"/>
          <a:lstStyle/>
          <a:p>
            <a:pPr marL="0" indent="0" algn="l">
              <a:lnSpc>
                <a:spcPts val="1188"/>
              </a:lnSpc>
              <a:spcAft>
                <a:spcPts val="324"/>
              </a:spcAft>
              <a:buNone/>
            </a:pPr>
            <a:r>
              <a:rPr lang="en-US" sz="700" b="1" dirty="0">
                <a:solidFill>
                  <a:srgbClr val="0D9488"/>
                </a:solidFill>
                <a:latin typeface="Inter" pitchFamily="34" charset="0"/>
                <a:ea typeface="Inter" pitchFamily="34" charset="-122"/>
                <a:cs typeface="Inter" pitchFamily="34" charset="-120"/>
              </a:rPr>
              <a:t>STEP-BY-STEP APPROACH</a:t>
            </a:r>
            <a:endParaRPr lang="en-US" sz="700" dirty="0"/>
          </a:p>
        </p:txBody>
      </p:sp>
      <p:sp>
        <p:nvSpPr>
          <p:cNvPr id="9" name="Text 7"/>
          <p:cNvSpPr/>
          <p:nvPr/>
        </p:nvSpPr>
        <p:spPr>
          <a:xfrm>
            <a:off x="366713" y="843186"/>
            <a:ext cx="8410575" cy="300038"/>
          </a:xfrm>
          <a:prstGeom prst="rect">
            <a:avLst/>
          </a:prstGeom>
          <a:ln/>
        </p:spPr>
        <p:txBody>
          <a:bodyPr wrap="square" lIns="0" tIns="0" rIns="0" bIns="0" rtlCol="0" anchor="t"/>
          <a:lstStyle/>
          <a:p>
            <a:pPr marL="0" indent="0" algn="l">
              <a:lnSpc>
                <a:spcPts val="2376"/>
              </a:lnSpc>
              <a:spcAft>
                <a:spcPts val="203"/>
              </a:spcAft>
              <a:buNone/>
            </a:pPr>
            <a:r>
              <a:rPr lang="en-US" sz="2100" b="1" dirty="0">
                <a:solidFill>
                  <a:srgbClr val="1E3A5F"/>
                </a:solidFill>
                <a:latin typeface="Inter" pitchFamily="34" charset="0"/>
                <a:ea typeface="Inter" pitchFamily="34" charset="-122"/>
                <a:cs typeface="Inter" pitchFamily="34" charset="-120"/>
              </a:rPr>
              <a:t>Methodology &amp; Plan of Action</a:t>
            </a:r>
            <a:endParaRPr lang="en-US" sz="2100" dirty="0"/>
          </a:p>
        </p:txBody>
      </p:sp>
      <p:sp>
        <p:nvSpPr>
          <p:cNvPr id="10" name="Shape 8"/>
          <p:cNvSpPr/>
          <p:nvPr/>
        </p:nvSpPr>
        <p:spPr>
          <a:xfrm>
            <a:off x="842323" y="1251795"/>
            <a:ext cx="2307988" cy="1344504"/>
          </a:xfrm>
          <a:prstGeom prst="roundRect">
            <a:avLst>
              <a:gd name="adj" fmla="val 6454"/>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800"/>
          </a:p>
        </p:txBody>
      </p:sp>
      <p:sp>
        <p:nvSpPr>
          <p:cNvPr id="11" name="Text 9"/>
          <p:cNvSpPr/>
          <p:nvPr/>
        </p:nvSpPr>
        <p:spPr>
          <a:xfrm>
            <a:off x="1212193" y="1422944"/>
            <a:ext cx="1882769" cy="385344"/>
          </a:xfrm>
          <a:prstGeom prst="rect">
            <a:avLst/>
          </a:prstGeom>
          <a:ln/>
        </p:spPr>
        <p:txBody>
          <a:bodyPr wrap="square" lIns="0" tIns="0" rIns="0" bIns="0" rtlCol="0" anchor="t"/>
          <a:lstStyle/>
          <a:p>
            <a:pPr marL="0" indent="0" algn="l">
              <a:lnSpc>
                <a:spcPts val="2160"/>
              </a:lnSpc>
              <a:spcAft>
                <a:spcPts val="324"/>
              </a:spcAft>
              <a:buNone/>
            </a:pPr>
            <a:r>
              <a:rPr lang="en-US" sz="1400" b="1" dirty="0">
                <a:solidFill>
                  <a:srgbClr val="0D9488"/>
                </a:solidFill>
                <a:latin typeface="Inter" pitchFamily="34" charset="0"/>
                <a:ea typeface="Inter" pitchFamily="34" charset="-122"/>
                <a:cs typeface="Inter" pitchFamily="34" charset="-120"/>
              </a:rPr>
              <a:t>01</a:t>
            </a:r>
            <a:endParaRPr lang="en-US" sz="1400" dirty="0"/>
          </a:p>
        </p:txBody>
      </p:sp>
      <p:sp>
        <p:nvSpPr>
          <p:cNvPr id="12" name="Text 10"/>
          <p:cNvSpPr/>
          <p:nvPr/>
        </p:nvSpPr>
        <p:spPr>
          <a:xfrm>
            <a:off x="1188822" y="1749969"/>
            <a:ext cx="1882769" cy="199316"/>
          </a:xfrm>
          <a:prstGeom prst="rect">
            <a:avLst/>
          </a:prstGeom>
          <a:ln/>
        </p:spPr>
        <p:txBody>
          <a:bodyPr wrap="square" lIns="0" tIns="0" rIns="0" bIns="0" rtlCol="0" anchor="t"/>
          <a:lstStyle/>
          <a:p>
            <a:pPr marL="0" indent="0" algn="l">
              <a:lnSpc>
                <a:spcPts val="1134"/>
              </a:lnSpc>
              <a:spcAft>
                <a:spcPts val="324"/>
              </a:spcAft>
              <a:buNone/>
            </a:pPr>
            <a:r>
              <a:rPr lang="en-US" sz="1000" b="1" dirty="0">
                <a:solidFill>
                  <a:srgbClr val="1E3A5F"/>
                </a:solidFill>
                <a:latin typeface="Inter" pitchFamily="34" charset="0"/>
                <a:ea typeface="Inter" pitchFamily="34" charset="-122"/>
                <a:cs typeface="Inter" pitchFamily="34" charset="-120"/>
              </a:rPr>
              <a:t>Data Preparation</a:t>
            </a:r>
            <a:endParaRPr lang="en-US" sz="1000" dirty="0"/>
          </a:p>
        </p:txBody>
      </p:sp>
      <p:sp>
        <p:nvSpPr>
          <p:cNvPr id="13" name="Text 11"/>
          <p:cNvSpPr/>
          <p:nvPr/>
        </p:nvSpPr>
        <p:spPr>
          <a:xfrm>
            <a:off x="1201826" y="1976953"/>
            <a:ext cx="1882769" cy="345482"/>
          </a:xfrm>
          <a:prstGeom prst="rect">
            <a:avLst/>
          </a:prstGeom>
          <a:ln/>
        </p:spPr>
        <p:txBody>
          <a:bodyPr wrap="square" lIns="0" tIns="0" rIns="0" bIns="0" rtlCol="0" anchor="t"/>
          <a:lstStyle/>
          <a:p>
            <a:pPr marL="0" indent="0" algn="l">
              <a:lnSpc>
                <a:spcPts val="972"/>
              </a:lnSpc>
              <a:buNone/>
            </a:pPr>
            <a:r>
              <a:rPr lang="en-US" sz="900" dirty="0">
                <a:solidFill>
                  <a:srgbClr val="64748B"/>
                </a:solidFill>
                <a:latin typeface="Inter" pitchFamily="34" charset="0"/>
                <a:ea typeface="Inter" pitchFamily="34" charset="-122"/>
                <a:cs typeface="Inter" pitchFamily="34" charset="-120"/>
              </a:rPr>
              <a:t>Collect, clean &amp; normalize multi-source ticket data</a:t>
            </a:r>
            <a:endParaRPr lang="en-US" sz="900" dirty="0"/>
          </a:p>
        </p:txBody>
      </p:sp>
      <p:sp>
        <p:nvSpPr>
          <p:cNvPr id="14" name="Shape 12"/>
          <p:cNvSpPr/>
          <p:nvPr/>
        </p:nvSpPr>
        <p:spPr>
          <a:xfrm>
            <a:off x="3220241" y="1251796"/>
            <a:ext cx="2532775" cy="1344070"/>
          </a:xfrm>
          <a:prstGeom prst="roundRect">
            <a:avLst>
              <a:gd name="adj" fmla="val 6454"/>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a:p>
        </p:txBody>
      </p:sp>
      <p:sp>
        <p:nvSpPr>
          <p:cNvPr id="15" name="Text 13"/>
          <p:cNvSpPr/>
          <p:nvPr/>
        </p:nvSpPr>
        <p:spPr>
          <a:xfrm>
            <a:off x="3384107" y="1425422"/>
            <a:ext cx="2038096" cy="240200"/>
          </a:xfrm>
          <a:prstGeom prst="rect">
            <a:avLst/>
          </a:prstGeom>
          <a:ln/>
        </p:spPr>
        <p:txBody>
          <a:bodyPr wrap="square" lIns="0" tIns="0" rIns="0" bIns="0" rtlCol="0" anchor="t"/>
          <a:lstStyle/>
          <a:p>
            <a:pPr marL="0" indent="0" algn="l">
              <a:lnSpc>
                <a:spcPts val="2160"/>
              </a:lnSpc>
              <a:spcAft>
                <a:spcPts val="324"/>
              </a:spcAft>
              <a:buNone/>
            </a:pPr>
            <a:r>
              <a:rPr lang="en-US" sz="1400" b="1" dirty="0">
                <a:solidFill>
                  <a:srgbClr val="0D9488"/>
                </a:solidFill>
                <a:latin typeface="Inter" pitchFamily="34" charset="0"/>
                <a:ea typeface="Inter" pitchFamily="34" charset="-122"/>
                <a:cs typeface="Inter" pitchFamily="34" charset="-120"/>
              </a:rPr>
              <a:t>02</a:t>
            </a:r>
            <a:endParaRPr lang="en-US" sz="1400" dirty="0"/>
          </a:p>
        </p:txBody>
      </p:sp>
      <p:sp>
        <p:nvSpPr>
          <p:cNvPr id="16" name="Text 14"/>
          <p:cNvSpPr/>
          <p:nvPr/>
        </p:nvSpPr>
        <p:spPr>
          <a:xfrm>
            <a:off x="3384107" y="1736259"/>
            <a:ext cx="2038096" cy="210645"/>
          </a:xfrm>
          <a:prstGeom prst="rect">
            <a:avLst/>
          </a:prstGeom>
          <a:ln/>
        </p:spPr>
        <p:txBody>
          <a:bodyPr wrap="square" lIns="0" tIns="0" rIns="0" bIns="0" rtlCol="0" anchor="t"/>
          <a:lstStyle/>
          <a:p>
            <a:pPr marL="0" indent="0" algn="l">
              <a:lnSpc>
                <a:spcPts val="1134"/>
              </a:lnSpc>
              <a:spcAft>
                <a:spcPts val="324"/>
              </a:spcAft>
              <a:buNone/>
            </a:pPr>
            <a:r>
              <a:rPr lang="en-US" sz="1000" b="1" dirty="0">
                <a:solidFill>
                  <a:srgbClr val="1E3A5F"/>
                </a:solidFill>
                <a:latin typeface="Inter" pitchFamily="34" charset="0"/>
                <a:ea typeface="Inter" pitchFamily="34" charset="-122"/>
                <a:cs typeface="Inter" pitchFamily="34" charset="-120"/>
              </a:rPr>
              <a:t>Representation</a:t>
            </a:r>
            <a:endParaRPr lang="en-US" sz="1000" dirty="0"/>
          </a:p>
        </p:txBody>
      </p:sp>
      <p:sp>
        <p:nvSpPr>
          <p:cNvPr id="17" name="Text 15"/>
          <p:cNvSpPr/>
          <p:nvPr/>
        </p:nvSpPr>
        <p:spPr>
          <a:xfrm>
            <a:off x="3368960" y="1970860"/>
            <a:ext cx="2038096" cy="547678"/>
          </a:xfrm>
          <a:prstGeom prst="rect">
            <a:avLst/>
          </a:prstGeom>
          <a:ln/>
        </p:spPr>
        <p:txBody>
          <a:bodyPr wrap="square" lIns="0" tIns="0" rIns="0" bIns="0" rtlCol="0" anchor="t"/>
          <a:lstStyle/>
          <a:p>
            <a:pPr marL="0" indent="0" algn="l">
              <a:lnSpc>
                <a:spcPts val="972"/>
              </a:lnSpc>
              <a:buNone/>
            </a:pPr>
            <a:r>
              <a:rPr lang="en-US" sz="900" dirty="0">
                <a:solidFill>
                  <a:srgbClr val="64748B"/>
                </a:solidFill>
                <a:latin typeface="Inter" pitchFamily="34" charset="0"/>
                <a:ea typeface="Inter" pitchFamily="34" charset="-122"/>
                <a:cs typeface="Inter" pitchFamily="34" charset="-120"/>
              </a:rPr>
              <a:t>Convert text into vector embeddings capturing semantic meaning</a:t>
            </a:r>
            <a:endParaRPr lang="en-US" sz="900" dirty="0"/>
          </a:p>
        </p:txBody>
      </p:sp>
      <p:sp>
        <p:nvSpPr>
          <p:cNvPr id="18" name="Shape 16"/>
          <p:cNvSpPr/>
          <p:nvPr/>
        </p:nvSpPr>
        <p:spPr>
          <a:xfrm>
            <a:off x="5822947" y="1259400"/>
            <a:ext cx="2414452" cy="1344070"/>
          </a:xfrm>
          <a:prstGeom prst="roundRect">
            <a:avLst>
              <a:gd name="adj" fmla="val 6454"/>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a:p>
        </p:txBody>
      </p:sp>
      <p:sp>
        <p:nvSpPr>
          <p:cNvPr id="19" name="Text 17"/>
          <p:cNvSpPr/>
          <p:nvPr/>
        </p:nvSpPr>
        <p:spPr>
          <a:xfrm>
            <a:off x="6138644" y="1430563"/>
            <a:ext cx="1950105" cy="361257"/>
          </a:xfrm>
          <a:prstGeom prst="rect">
            <a:avLst/>
          </a:prstGeom>
          <a:ln/>
        </p:spPr>
        <p:txBody>
          <a:bodyPr wrap="square" lIns="0" tIns="0" rIns="0" bIns="0" rtlCol="0" anchor="t"/>
          <a:lstStyle/>
          <a:p>
            <a:pPr marL="0" indent="0" algn="l">
              <a:lnSpc>
                <a:spcPts val="2160"/>
              </a:lnSpc>
              <a:spcAft>
                <a:spcPts val="324"/>
              </a:spcAft>
              <a:buNone/>
            </a:pPr>
            <a:r>
              <a:rPr lang="en-US" sz="1400" b="1" dirty="0">
                <a:solidFill>
                  <a:srgbClr val="0D9488"/>
                </a:solidFill>
                <a:latin typeface="Inter" pitchFamily="34" charset="0"/>
                <a:ea typeface="Inter" pitchFamily="34" charset="-122"/>
                <a:cs typeface="Inter" pitchFamily="34" charset="-120"/>
              </a:rPr>
              <a:t>03</a:t>
            </a:r>
            <a:endParaRPr lang="en-US" sz="1400" dirty="0"/>
          </a:p>
        </p:txBody>
      </p:sp>
      <p:sp>
        <p:nvSpPr>
          <p:cNvPr id="20" name="Text 18"/>
          <p:cNvSpPr/>
          <p:nvPr/>
        </p:nvSpPr>
        <p:spPr>
          <a:xfrm>
            <a:off x="6031839" y="1755102"/>
            <a:ext cx="1950105" cy="186856"/>
          </a:xfrm>
          <a:prstGeom prst="rect">
            <a:avLst/>
          </a:prstGeom>
          <a:ln/>
        </p:spPr>
        <p:txBody>
          <a:bodyPr wrap="square" lIns="0" tIns="0" rIns="0" bIns="0" rtlCol="0" anchor="t"/>
          <a:lstStyle/>
          <a:p>
            <a:pPr marL="0" indent="0" algn="l">
              <a:lnSpc>
                <a:spcPts val="1134"/>
              </a:lnSpc>
              <a:spcAft>
                <a:spcPts val="324"/>
              </a:spcAft>
              <a:buNone/>
            </a:pPr>
            <a:r>
              <a:rPr lang="en-US" sz="1000" b="1" dirty="0">
                <a:solidFill>
                  <a:srgbClr val="1E3A5F"/>
                </a:solidFill>
                <a:latin typeface="Inter" pitchFamily="34" charset="0"/>
                <a:ea typeface="Inter" pitchFamily="34" charset="-122"/>
                <a:cs typeface="Inter" pitchFamily="34" charset="-120"/>
              </a:rPr>
              <a:t>Retrieval System</a:t>
            </a:r>
            <a:endParaRPr lang="en-US" sz="1000" dirty="0"/>
          </a:p>
        </p:txBody>
      </p:sp>
      <p:sp>
        <p:nvSpPr>
          <p:cNvPr id="21" name="Text 19"/>
          <p:cNvSpPr/>
          <p:nvPr/>
        </p:nvSpPr>
        <p:spPr>
          <a:xfrm>
            <a:off x="6031840" y="1967343"/>
            <a:ext cx="1950105" cy="323887"/>
          </a:xfrm>
          <a:prstGeom prst="rect">
            <a:avLst/>
          </a:prstGeom>
          <a:ln/>
        </p:spPr>
        <p:txBody>
          <a:bodyPr wrap="square" lIns="0" tIns="0" rIns="0" bIns="0" rtlCol="0" anchor="t"/>
          <a:lstStyle/>
          <a:p>
            <a:pPr marL="0" indent="0" algn="l">
              <a:lnSpc>
                <a:spcPts val="972"/>
              </a:lnSpc>
              <a:buNone/>
            </a:pPr>
            <a:r>
              <a:rPr lang="en-US" sz="900" dirty="0">
                <a:solidFill>
                  <a:srgbClr val="64748B"/>
                </a:solidFill>
                <a:latin typeface="Inter" pitchFamily="34" charset="0"/>
                <a:ea typeface="Inter" pitchFamily="34" charset="-122"/>
                <a:cs typeface="Inter" pitchFamily="34" charset="-120"/>
              </a:rPr>
              <a:t>Dense retrieval + BM25 + RRF fusion</a:t>
            </a:r>
            <a:endParaRPr lang="en-US" sz="900" dirty="0"/>
          </a:p>
        </p:txBody>
      </p:sp>
      <p:sp>
        <p:nvSpPr>
          <p:cNvPr id="22" name="Shape 20"/>
          <p:cNvSpPr/>
          <p:nvPr/>
        </p:nvSpPr>
        <p:spPr>
          <a:xfrm>
            <a:off x="842323" y="2750585"/>
            <a:ext cx="2307988" cy="1400224"/>
          </a:xfrm>
          <a:prstGeom prst="roundRect">
            <a:avLst>
              <a:gd name="adj" fmla="val 6454"/>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a:p>
        </p:txBody>
      </p:sp>
      <p:sp>
        <p:nvSpPr>
          <p:cNvPr id="23" name="Text 21"/>
          <p:cNvSpPr/>
          <p:nvPr/>
        </p:nvSpPr>
        <p:spPr>
          <a:xfrm>
            <a:off x="1114641" y="2847239"/>
            <a:ext cx="1812820" cy="266181"/>
          </a:xfrm>
          <a:prstGeom prst="rect">
            <a:avLst/>
          </a:prstGeom>
          <a:ln/>
        </p:spPr>
        <p:txBody>
          <a:bodyPr wrap="square" lIns="0" tIns="0" rIns="0" bIns="0" rtlCol="0" anchor="t"/>
          <a:lstStyle/>
          <a:p>
            <a:pPr marL="0" indent="0" algn="l">
              <a:lnSpc>
                <a:spcPts val="2160"/>
              </a:lnSpc>
              <a:spcAft>
                <a:spcPts val="324"/>
              </a:spcAft>
              <a:buNone/>
            </a:pPr>
            <a:r>
              <a:rPr lang="en-US" sz="1400" b="1" dirty="0">
                <a:solidFill>
                  <a:srgbClr val="0D9488"/>
                </a:solidFill>
                <a:latin typeface="Inter" pitchFamily="34" charset="0"/>
                <a:ea typeface="Inter" pitchFamily="34" charset="-122"/>
                <a:cs typeface="Inter" pitchFamily="34" charset="-120"/>
              </a:rPr>
              <a:t>04</a:t>
            </a:r>
            <a:endParaRPr lang="en-US" sz="1400" dirty="0"/>
          </a:p>
        </p:txBody>
      </p:sp>
      <p:sp>
        <p:nvSpPr>
          <p:cNvPr id="24" name="Text 22"/>
          <p:cNvSpPr/>
          <p:nvPr/>
        </p:nvSpPr>
        <p:spPr>
          <a:xfrm>
            <a:off x="1117692" y="3186579"/>
            <a:ext cx="1812820" cy="193837"/>
          </a:xfrm>
          <a:prstGeom prst="rect">
            <a:avLst/>
          </a:prstGeom>
          <a:ln/>
        </p:spPr>
        <p:txBody>
          <a:bodyPr wrap="square" lIns="0" tIns="0" rIns="0" bIns="0" rtlCol="0" anchor="t"/>
          <a:lstStyle/>
          <a:p>
            <a:pPr marL="0" indent="0" algn="l">
              <a:lnSpc>
                <a:spcPts val="1134"/>
              </a:lnSpc>
              <a:spcAft>
                <a:spcPts val="324"/>
              </a:spcAft>
              <a:buNone/>
            </a:pPr>
            <a:r>
              <a:rPr lang="en-US" sz="1000" b="1" dirty="0">
                <a:solidFill>
                  <a:srgbClr val="1E3A5F"/>
                </a:solidFill>
                <a:latin typeface="Inter" pitchFamily="34" charset="0"/>
                <a:ea typeface="Inter" pitchFamily="34" charset="-122"/>
                <a:cs typeface="Inter" pitchFamily="34" charset="-120"/>
              </a:rPr>
              <a:t>Ranking</a:t>
            </a:r>
            <a:endParaRPr lang="en-US" sz="1000" dirty="0"/>
          </a:p>
        </p:txBody>
      </p:sp>
      <p:sp>
        <p:nvSpPr>
          <p:cNvPr id="25" name="Text 23"/>
          <p:cNvSpPr/>
          <p:nvPr/>
        </p:nvSpPr>
        <p:spPr>
          <a:xfrm>
            <a:off x="1143981" y="3468275"/>
            <a:ext cx="1812820" cy="503977"/>
          </a:xfrm>
          <a:prstGeom prst="rect">
            <a:avLst/>
          </a:prstGeom>
          <a:ln/>
        </p:spPr>
        <p:txBody>
          <a:bodyPr wrap="square" lIns="0" tIns="0" rIns="0" bIns="0" rtlCol="0" anchor="t"/>
          <a:lstStyle/>
          <a:p>
            <a:pPr marL="0" indent="0" algn="l">
              <a:lnSpc>
                <a:spcPts val="972"/>
              </a:lnSpc>
              <a:buNone/>
            </a:pPr>
            <a:r>
              <a:rPr lang="en-US" sz="900" dirty="0">
                <a:solidFill>
                  <a:srgbClr val="64748B"/>
                </a:solidFill>
                <a:latin typeface="Inter" pitchFamily="34" charset="0"/>
                <a:ea typeface="Inter" pitchFamily="34" charset="-122"/>
                <a:cs typeface="Inter" pitchFamily="34" charset="-120"/>
              </a:rPr>
              <a:t>Cross-encoder reranking selects top relevant results</a:t>
            </a:r>
            <a:endParaRPr lang="en-US" sz="900" dirty="0"/>
          </a:p>
        </p:txBody>
      </p:sp>
      <p:sp>
        <p:nvSpPr>
          <p:cNvPr id="26" name="Shape 24"/>
          <p:cNvSpPr/>
          <p:nvPr/>
        </p:nvSpPr>
        <p:spPr>
          <a:xfrm>
            <a:off x="3220242" y="2765356"/>
            <a:ext cx="2532774" cy="1385453"/>
          </a:xfrm>
          <a:prstGeom prst="roundRect">
            <a:avLst>
              <a:gd name="adj" fmla="val 6454"/>
            </a:avLst>
          </a:prstGeom>
          <a:solidFill>
            <a:srgbClr val="0D9488"/>
          </a:solidFill>
          <a:ln/>
          <a:effectLst>
            <a:outerShdw blurRad="95250" dist="19050" dir="5400000" algn="bl" rotWithShape="0">
              <a:srgbClr val="0D9488">
                <a:alpha val="20000"/>
              </a:srgbClr>
            </a:outerShdw>
          </a:effectLst>
        </p:spPr>
        <p:txBody>
          <a:bodyPr/>
          <a:lstStyle/>
          <a:p>
            <a:endParaRPr lang="en-IN"/>
          </a:p>
        </p:txBody>
      </p:sp>
      <p:sp>
        <p:nvSpPr>
          <p:cNvPr id="27" name="Text 25"/>
          <p:cNvSpPr/>
          <p:nvPr/>
        </p:nvSpPr>
        <p:spPr>
          <a:xfrm>
            <a:off x="3384107" y="2865461"/>
            <a:ext cx="2007802" cy="339716"/>
          </a:xfrm>
          <a:prstGeom prst="rect">
            <a:avLst/>
          </a:prstGeom>
          <a:ln/>
        </p:spPr>
        <p:txBody>
          <a:bodyPr wrap="square" lIns="0" tIns="0" rIns="0" bIns="0" rtlCol="0" anchor="t"/>
          <a:lstStyle/>
          <a:p>
            <a:pPr marL="0" indent="0" algn="l">
              <a:lnSpc>
                <a:spcPts val="2160"/>
              </a:lnSpc>
              <a:spcAft>
                <a:spcPts val="324"/>
              </a:spcAft>
              <a:buNone/>
            </a:pPr>
            <a:r>
              <a:rPr lang="en-US" sz="1400" b="1" dirty="0">
                <a:solidFill>
                  <a:srgbClr val="FFFFFF"/>
                </a:solidFill>
                <a:latin typeface="Inter" pitchFamily="34" charset="0"/>
                <a:ea typeface="Inter" pitchFamily="34" charset="-122"/>
                <a:cs typeface="Inter" pitchFamily="34" charset="-120"/>
              </a:rPr>
              <a:t>05</a:t>
            </a:r>
            <a:endParaRPr lang="en-US" sz="1400" dirty="0"/>
          </a:p>
        </p:txBody>
      </p:sp>
      <p:sp>
        <p:nvSpPr>
          <p:cNvPr id="28" name="Text 26"/>
          <p:cNvSpPr/>
          <p:nvPr/>
        </p:nvSpPr>
        <p:spPr>
          <a:xfrm>
            <a:off x="3384107" y="3198952"/>
            <a:ext cx="2007802" cy="175716"/>
          </a:xfrm>
          <a:prstGeom prst="rect">
            <a:avLst/>
          </a:prstGeom>
          <a:ln/>
        </p:spPr>
        <p:txBody>
          <a:bodyPr wrap="square" lIns="0" tIns="0" rIns="0" bIns="0" rtlCol="0" anchor="t"/>
          <a:lstStyle/>
          <a:p>
            <a:pPr marL="0" indent="0" algn="l">
              <a:lnSpc>
                <a:spcPts val="1134"/>
              </a:lnSpc>
              <a:spcAft>
                <a:spcPts val="324"/>
              </a:spcAft>
              <a:buNone/>
            </a:pPr>
            <a:r>
              <a:rPr lang="en-US" sz="1000" b="1" dirty="0">
                <a:solidFill>
                  <a:srgbClr val="FFFFFF"/>
                </a:solidFill>
                <a:latin typeface="Inter" pitchFamily="34" charset="0"/>
                <a:ea typeface="Inter" pitchFamily="34" charset="-122"/>
                <a:cs typeface="Inter" pitchFamily="34" charset="-120"/>
              </a:rPr>
              <a:t>Response Generation</a:t>
            </a:r>
            <a:endParaRPr lang="en-US" sz="1000" dirty="0"/>
          </a:p>
        </p:txBody>
      </p:sp>
      <p:sp>
        <p:nvSpPr>
          <p:cNvPr id="29" name="Text 27"/>
          <p:cNvSpPr/>
          <p:nvPr/>
        </p:nvSpPr>
        <p:spPr>
          <a:xfrm>
            <a:off x="3384107" y="3467530"/>
            <a:ext cx="2007802" cy="304574"/>
          </a:xfrm>
          <a:prstGeom prst="rect">
            <a:avLst/>
          </a:prstGeom>
          <a:ln/>
        </p:spPr>
        <p:txBody>
          <a:bodyPr wrap="square" lIns="0" tIns="0" rIns="0" bIns="0" rtlCol="0" anchor="t"/>
          <a:lstStyle/>
          <a:p>
            <a:pPr marL="0" indent="0" algn="l">
              <a:lnSpc>
                <a:spcPts val="972"/>
              </a:lnSpc>
              <a:buNone/>
            </a:pPr>
            <a:r>
              <a:rPr lang="en-US" sz="900" dirty="0">
                <a:solidFill>
                  <a:srgbClr val="FFFFFF"/>
                </a:solidFill>
                <a:latin typeface="Inter" pitchFamily="34" charset="0"/>
                <a:ea typeface="Inter" pitchFamily="34" charset="-122"/>
                <a:cs typeface="Inter" pitchFamily="34" charset="-120"/>
              </a:rPr>
              <a:t>LLM generates structured grounded output</a:t>
            </a:r>
            <a:endParaRPr lang="en-US" sz="900" dirty="0"/>
          </a:p>
        </p:txBody>
      </p:sp>
      <p:sp>
        <p:nvSpPr>
          <p:cNvPr id="30" name="Shape 28"/>
          <p:cNvSpPr/>
          <p:nvPr/>
        </p:nvSpPr>
        <p:spPr>
          <a:xfrm>
            <a:off x="5822947" y="2765355"/>
            <a:ext cx="2461012" cy="1385453"/>
          </a:xfrm>
          <a:prstGeom prst="roundRect">
            <a:avLst>
              <a:gd name="adj" fmla="val 6454"/>
            </a:avLst>
          </a:prstGeom>
          <a:solidFill>
            <a:srgbClr val="1E3A5F"/>
          </a:solidFill>
          <a:ln/>
          <a:effectLst>
            <a:outerShdw blurRad="95250" dist="19050" dir="5400000" algn="bl" rotWithShape="0">
              <a:srgbClr val="1E3A5F">
                <a:alpha val="15000"/>
              </a:srgbClr>
            </a:outerShdw>
          </a:effectLst>
        </p:spPr>
        <p:txBody>
          <a:bodyPr/>
          <a:lstStyle/>
          <a:p>
            <a:endParaRPr lang="en-IN"/>
          </a:p>
        </p:txBody>
      </p:sp>
      <p:sp>
        <p:nvSpPr>
          <p:cNvPr id="31" name="Text 29"/>
          <p:cNvSpPr/>
          <p:nvPr/>
        </p:nvSpPr>
        <p:spPr>
          <a:xfrm>
            <a:off x="6215930" y="2893349"/>
            <a:ext cx="1968162" cy="339716"/>
          </a:xfrm>
          <a:prstGeom prst="rect">
            <a:avLst/>
          </a:prstGeom>
          <a:ln/>
        </p:spPr>
        <p:txBody>
          <a:bodyPr wrap="square" lIns="0" tIns="0" rIns="0" bIns="0" rtlCol="0" anchor="t"/>
          <a:lstStyle/>
          <a:p>
            <a:pPr marL="0" indent="0" algn="l">
              <a:lnSpc>
                <a:spcPts val="2160"/>
              </a:lnSpc>
              <a:spcAft>
                <a:spcPts val="324"/>
              </a:spcAft>
              <a:buNone/>
            </a:pPr>
            <a:r>
              <a:rPr lang="en-US" sz="1400" b="1" dirty="0">
                <a:solidFill>
                  <a:srgbClr val="FFFFFF"/>
                </a:solidFill>
                <a:latin typeface="Inter" pitchFamily="34" charset="0"/>
                <a:ea typeface="Inter" pitchFamily="34" charset="-122"/>
                <a:cs typeface="Inter" pitchFamily="34" charset="-120"/>
              </a:rPr>
              <a:t>06</a:t>
            </a:r>
            <a:endParaRPr lang="en-US" sz="1400" dirty="0"/>
          </a:p>
        </p:txBody>
      </p:sp>
      <p:sp>
        <p:nvSpPr>
          <p:cNvPr id="32" name="Text 30"/>
          <p:cNvSpPr/>
          <p:nvPr/>
        </p:nvSpPr>
        <p:spPr>
          <a:xfrm>
            <a:off x="6215930" y="3210278"/>
            <a:ext cx="1968162" cy="175715"/>
          </a:xfrm>
          <a:prstGeom prst="rect">
            <a:avLst/>
          </a:prstGeom>
          <a:ln/>
        </p:spPr>
        <p:txBody>
          <a:bodyPr wrap="square" lIns="0" tIns="0" rIns="0" bIns="0" rtlCol="0" anchor="t"/>
          <a:lstStyle/>
          <a:p>
            <a:pPr marL="0" indent="0" algn="l">
              <a:lnSpc>
                <a:spcPts val="1134"/>
              </a:lnSpc>
              <a:spcAft>
                <a:spcPts val="324"/>
              </a:spcAft>
              <a:buNone/>
            </a:pPr>
            <a:r>
              <a:rPr lang="en-US" sz="1000" b="1" dirty="0">
                <a:solidFill>
                  <a:srgbClr val="FFFFFF"/>
                </a:solidFill>
                <a:latin typeface="Inter" pitchFamily="34" charset="0"/>
                <a:ea typeface="Inter" pitchFamily="34" charset="-122"/>
                <a:cs typeface="Inter" pitchFamily="34" charset="-120"/>
              </a:rPr>
              <a:t>Evaluation</a:t>
            </a:r>
            <a:endParaRPr lang="en-US" sz="1000" dirty="0"/>
          </a:p>
        </p:txBody>
      </p:sp>
      <p:sp>
        <p:nvSpPr>
          <p:cNvPr id="33" name="Text 31"/>
          <p:cNvSpPr/>
          <p:nvPr/>
        </p:nvSpPr>
        <p:spPr>
          <a:xfrm>
            <a:off x="6215930" y="3464615"/>
            <a:ext cx="1968162" cy="304575"/>
          </a:xfrm>
          <a:prstGeom prst="rect">
            <a:avLst/>
          </a:prstGeom>
          <a:ln/>
        </p:spPr>
        <p:txBody>
          <a:bodyPr wrap="square" lIns="0" tIns="0" rIns="0" bIns="0" rtlCol="0" anchor="t"/>
          <a:lstStyle/>
          <a:p>
            <a:pPr marL="0" indent="0" algn="l">
              <a:lnSpc>
                <a:spcPts val="972"/>
              </a:lnSpc>
              <a:buNone/>
            </a:pPr>
            <a:r>
              <a:rPr lang="en-US" sz="900" dirty="0">
                <a:solidFill>
                  <a:srgbClr val="FFFFFF"/>
                </a:solidFill>
                <a:latin typeface="Inter" pitchFamily="34" charset="0"/>
                <a:ea typeface="Inter" pitchFamily="34" charset="-122"/>
                <a:cs typeface="Inter" pitchFamily="34" charset="-120"/>
              </a:rPr>
              <a:t>Measure accuracy, latency &amp; hallucination</a:t>
            </a:r>
            <a:endParaRPr lang="en-US" sz="900" dirty="0"/>
          </a:p>
        </p:txBody>
      </p:sp>
      <p:sp>
        <p:nvSpPr>
          <p:cNvPr id="34" name="Shape 32"/>
          <p:cNvSpPr/>
          <p:nvPr/>
        </p:nvSpPr>
        <p:spPr>
          <a:xfrm>
            <a:off x="364778" y="4300314"/>
            <a:ext cx="8410575" cy="395287"/>
          </a:xfrm>
          <a:prstGeom prst="roundRect">
            <a:avLst>
              <a:gd name="adj" fmla="val 13378"/>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a:p>
        </p:txBody>
      </p:sp>
      <p:sp>
        <p:nvSpPr>
          <p:cNvPr id="35" name="Text 33"/>
          <p:cNvSpPr/>
          <p:nvPr/>
        </p:nvSpPr>
        <p:spPr>
          <a:xfrm>
            <a:off x="642082" y="4428901"/>
            <a:ext cx="1095375" cy="138113"/>
          </a:xfrm>
          <a:prstGeom prst="rect">
            <a:avLst/>
          </a:prstGeom>
          <a:ln/>
        </p:spPr>
        <p:txBody>
          <a:bodyPr wrap="square" lIns="0" tIns="0" rIns="0" bIns="0" rtlCol="0" anchor="t"/>
          <a:lstStyle/>
          <a:p>
            <a:pPr marL="0" indent="0" algn="l">
              <a:lnSpc>
                <a:spcPts val="1080"/>
              </a:lnSpc>
              <a:buNone/>
            </a:pPr>
            <a:r>
              <a:rPr lang="en-US" sz="700" b="1" dirty="0">
                <a:solidFill>
                  <a:srgbClr val="64748B"/>
                </a:solidFill>
                <a:latin typeface="Inter" pitchFamily="34" charset="0"/>
                <a:ea typeface="Inter" pitchFamily="34" charset="-122"/>
                <a:cs typeface="Inter" pitchFamily="34" charset="-120"/>
              </a:rPr>
              <a:t>APPROACH STRATEGY</a:t>
            </a:r>
            <a:endParaRPr lang="en-US" sz="700" dirty="0"/>
          </a:p>
        </p:txBody>
      </p:sp>
      <p:sp>
        <p:nvSpPr>
          <p:cNvPr id="37" name="Text 35"/>
          <p:cNvSpPr/>
          <p:nvPr/>
        </p:nvSpPr>
        <p:spPr>
          <a:xfrm>
            <a:off x="5882543" y="4409851"/>
            <a:ext cx="2614613" cy="176212"/>
          </a:xfrm>
          <a:prstGeom prst="rect">
            <a:avLst/>
          </a:prstGeom>
          <a:ln/>
        </p:spPr>
        <p:txBody>
          <a:bodyPr wrap="square" lIns="0" tIns="0" rIns="0" bIns="0" rtlCol="0" anchor="t"/>
          <a:lstStyle/>
          <a:p>
            <a:pPr marL="0" indent="0" algn="l">
              <a:lnSpc>
                <a:spcPts val="1404"/>
              </a:lnSpc>
              <a:buNone/>
            </a:pPr>
            <a:r>
              <a:rPr lang="en-US" sz="900" b="1" dirty="0">
                <a:solidFill>
                  <a:srgbClr val="0D9488"/>
                </a:solidFill>
                <a:latin typeface="Inter" pitchFamily="34" charset="0"/>
                <a:ea typeface="Inter" pitchFamily="34" charset="-122"/>
                <a:cs typeface="Inter" pitchFamily="34" charset="-120"/>
              </a:rPr>
              <a:t>Build → Evaluate → Improve → Scale → Deploy</a:t>
            </a:r>
            <a:endParaRPr lang="en-US" sz="900" dirty="0"/>
          </a:p>
        </p:txBody>
      </p:sp>
      <p:sp>
        <p:nvSpPr>
          <p:cNvPr id="38" name="Shape 36"/>
          <p:cNvSpPr/>
          <p:nvPr/>
        </p:nvSpPr>
        <p:spPr>
          <a:xfrm>
            <a:off x="366713" y="4705610"/>
            <a:ext cx="8410575" cy="233362"/>
          </a:xfrm>
          <a:prstGeom prst="rect">
            <a:avLst/>
          </a:prstGeom>
          <a:ln/>
        </p:spPr>
        <p:txBody>
          <a:bodyPr/>
          <a:lstStyle/>
          <a:p>
            <a:endParaRPr lang="en-IN"/>
          </a:p>
        </p:txBody>
      </p:sp>
      <p:sp>
        <p:nvSpPr>
          <p:cNvPr id="39" name="Text 37"/>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40" name="Text 38"/>
          <p:cNvSpPr/>
          <p:nvPr/>
        </p:nvSpPr>
        <p:spPr>
          <a:xfrm>
            <a:off x="8283959" y="4814181"/>
            <a:ext cx="4953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5 of 24</a:t>
            </a:r>
            <a:endParaRPr lang="en-US" sz="600" dirty="0"/>
          </a:p>
        </p:txBody>
      </p:sp>
      <p:pic>
        <p:nvPicPr>
          <p:cNvPr id="4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4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1"/>
          <p:cNvSpPr/>
          <p:nvPr/>
        </p:nvSpPr>
        <p:spPr>
          <a:xfrm>
            <a:off x="366713" y="205643"/>
            <a:ext cx="8410575" cy="290513"/>
          </a:xfrm>
          <a:prstGeom prst="rect">
            <a:avLst/>
          </a:prstGeom>
          <a:ln/>
        </p:spPr>
        <p:txBody>
          <a:bodyPr/>
          <a:lstStyle/>
          <a:p>
            <a:endParaRPr lang="en-IN"/>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p:cNvSpPr/>
          <p:nvPr/>
        </p:nvSpPr>
        <p:spPr>
          <a:xfrm>
            <a:off x="7255929" y="228042"/>
            <a:ext cx="747712"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DATA SOURCING</a:t>
            </a:r>
            <a:endParaRPr lang="en-US" sz="700" dirty="0"/>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p:cNvSpPr/>
          <p:nvPr/>
        </p:nvSpPr>
        <p:spPr>
          <a:xfrm>
            <a:off x="366713" y="462198"/>
            <a:ext cx="4024312" cy="223498"/>
          </a:xfrm>
          <a:prstGeom prst="rect">
            <a:avLst/>
          </a:prstGeom>
          <a:ln/>
        </p:spPr>
        <p:txBody>
          <a:bodyPr wrap="square" lIns="0" tIns="0" rIns="0" bIns="0" rtlCol="0" anchor="t"/>
          <a:lstStyle/>
          <a:p>
            <a:pPr marL="0" indent="0" algn="l">
              <a:lnSpc>
                <a:spcPts val="2376"/>
              </a:lnSpc>
              <a:spcAft>
                <a:spcPts val="405"/>
              </a:spcAft>
              <a:buNone/>
            </a:pPr>
            <a:r>
              <a:rPr lang="en-US" sz="2100" b="1" dirty="0">
                <a:solidFill>
                  <a:srgbClr val="1E3A5F"/>
                </a:solidFill>
                <a:latin typeface="Inter" pitchFamily="34" charset="0"/>
                <a:ea typeface="Inter" pitchFamily="34" charset="-122"/>
                <a:cs typeface="Inter" pitchFamily="34" charset="-120"/>
              </a:rPr>
              <a:t>Data Sourcing &amp; Processing</a:t>
            </a:r>
            <a:endParaRPr lang="en-US" sz="2100" dirty="0"/>
          </a:p>
        </p:txBody>
      </p:sp>
      <p:sp>
        <p:nvSpPr>
          <p:cNvPr id="39" name="Shape 37"/>
          <p:cNvSpPr/>
          <p:nvPr/>
        </p:nvSpPr>
        <p:spPr>
          <a:xfrm>
            <a:off x="366713" y="4705610"/>
            <a:ext cx="8410575" cy="233362"/>
          </a:xfrm>
          <a:prstGeom prst="rect">
            <a:avLst/>
          </a:prstGeom>
          <a:ln/>
        </p:spPr>
        <p:txBody>
          <a:bodyPr/>
          <a:lstStyle/>
          <a:p>
            <a:endParaRPr lang="en-IN"/>
          </a:p>
        </p:txBody>
      </p:sp>
      <p:sp>
        <p:nvSpPr>
          <p:cNvPr id="40" name="Text 38"/>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41" name="Text 39"/>
          <p:cNvSpPr/>
          <p:nvPr/>
        </p:nvSpPr>
        <p:spPr>
          <a:xfrm>
            <a:off x="8282843" y="4814181"/>
            <a:ext cx="4953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6 of 24</a:t>
            </a:r>
            <a:endParaRPr lang="en-US" sz="600" dirty="0"/>
          </a:p>
        </p:txBody>
      </p:sp>
      <p:pic>
        <p:nvPicPr>
          <p:cNvPr id="4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4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sp>
        <p:nvSpPr>
          <p:cNvPr id="88" name="Shape 3">
            <a:extLst>
              <a:ext uri="{FF2B5EF4-FFF2-40B4-BE49-F238E27FC236}">
                <a16:creationId xmlns:a16="http://schemas.microsoft.com/office/drawing/2014/main" id="{C52C1F56-465E-4353-BC52-EA11EA104E88}"/>
              </a:ext>
            </a:extLst>
          </p:cNvPr>
          <p:cNvSpPr/>
          <p:nvPr/>
        </p:nvSpPr>
        <p:spPr>
          <a:xfrm>
            <a:off x="347586" y="896122"/>
            <a:ext cx="5098174" cy="2718150"/>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graphicFrame>
        <p:nvGraphicFramePr>
          <p:cNvPr id="89" name="Table 0">
            <a:extLst>
              <a:ext uri="{FF2B5EF4-FFF2-40B4-BE49-F238E27FC236}">
                <a16:creationId xmlns:a16="http://schemas.microsoft.com/office/drawing/2014/main" id="{00FA6EFC-A114-6998-2809-678804C85E01}"/>
              </a:ext>
            </a:extLst>
          </p:cNvPr>
          <p:cNvGraphicFramePr>
            <a:graphicFrameLocks noGrp="1"/>
          </p:cNvGraphicFramePr>
          <p:nvPr>
            <p:extLst>
              <p:ext uri="{D42A27DB-BD31-4B8C-83A1-F6EECF244321}">
                <p14:modId xmlns:p14="http://schemas.microsoft.com/office/powerpoint/2010/main" val="4095136398"/>
              </p:ext>
            </p:extLst>
          </p:nvPr>
        </p:nvGraphicFramePr>
        <p:xfrm>
          <a:off x="347586" y="896401"/>
          <a:ext cx="5098174" cy="2717374"/>
        </p:xfrm>
        <a:graphic>
          <a:graphicData uri="http://schemas.openxmlformats.org/drawingml/2006/table">
            <a:tbl>
              <a:tblPr/>
              <a:tblGrid>
                <a:gridCol w="1837179">
                  <a:extLst>
                    <a:ext uri="{9D8B030D-6E8A-4147-A177-3AD203B41FA5}">
                      <a16:colId xmlns:a16="http://schemas.microsoft.com/office/drawing/2014/main" val="20000"/>
                    </a:ext>
                  </a:extLst>
                </a:gridCol>
                <a:gridCol w="1286026">
                  <a:extLst>
                    <a:ext uri="{9D8B030D-6E8A-4147-A177-3AD203B41FA5}">
                      <a16:colId xmlns:a16="http://schemas.microsoft.com/office/drawing/2014/main" val="20001"/>
                    </a:ext>
                  </a:extLst>
                </a:gridCol>
                <a:gridCol w="1974969">
                  <a:extLst>
                    <a:ext uri="{9D8B030D-6E8A-4147-A177-3AD203B41FA5}">
                      <a16:colId xmlns:a16="http://schemas.microsoft.com/office/drawing/2014/main" val="20002"/>
                    </a:ext>
                  </a:extLst>
                </a:gridCol>
              </a:tblGrid>
              <a:tr h="41153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Rows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extLst>
                  <a:ext uri="{0D108BD9-81ED-4DB2-BD59-A6C34878D82A}">
                    <a16:rowId xmlns:a16="http://schemas.microsoft.com/office/drawing/2014/main" val="10000"/>
                  </a:ext>
                </a:extLst>
              </a:tr>
              <a:tr h="421726">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80K Enterprise Export (ITS)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80,000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Primary corpus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2033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Synthetic + Jira + GitHub + SE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2,656</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Status 1 base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21726">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Helpdesk GitHub Tickets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~4,000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Real enterprise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21726">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Customer Support Tickets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~63,000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Multi-domain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52033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Knowledge Base Markdown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17 docs / 42 chunks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Runbooks + KB</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0" name="Shape 4">
            <a:extLst>
              <a:ext uri="{FF2B5EF4-FFF2-40B4-BE49-F238E27FC236}">
                <a16:creationId xmlns:a16="http://schemas.microsoft.com/office/drawing/2014/main" id="{AC3203D7-6C50-7FB6-1734-DA1E5E87133C}"/>
              </a:ext>
            </a:extLst>
          </p:cNvPr>
          <p:cNvSpPr/>
          <p:nvPr/>
        </p:nvSpPr>
        <p:spPr>
          <a:xfrm>
            <a:off x="5669394" y="896121"/>
            <a:ext cx="2920588" cy="550545"/>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sp>
        <p:nvSpPr>
          <p:cNvPr id="91" name="Shape 5">
            <a:extLst>
              <a:ext uri="{FF2B5EF4-FFF2-40B4-BE49-F238E27FC236}">
                <a16:creationId xmlns:a16="http://schemas.microsoft.com/office/drawing/2014/main" id="{1D89AC22-C926-C4B0-92A2-22BF69D00B75}"/>
              </a:ext>
            </a:extLst>
          </p:cNvPr>
          <p:cNvSpPr/>
          <p:nvPr/>
        </p:nvSpPr>
        <p:spPr>
          <a:xfrm>
            <a:off x="5669394" y="896121"/>
            <a:ext cx="292059" cy="550545"/>
          </a:xfrm>
          <a:prstGeom prst="rect">
            <a:avLst/>
          </a:prstGeom>
          <a:solidFill>
            <a:srgbClr val="00A8A8"/>
          </a:solidFill>
          <a:ln w="12700">
            <a:solidFill>
              <a:srgbClr val="000000"/>
            </a:solidFill>
            <a:prstDash val="solid"/>
          </a:ln>
        </p:spPr>
        <p:txBody>
          <a:bodyPr/>
          <a:lstStyle/>
          <a:p>
            <a:endParaRPr lang="en-IN" sz="1400"/>
          </a:p>
        </p:txBody>
      </p:sp>
      <p:sp>
        <p:nvSpPr>
          <p:cNvPr id="92" name="Text 6">
            <a:extLst>
              <a:ext uri="{FF2B5EF4-FFF2-40B4-BE49-F238E27FC236}">
                <a16:creationId xmlns:a16="http://schemas.microsoft.com/office/drawing/2014/main" id="{F6D54A88-94A7-BDAD-93B6-9804B7CB480D}"/>
              </a:ext>
            </a:extLst>
          </p:cNvPr>
          <p:cNvSpPr/>
          <p:nvPr/>
        </p:nvSpPr>
        <p:spPr>
          <a:xfrm>
            <a:off x="5669394" y="896121"/>
            <a:ext cx="292059" cy="550545"/>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3" name="Text 7">
            <a:extLst>
              <a:ext uri="{FF2B5EF4-FFF2-40B4-BE49-F238E27FC236}">
                <a16:creationId xmlns:a16="http://schemas.microsoft.com/office/drawing/2014/main" id="{12BDC63A-BE39-2251-2DEA-CC01A51F19DF}"/>
              </a:ext>
            </a:extLst>
          </p:cNvPr>
          <p:cNvSpPr/>
          <p:nvPr/>
        </p:nvSpPr>
        <p:spPr>
          <a:xfrm>
            <a:off x="6053442" y="950985"/>
            <a:ext cx="2514951" cy="214101"/>
          </a:xfrm>
          <a:prstGeom prst="rect">
            <a:avLst/>
          </a:prstGeom>
          <a:noFill/>
          <a:ln/>
        </p:spPr>
        <p:txBody>
          <a:bodyPr wrap="square" lIns="0" tIns="0" rIns="0" bIns="0" rtlCol="0" anchor="ctr"/>
          <a:lstStyle/>
          <a:p>
            <a:pPr marL="0" indent="0" algn="l">
              <a:buNone/>
            </a:pPr>
            <a:r>
              <a:rPr lang="en-US" sz="1000" b="1" dirty="0">
                <a:solidFill>
                  <a:srgbClr val="0F2044"/>
                </a:solidFill>
                <a:latin typeface="Calibri" pitchFamily="34" charset="0"/>
                <a:ea typeface="Calibri" pitchFamily="34" charset="-122"/>
                <a:cs typeface="Calibri" pitchFamily="34" charset="-120"/>
              </a:rPr>
              <a:t>Download &amp; Register</a:t>
            </a:r>
            <a:endParaRPr lang="en-US" sz="1000" dirty="0"/>
          </a:p>
        </p:txBody>
      </p:sp>
      <p:sp>
        <p:nvSpPr>
          <p:cNvPr id="94" name="Text 8">
            <a:extLst>
              <a:ext uri="{FF2B5EF4-FFF2-40B4-BE49-F238E27FC236}">
                <a16:creationId xmlns:a16="http://schemas.microsoft.com/office/drawing/2014/main" id="{D211306C-005A-38A9-7DCB-724827EAB44D}"/>
              </a:ext>
            </a:extLst>
          </p:cNvPr>
          <p:cNvSpPr/>
          <p:nvPr/>
        </p:nvSpPr>
        <p:spPr>
          <a:xfrm>
            <a:off x="6053442" y="1144006"/>
            <a:ext cx="2514951" cy="229394"/>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5 dataset sources + KB</a:t>
            </a:r>
            <a:endParaRPr lang="en-US" sz="800" dirty="0"/>
          </a:p>
        </p:txBody>
      </p:sp>
      <p:sp>
        <p:nvSpPr>
          <p:cNvPr id="95" name="Shape 9">
            <a:extLst>
              <a:ext uri="{FF2B5EF4-FFF2-40B4-BE49-F238E27FC236}">
                <a16:creationId xmlns:a16="http://schemas.microsoft.com/office/drawing/2014/main" id="{C7E60ED4-1299-78D5-F172-B9D3A8C2791B}"/>
              </a:ext>
            </a:extLst>
          </p:cNvPr>
          <p:cNvSpPr/>
          <p:nvPr/>
        </p:nvSpPr>
        <p:spPr>
          <a:xfrm>
            <a:off x="5669394" y="1645929"/>
            <a:ext cx="2920588" cy="550545"/>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sp>
        <p:nvSpPr>
          <p:cNvPr id="96" name="Shape 10">
            <a:extLst>
              <a:ext uri="{FF2B5EF4-FFF2-40B4-BE49-F238E27FC236}">
                <a16:creationId xmlns:a16="http://schemas.microsoft.com/office/drawing/2014/main" id="{BAC7F5FD-90D2-63D5-1182-AFE1A2AF5BDC}"/>
              </a:ext>
            </a:extLst>
          </p:cNvPr>
          <p:cNvSpPr/>
          <p:nvPr/>
        </p:nvSpPr>
        <p:spPr>
          <a:xfrm>
            <a:off x="5669394" y="1645929"/>
            <a:ext cx="292059" cy="550545"/>
          </a:xfrm>
          <a:prstGeom prst="rect">
            <a:avLst/>
          </a:prstGeom>
          <a:solidFill>
            <a:srgbClr val="00A8A8"/>
          </a:solidFill>
          <a:ln w="12700">
            <a:solidFill>
              <a:srgbClr val="000000"/>
            </a:solidFill>
            <a:prstDash val="solid"/>
          </a:ln>
        </p:spPr>
        <p:txBody>
          <a:bodyPr/>
          <a:lstStyle/>
          <a:p>
            <a:endParaRPr lang="en-IN" sz="1400"/>
          </a:p>
        </p:txBody>
      </p:sp>
      <p:sp>
        <p:nvSpPr>
          <p:cNvPr id="97" name="Text 11">
            <a:extLst>
              <a:ext uri="{FF2B5EF4-FFF2-40B4-BE49-F238E27FC236}">
                <a16:creationId xmlns:a16="http://schemas.microsoft.com/office/drawing/2014/main" id="{66503D70-5AC8-FC53-AD13-D3E3FC154D36}"/>
              </a:ext>
            </a:extLst>
          </p:cNvPr>
          <p:cNvSpPr/>
          <p:nvPr/>
        </p:nvSpPr>
        <p:spPr>
          <a:xfrm>
            <a:off x="5669394" y="1645929"/>
            <a:ext cx="292059" cy="550545"/>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98" name="Text 12">
            <a:extLst>
              <a:ext uri="{FF2B5EF4-FFF2-40B4-BE49-F238E27FC236}">
                <a16:creationId xmlns:a16="http://schemas.microsoft.com/office/drawing/2014/main" id="{95680D18-2833-CF21-F732-B705005AEB80}"/>
              </a:ext>
            </a:extLst>
          </p:cNvPr>
          <p:cNvSpPr/>
          <p:nvPr/>
        </p:nvSpPr>
        <p:spPr>
          <a:xfrm>
            <a:off x="6053442" y="1700793"/>
            <a:ext cx="2514951" cy="214101"/>
          </a:xfrm>
          <a:prstGeom prst="rect">
            <a:avLst/>
          </a:prstGeom>
          <a:noFill/>
          <a:ln/>
        </p:spPr>
        <p:txBody>
          <a:bodyPr wrap="square" lIns="0" tIns="0" rIns="0" bIns="0" rtlCol="0" anchor="ctr"/>
          <a:lstStyle/>
          <a:p>
            <a:pPr marL="0" indent="0" algn="l">
              <a:buNone/>
            </a:pPr>
            <a:r>
              <a:rPr lang="en-US" sz="1000" b="1" dirty="0">
                <a:solidFill>
                  <a:srgbClr val="0F2044"/>
                </a:solidFill>
                <a:latin typeface="Calibri" pitchFamily="34" charset="0"/>
                <a:ea typeface="Calibri" pitchFamily="34" charset="-122"/>
                <a:cs typeface="Calibri" pitchFamily="34" charset="-120"/>
              </a:rPr>
              <a:t>Clean &amp; Normalize</a:t>
            </a:r>
            <a:endParaRPr lang="en-US" sz="1000" dirty="0"/>
          </a:p>
        </p:txBody>
      </p:sp>
      <p:sp>
        <p:nvSpPr>
          <p:cNvPr id="99" name="Text 13">
            <a:extLst>
              <a:ext uri="{FF2B5EF4-FFF2-40B4-BE49-F238E27FC236}">
                <a16:creationId xmlns:a16="http://schemas.microsoft.com/office/drawing/2014/main" id="{3FD84A29-634A-2558-38A8-A92739E8FB67}"/>
              </a:ext>
            </a:extLst>
          </p:cNvPr>
          <p:cNvSpPr/>
          <p:nvPr/>
        </p:nvSpPr>
        <p:spPr>
          <a:xfrm>
            <a:off x="6053440" y="1892883"/>
            <a:ext cx="2514951" cy="229394"/>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Strip PII, URLs, hex codes; quality score</a:t>
            </a:r>
            <a:endParaRPr lang="en-US" sz="800" dirty="0"/>
          </a:p>
        </p:txBody>
      </p:sp>
      <p:sp>
        <p:nvSpPr>
          <p:cNvPr id="100" name="Shape 14">
            <a:extLst>
              <a:ext uri="{FF2B5EF4-FFF2-40B4-BE49-F238E27FC236}">
                <a16:creationId xmlns:a16="http://schemas.microsoft.com/office/drawing/2014/main" id="{913EFE68-252D-DD9A-2167-CF7C10949EDA}"/>
              </a:ext>
            </a:extLst>
          </p:cNvPr>
          <p:cNvSpPr/>
          <p:nvPr/>
        </p:nvSpPr>
        <p:spPr>
          <a:xfrm>
            <a:off x="5669394" y="2395737"/>
            <a:ext cx="2920588" cy="550545"/>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sp>
        <p:nvSpPr>
          <p:cNvPr id="101" name="Shape 15">
            <a:extLst>
              <a:ext uri="{FF2B5EF4-FFF2-40B4-BE49-F238E27FC236}">
                <a16:creationId xmlns:a16="http://schemas.microsoft.com/office/drawing/2014/main" id="{33C5C473-D9C4-FF98-F687-479CA5238897}"/>
              </a:ext>
            </a:extLst>
          </p:cNvPr>
          <p:cNvSpPr/>
          <p:nvPr/>
        </p:nvSpPr>
        <p:spPr>
          <a:xfrm>
            <a:off x="5669394" y="2395737"/>
            <a:ext cx="292059" cy="550545"/>
          </a:xfrm>
          <a:prstGeom prst="rect">
            <a:avLst/>
          </a:prstGeom>
          <a:solidFill>
            <a:srgbClr val="00A8A8"/>
          </a:solidFill>
          <a:ln w="12700">
            <a:solidFill>
              <a:srgbClr val="000000"/>
            </a:solidFill>
            <a:prstDash val="solid"/>
          </a:ln>
        </p:spPr>
        <p:txBody>
          <a:bodyPr/>
          <a:lstStyle/>
          <a:p>
            <a:endParaRPr lang="en-IN" sz="1400"/>
          </a:p>
        </p:txBody>
      </p:sp>
      <p:sp>
        <p:nvSpPr>
          <p:cNvPr id="102" name="Text 16">
            <a:extLst>
              <a:ext uri="{FF2B5EF4-FFF2-40B4-BE49-F238E27FC236}">
                <a16:creationId xmlns:a16="http://schemas.microsoft.com/office/drawing/2014/main" id="{BC095A1F-4D70-8101-6A5C-1E359952E3E8}"/>
              </a:ext>
            </a:extLst>
          </p:cNvPr>
          <p:cNvSpPr/>
          <p:nvPr/>
        </p:nvSpPr>
        <p:spPr>
          <a:xfrm>
            <a:off x="5669394" y="2395737"/>
            <a:ext cx="292059" cy="550545"/>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03" name="Text 17">
            <a:extLst>
              <a:ext uri="{FF2B5EF4-FFF2-40B4-BE49-F238E27FC236}">
                <a16:creationId xmlns:a16="http://schemas.microsoft.com/office/drawing/2014/main" id="{646824AC-4A44-A973-4891-DA367102C4E1}"/>
              </a:ext>
            </a:extLst>
          </p:cNvPr>
          <p:cNvSpPr/>
          <p:nvPr/>
        </p:nvSpPr>
        <p:spPr>
          <a:xfrm>
            <a:off x="6053442" y="2450601"/>
            <a:ext cx="2514951" cy="214101"/>
          </a:xfrm>
          <a:prstGeom prst="rect">
            <a:avLst/>
          </a:prstGeom>
          <a:noFill/>
          <a:ln/>
        </p:spPr>
        <p:txBody>
          <a:bodyPr wrap="square" lIns="0" tIns="0" rIns="0" bIns="0" rtlCol="0" anchor="ctr"/>
          <a:lstStyle/>
          <a:p>
            <a:pPr marL="0" indent="0" algn="l">
              <a:buNone/>
            </a:pPr>
            <a:r>
              <a:rPr lang="en-US" sz="1000" b="1" dirty="0">
                <a:solidFill>
                  <a:srgbClr val="0F2044"/>
                </a:solidFill>
                <a:latin typeface="Calibri" pitchFamily="34" charset="0"/>
                <a:ea typeface="Calibri" pitchFamily="34" charset="-122"/>
                <a:cs typeface="Calibri" pitchFamily="34" charset="-120"/>
              </a:rPr>
              <a:t>Build Vector Store</a:t>
            </a:r>
            <a:endParaRPr lang="en-US" sz="1000" dirty="0"/>
          </a:p>
        </p:txBody>
      </p:sp>
      <p:sp>
        <p:nvSpPr>
          <p:cNvPr id="104" name="Text 18">
            <a:extLst>
              <a:ext uri="{FF2B5EF4-FFF2-40B4-BE49-F238E27FC236}">
                <a16:creationId xmlns:a16="http://schemas.microsoft.com/office/drawing/2014/main" id="{265E78D6-588F-F14A-636A-E1E3D4394302}"/>
              </a:ext>
            </a:extLst>
          </p:cNvPr>
          <p:cNvSpPr/>
          <p:nvPr/>
        </p:nvSpPr>
        <p:spPr>
          <a:xfrm>
            <a:off x="6075031" y="2663705"/>
            <a:ext cx="2514951" cy="229394"/>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Embed → ChromaDB + BM25 corpus JSON</a:t>
            </a:r>
            <a:endParaRPr lang="en-US" sz="800" dirty="0"/>
          </a:p>
        </p:txBody>
      </p:sp>
      <p:sp>
        <p:nvSpPr>
          <p:cNvPr id="105" name="Shape 19">
            <a:extLst>
              <a:ext uri="{FF2B5EF4-FFF2-40B4-BE49-F238E27FC236}">
                <a16:creationId xmlns:a16="http://schemas.microsoft.com/office/drawing/2014/main" id="{BB3B85ED-7D7C-F000-0930-F14D661766A6}"/>
              </a:ext>
            </a:extLst>
          </p:cNvPr>
          <p:cNvSpPr/>
          <p:nvPr/>
        </p:nvSpPr>
        <p:spPr>
          <a:xfrm>
            <a:off x="5669394" y="3145545"/>
            <a:ext cx="2920588" cy="550545"/>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sp>
        <p:nvSpPr>
          <p:cNvPr id="106" name="Shape 20">
            <a:extLst>
              <a:ext uri="{FF2B5EF4-FFF2-40B4-BE49-F238E27FC236}">
                <a16:creationId xmlns:a16="http://schemas.microsoft.com/office/drawing/2014/main" id="{3760EA92-97C4-E240-06C3-DD37E5BDFFE7}"/>
              </a:ext>
            </a:extLst>
          </p:cNvPr>
          <p:cNvSpPr/>
          <p:nvPr/>
        </p:nvSpPr>
        <p:spPr>
          <a:xfrm>
            <a:off x="5669394" y="3145545"/>
            <a:ext cx="292059" cy="550545"/>
          </a:xfrm>
          <a:prstGeom prst="rect">
            <a:avLst/>
          </a:prstGeom>
          <a:solidFill>
            <a:srgbClr val="00A8A8"/>
          </a:solidFill>
          <a:ln w="12700">
            <a:solidFill>
              <a:srgbClr val="000000"/>
            </a:solidFill>
            <a:prstDash val="solid"/>
          </a:ln>
        </p:spPr>
        <p:txBody>
          <a:bodyPr/>
          <a:lstStyle/>
          <a:p>
            <a:endParaRPr lang="en-IN" sz="1400"/>
          </a:p>
        </p:txBody>
      </p:sp>
      <p:sp>
        <p:nvSpPr>
          <p:cNvPr id="107" name="Text 21">
            <a:extLst>
              <a:ext uri="{FF2B5EF4-FFF2-40B4-BE49-F238E27FC236}">
                <a16:creationId xmlns:a16="http://schemas.microsoft.com/office/drawing/2014/main" id="{6DC7088C-C1B3-5012-8214-1675685D5168}"/>
              </a:ext>
            </a:extLst>
          </p:cNvPr>
          <p:cNvSpPr/>
          <p:nvPr/>
        </p:nvSpPr>
        <p:spPr>
          <a:xfrm>
            <a:off x="5669394" y="3145545"/>
            <a:ext cx="292059" cy="550545"/>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08" name="Text 22">
            <a:extLst>
              <a:ext uri="{FF2B5EF4-FFF2-40B4-BE49-F238E27FC236}">
                <a16:creationId xmlns:a16="http://schemas.microsoft.com/office/drawing/2014/main" id="{49014E6E-64E0-906E-D7B2-A1F445963A88}"/>
              </a:ext>
            </a:extLst>
          </p:cNvPr>
          <p:cNvSpPr/>
          <p:nvPr/>
        </p:nvSpPr>
        <p:spPr>
          <a:xfrm>
            <a:off x="6053442" y="3200409"/>
            <a:ext cx="2514951" cy="214101"/>
          </a:xfrm>
          <a:prstGeom prst="rect">
            <a:avLst/>
          </a:prstGeom>
          <a:noFill/>
          <a:ln/>
        </p:spPr>
        <p:txBody>
          <a:bodyPr wrap="square" lIns="0" tIns="0" rIns="0" bIns="0" rtlCol="0" anchor="ctr"/>
          <a:lstStyle/>
          <a:p>
            <a:pPr marL="0" indent="0" algn="l">
              <a:buNone/>
            </a:pPr>
            <a:r>
              <a:rPr lang="en-US" sz="1000" b="1" dirty="0">
                <a:solidFill>
                  <a:srgbClr val="0F2044"/>
                </a:solidFill>
                <a:latin typeface="Calibri" pitchFamily="34" charset="0"/>
                <a:ea typeface="Calibri" pitchFamily="34" charset="-122"/>
                <a:cs typeface="Calibri" pitchFamily="34" charset="-120"/>
              </a:rPr>
              <a:t>Hybrid Retrieval</a:t>
            </a:r>
            <a:endParaRPr lang="en-US" sz="1000" dirty="0"/>
          </a:p>
        </p:txBody>
      </p:sp>
      <p:sp>
        <p:nvSpPr>
          <p:cNvPr id="109" name="Text 23">
            <a:extLst>
              <a:ext uri="{FF2B5EF4-FFF2-40B4-BE49-F238E27FC236}">
                <a16:creationId xmlns:a16="http://schemas.microsoft.com/office/drawing/2014/main" id="{42CC9BCC-4479-956F-62E1-C72C18D5346E}"/>
              </a:ext>
            </a:extLst>
          </p:cNvPr>
          <p:cNvSpPr/>
          <p:nvPr/>
        </p:nvSpPr>
        <p:spPr>
          <a:xfrm>
            <a:off x="6053441" y="3384379"/>
            <a:ext cx="2514951" cy="229394"/>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Dense + BM25 + RRF + rerank API</a:t>
            </a:r>
            <a:endParaRPr lang="en-US" sz="800" dirty="0"/>
          </a:p>
        </p:txBody>
      </p:sp>
      <p:sp>
        <p:nvSpPr>
          <p:cNvPr id="110" name="Shape 24">
            <a:extLst>
              <a:ext uri="{FF2B5EF4-FFF2-40B4-BE49-F238E27FC236}">
                <a16:creationId xmlns:a16="http://schemas.microsoft.com/office/drawing/2014/main" id="{A4763481-2BAD-0AE3-B812-B2C244246C61}"/>
              </a:ext>
            </a:extLst>
          </p:cNvPr>
          <p:cNvSpPr/>
          <p:nvPr/>
        </p:nvSpPr>
        <p:spPr>
          <a:xfrm>
            <a:off x="347586" y="3829637"/>
            <a:ext cx="1460294" cy="764646"/>
          </a:xfrm>
          <a:prstGeom prst="rect">
            <a:avLst/>
          </a:prstGeom>
          <a:solidFill>
            <a:srgbClr val="0F2044"/>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sp>
        <p:nvSpPr>
          <p:cNvPr id="111" name="Text 25">
            <a:extLst>
              <a:ext uri="{FF2B5EF4-FFF2-40B4-BE49-F238E27FC236}">
                <a16:creationId xmlns:a16="http://schemas.microsoft.com/office/drawing/2014/main" id="{F2FDBED1-1E55-CB6B-A505-4F9FF5B23613}"/>
              </a:ext>
            </a:extLst>
          </p:cNvPr>
          <p:cNvSpPr/>
          <p:nvPr/>
        </p:nvSpPr>
        <p:spPr>
          <a:xfrm>
            <a:off x="347586" y="3902789"/>
            <a:ext cx="1460294" cy="397616"/>
          </a:xfrm>
          <a:prstGeom prst="rect">
            <a:avLst/>
          </a:prstGeom>
          <a:noFill/>
          <a:ln/>
        </p:spPr>
        <p:txBody>
          <a:bodyPr wrap="square" lIns="0" tIns="0" rIns="0" bIns="0" rtlCol="0" anchor="b"/>
          <a:lstStyle/>
          <a:p>
            <a:pPr marL="0" indent="0" algn="ctr">
              <a:buNone/>
            </a:pPr>
            <a:r>
              <a:rPr lang="en-US" sz="2000" b="1" dirty="0">
                <a:solidFill>
                  <a:srgbClr val="00A8A8"/>
                </a:solidFill>
                <a:latin typeface="Calibri" pitchFamily="34" charset="0"/>
                <a:ea typeface="Calibri" pitchFamily="34" charset="-122"/>
                <a:cs typeface="Calibri" pitchFamily="34" charset="-120"/>
              </a:rPr>
              <a:t>10</a:t>
            </a:r>
            <a:endParaRPr lang="en-US" sz="2000" dirty="0"/>
          </a:p>
        </p:txBody>
      </p:sp>
      <p:sp>
        <p:nvSpPr>
          <p:cNvPr id="112" name="Text 26">
            <a:extLst>
              <a:ext uri="{FF2B5EF4-FFF2-40B4-BE49-F238E27FC236}">
                <a16:creationId xmlns:a16="http://schemas.microsoft.com/office/drawing/2014/main" id="{7B096AE6-84CB-DD90-0828-3C7BDBEC289C}"/>
              </a:ext>
            </a:extLst>
          </p:cNvPr>
          <p:cNvSpPr/>
          <p:nvPr/>
        </p:nvSpPr>
        <p:spPr>
          <a:xfrm>
            <a:off x="347586" y="4341701"/>
            <a:ext cx="1460294" cy="290565"/>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Categories</a:t>
            </a:r>
            <a:endParaRPr lang="en-US" sz="700" dirty="0"/>
          </a:p>
        </p:txBody>
      </p:sp>
      <p:sp>
        <p:nvSpPr>
          <p:cNvPr id="113" name="Shape 27">
            <a:extLst>
              <a:ext uri="{FF2B5EF4-FFF2-40B4-BE49-F238E27FC236}">
                <a16:creationId xmlns:a16="http://schemas.microsoft.com/office/drawing/2014/main" id="{AB8DE521-67F8-B73C-BD19-6EE069319B17}"/>
              </a:ext>
            </a:extLst>
          </p:cNvPr>
          <p:cNvSpPr/>
          <p:nvPr/>
        </p:nvSpPr>
        <p:spPr>
          <a:xfrm>
            <a:off x="2121522" y="3829637"/>
            <a:ext cx="1460294" cy="764646"/>
          </a:xfrm>
          <a:prstGeom prst="rect">
            <a:avLst/>
          </a:prstGeom>
          <a:solidFill>
            <a:srgbClr val="0F2044"/>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sp>
        <p:nvSpPr>
          <p:cNvPr id="114" name="Text 28">
            <a:extLst>
              <a:ext uri="{FF2B5EF4-FFF2-40B4-BE49-F238E27FC236}">
                <a16:creationId xmlns:a16="http://schemas.microsoft.com/office/drawing/2014/main" id="{419CA759-ED53-3A67-6551-28D4C43F1843}"/>
              </a:ext>
            </a:extLst>
          </p:cNvPr>
          <p:cNvSpPr/>
          <p:nvPr/>
        </p:nvSpPr>
        <p:spPr>
          <a:xfrm>
            <a:off x="2121522" y="3902789"/>
            <a:ext cx="1460294" cy="397616"/>
          </a:xfrm>
          <a:prstGeom prst="rect">
            <a:avLst/>
          </a:prstGeom>
          <a:noFill/>
          <a:ln/>
        </p:spPr>
        <p:txBody>
          <a:bodyPr wrap="square" lIns="0" tIns="0" rIns="0" bIns="0" rtlCol="0" anchor="b"/>
          <a:lstStyle/>
          <a:p>
            <a:pPr marL="0" indent="0" algn="ctr">
              <a:buNone/>
            </a:pPr>
            <a:r>
              <a:rPr lang="en-US" sz="2000" b="1" dirty="0">
                <a:solidFill>
                  <a:srgbClr val="00A8A8"/>
                </a:solidFill>
                <a:latin typeface="Calibri" pitchFamily="34" charset="0"/>
                <a:ea typeface="Calibri" pitchFamily="34" charset="-122"/>
                <a:cs typeface="Calibri" pitchFamily="34" charset="-120"/>
              </a:rPr>
              <a:t>9</a:t>
            </a:r>
            <a:endParaRPr lang="en-US" sz="2000" dirty="0"/>
          </a:p>
        </p:txBody>
      </p:sp>
      <p:sp>
        <p:nvSpPr>
          <p:cNvPr id="115" name="Text 29">
            <a:extLst>
              <a:ext uri="{FF2B5EF4-FFF2-40B4-BE49-F238E27FC236}">
                <a16:creationId xmlns:a16="http://schemas.microsoft.com/office/drawing/2014/main" id="{950D1168-2819-45D7-C1AF-7F66DDBFA4A6}"/>
              </a:ext>
            </a:extLst>
          </p:cNvPr>
          <p:cNvSpPr/>
          <p:nvPr/>
        </p:nvSpPr>
        <p:spPr>
          <a:xfrm>
            <a:off x="2121522" y="4341701"/>
            <a:ext cx="1460294" cy="290565"/>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Departments</a:t>
            </a:r>
            <a:endParaRPr lang="en-US" sz="700" dirty="0"/>
          </a:p>
        </p:txBody>
      </p:sp>
      <p:sp>
        <p:nvSpPr>
          <p:cNvPr id="116" name="Shape 30">
            <a:extLst>
              <a:ext uri="{FF2B5EF4-FFF2-40B4-BE49-F238E27FC236}">
                <a16:creationId xmlns:a16="http://schemas.microsoft.com/office/drawing/2014/main" id="{07486B0F-BF3D-0765-D599-CE00407F7CB6}"/>
              </a:ext>
            </a:extLst>
          </p:cNvPr>
          <p:cNvSpPr/>
          <p:nvPr/>
        </p:nvSpPr>
        <p:spPr>
          <a:xfrm>
            <a:off x="3895458" y="3829637"/>
            <a:ext cx="1460294" cy="764646"/>
          </a:xfrm>
          <a:prstGeom prst="rect">
            <a:avLst/>
          </a:prstGeom>
          <a:solidFill>
            <a:srgbClr val="0F2044"/>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sp>
        <p:nvSpPr>
          <p:cNvPr id="117" name="Text 31">
            <a:extLst>
              <a:ext uri="{FF2B5EF4-FFF2-40B4-BE49-F238E27FC236}">
                <a16:creationId xmlns:a16="http://schemas.microsoft.com/office/drawing/2014/main" id="{1B2D29AC-271C-04D6-B9A9-467C8C6C0A19}"/>
              </a:ext>
            </a:extLst>
          </p:cNvPr>
          <p:cNvSpPr/>
          <p:nvPr/>
        </p:nvSpPr>
        <p:spPr>
          <a:xfrm>
            <a:off x="3895458" y="3902789"/>
            <a:ext cx="1460294" cy="397616"/>
          </a:xfrm>
          <a:prstGeom prst="rect">
            <a:avLst/>
          </a:prstGeom>
          <a:noFill/>
          <a:ln/>
        </p:spPr>
        <p:txBody>
          <a:bodyPr wrap="square" lIns="0" tIns="0" rIns="0" bIns="0" rtlCol="0" anchor="b"/>
          <a:lstStyle/>
          <a:p>
            <a:pPr marL="0" indent="0" algn="ctr">
              <a:buNone/>
            </a:pPr>
            <a:r>
              <a:rPr lang="en-US" sz="2000" b="1" dirty="0">
                <a:solidFill>
                  <a:srgbClr val="00A8A8"/>
                </a:solidFill>
                <a:latin typeface="Calibri" pitchFamily="34" charset="0"/>
                <a:ea typeface="Calibri" pitchFamily="34" charset="-122"/>
                <a:cs typeface="Calibri" pitchFamily="34" charset="-120"/>
              </a:rPr>
              <a:t>6</a:t>
            </a:r>
            <a:endParaRPr lang="en-US" sz="2000" dirty="0"/>
          </a:p>
        </p:txBody>
      </p:sp>
      <p:sp>
        <p:nvSpPr>
          <p:cNvPr id="118" name="Text 32">
            <a:extLst>
              <a:ext uri="{FF2B5EF4-FFF2-40B4-BE49-F238E27FC236}">
                <a16:creationId xmlns:a16="http://schemas.microsoft.com/office/drawing/2014/main" id="{C9CFB863-8612-F0D7-81FA-5F1D3E83C22F}"/>
              </a:ext>
            </a:extLst>
          </p:cNvPr>
          <p:cNvSpPr/>
          <p:nvPr/>
        </p:nvSpPr>
        <p:spPr>
          <a:xfrm>
            <a:off x="3895458" y="4341701"/>
            <a:ext cx="1460294" cy="290565"/>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Languages</a:t>
            </a:r>
            <a:endParaRPr lang="en-US" sz="700" dirty="0"/>
          </a:p>
        </p:txBody>
      </p:sp>
      <p:sp>
        <p:nvSpPr>
          <p:cNvPr id="119" name="Shape 33">
            <a:extLst>
              <a:ext uri="{FF2B5EF4-FFF2-40B4-BE49-F238E27FC236}">
                <a16:creationId xmlns:a16="http://schemas.microsoft.com/office/drawing/2014/main" id="{CEAFD66F-52C5-6016-0328-EDD9D25A2C1D}"/>
              </a:ext>
            </a:extLst>
          </p:cNvPr>
          <p:cNvSpPr/>
          <p:nvPr/>
        </p:nvSpPr>
        <p:spPr>
          <a:xfrm>
            <a:off x="5669394" y="3829637"/>
            <a:ext cx="1460294" cy="764646"/>
          </a:xfrm>
          <a:prstGeom prst="rect">
            <a:avLst/>
          </a:prstGeom>
          <a:solidFill>
            <a:srgbClr val="0F2044"/>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sp>
        <p:nvSpPr>
          <p:cNvPr id="120" name="Text 34">
            <a:extLst>
              <a:ext uri="{FF2B5EF4-FFF2-40B4-BE49-F238E27FC236}">
                <a16:creationId xmlns:a16="http://schemas.microsoft.com/office/drawing/2014/main" id="{7AEBA6BF-8580-C89A-E6E6-BCC324FB5A7E}"/>
              </a:ext>
            </a:extLst>
          </p:cNvPr>
          <p:cNvSpPr/>
          <p:nvPr/>
        </p:nvSpPr>
        <p:spPr>
          <a:xfrm>
            <a:off x="5669394" y="3902789"/>
            <a:ext cx="1460294" cy="397616"/>
          </a:xfrm>
          <a:prstGeom prst="rect">
            <a:avLst/>
          </a:prstGeom>
          <a:noFill/>
          <a:ln/>
        </p:spPr>
        <p:txBody>
          <a:bodyPr wrap="square" lIns="0" tIns="0" rIns="0" bIns="0" rtlCol="0" anchor="b"/>
          <a:lstStyle/>
          <a:p>
            <a:pPr marL="0" indent="0" algn="ctr">
              <a:buNone/>
            </a:pPr>
            <a:r>
              <a:rPr lang="en-US" sz="2000" b="1" dirty="0">
                <a:solidFill>
                  <a:srgbClr val="00A8A8"/>
                </a:solidFill>
                <a:latin typeface="Calibri" pitchFamily="34" charset="0"/>
                <a:ea typeface="Calibri" pitchFamily="34" charset="-122"/>
                <a:cs typeface="Calibri" pitchFamily="34" charset="-120"/>
              </a:rPr>
              <a:t>4</a:t>
            </a:r>
            <a:endParaRPr lang="en-US" sz="2000" dirty="0"/>
          </a:p>
        </p:txBody>
      </p:sp>
      <p:sp>
        <p:nvSpPr>
          <p:cNvPr id="121" name="Text 35">
            <a:extLst>
              <a:ext uri="{FF2B5EF4-FFF2-40B4-BE49-F238E27FC236}">
                <a16:creationId xmlns:a16="http://schemas.microsoft.com/office/drawing/2014/main" id="{5F3C3D4D-B751-A238-934A-B4403FB425F7}"/>
              </a:ext>
            </a:extLst>
          </p:cNvPr>
          <p:cNvSpPr/>
          <p:nvPr/>
        </p:nvSpPr>
        <p:spPr>
          <a:xfrm>
            <a:off x="5669394" y="4341701"/>
            <a:ext cx="1460294" cy="290565"/>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Severities</a:t>
            </a:r>
            <a:endParaRPr lang="en-US" sz="700" dirty="0"/>
          </a:p>
        </p:txBody>
      </p:sp>
      <p:sp>
        <p:nvSpPr>
          <p:cNvPr id="122" name="Shape 36">
            <a:extLst>
              <a:ext uri="{FF2B5EF4-FFF2-40B4-BE49-F238E27FC236}">
                <a16:creationId xmlns:a16="http://schemas.microsoft.com/office/drawing/2014/main" id="{B587A2E6-FA71-7E60-87A5-2971A7AD4CA0}"/>
              </a:ext>
            </a:extLst>
          </p:cNvPr>
          <p:cNvSpPr/>
          <p:nvPr/>
        </p:nvSpPr>
        <p:spPr>
          <a:xfrm>
            <a:off x="7443330" y="3829637"/>
            <a:ext cx="1460294" cy="764646"/>
          </a:xfrm>
          <a:prstGeom prst="rect">
            <a:avLst/>
          </a:prstGeom>
          <a:solidFill>
            <a:srgbClr val="0F2044"/>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sz="1400"/>
          </a:p>
        </p:txBody>
      </p:sp>
      <p:sp>
        <p:nvSpPr>
          <p:cNvPr id="123" name="Text 37">
            <a:extLst>
              <a:ext uri="{FF2B5EF4-FFF2-40B4-BE49-F238E27FC236}">
                <a16:creationId xmlns:a16="http://schemas.microsoft.com/office/drawing/2014/main" id="{8B8C36FD-C927-6EC1-84D8-D5D6E593EF31}"/>
              </a:ext>
            </a:extLst>
          </p:cNvPr>
          <p:cNvSpPr/>
          <p:nvPr/>
        </p:nvSpPr>
        <p:spPr>
          <a:xfrm>
            <a:off x="7443330" y="3902789"/>
            <a:ext cx="1460294" cy="397616"/>
          </a:xfrm>
          <a:prstGeom prst="rect">
            <a:avLst/>
          </a:prstGeom>
          <a:noFill/>
          <a:ln/>
        </p:spPr>
        <p:txBody>
          <a:bodyPr wrap="square" lIns="0" tIns="0" rIns="0" bIns="0" rtlCol="0" anchor="b"/>
          <a:lstStyle/>
          <a:p>
            <a:pPr marL="0" indent="0" algn="ctr">
              <a:buNone/>
            </a:pPr>
            <a:r>
              <a:rPr lang="en-US" sz="2000" b="1" dirty="0">
                <a:solidFill>
                  <a:srgbClr val="00A8A8"/>
                </a:solidFill>
                <a:latin typeface="Calibri" pitchFamily="34" charset="0"/>
                <a:ea typeface="Calibri" pitchFamily="34" charset="-122"/>
                <a:cs typeface="Calibri" pitchFamily="34" charset="-120"/>
              </a:rPr>
              <a:t>10</a:t>
            </a:r>
            <a:endParaRPr lang="en-US" sz="2000" dirty="0"/>
          </a:p>
        </p:txBody>
      </p:sp>
      <p:sp>
        <p:nvSpPr>
          <p:cNvPr id="124" name="Text 38">
            <a:extLst>
              <a:ext uri="{FF2B5EF4-FFF2-40B4-BE49-F238E27FC236}">
                <a16:creationId xmlns:a16="http://schemas.microsoft.com/office/drawing/2014/main" id="{D0E2D630-6F3D-4827-4427-5664EF61141A}"/>
              </a:ext>
            </a:extLst>
          </p:cNvPr>
          <p:cNvSpPr/>
          <p:nvPr/>
        </p:nvSpPr>
        <p:spPr>
          <a:xfrm>
            <a:off x="7443330" y="4341701"/>
            <a:ext cx="1460294" cy="290565"/>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Source Systems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3999" cy="5143499"/>
          </a:xfrm>
          <a:prstGeom prst="rect">
            <a:avLst/>
          </a:prstGeom>
          <a:solidFill>
            <a:srgbClr val="FAFBFC"/>
          </a:solidFill>
          <a:ln/>
        </p:spPr>
        <p:txBody>
          <a:bodyPr/>
          <a:lstStyle/>
          <a:p>
            <a:endParaRPr lang="en-IN" dirty="0"/>
          </a:p>
        </p:txBody>
      </p:sp>
      <p:sp>
        <p:nvSpPr>
          <p:cNvPr id="3" name="Shape 1"/>
          <p:cNvSpPr/>
          <p:nvPr/>
        </p:nvSpPr>
        <p:spPr>
          <a:xfrm>
            <a:off x="366713" y="205643"/>
            <a:ext cx="8410575" cy="290513"/>
          </a:xfrm>
          <a:prstGeom prst="rect">
            <a:avLst/>
          </a:prstGeom>
          <a:ln/>
        </p:spPr>
        <p:txBody>
          <a:bodyPr/>
          <a:lstStyle/>
          <a:p>
            <a:endParaRPr lang="en-IN"/>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p:cNvSpPr/>
          <p:nvPr/>
        </p:nvSpPr>
        <p:spPr>
          <a:xfrm>
            <a:off x="7273082" y="228042"/>
            <a:ext cx="728663"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DATA CLEANING</a:t>
            </a:r>
            <a:endParaRPr lang="en-US" sz="700" dirty="0"/>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p:cNvSpPr/>
          <p:nvPr/>
        </p:nvSpPr>
        <p:spPr>
          <a:xfrm>
            <a:off x="366713" y="599864"/>
            <a:ext cx="7442940" cy="345143"/>
          </a:xfrm>
          <a:prstGeom prst="rect">
            <a:avLst/>
          </a:prstGeom>
          <a:ln/>
        </p:spPr>
        <p:txBody>
          <a:bodyPr wrap="square" lIns="0" tIns="0" rIns="0" bIns="0" rtlCol="0" anchor="t"/>
          <a:lstStyle/>
          <a:p>
            <a:pPr marL="0" indent="0" algn="l">
              <a:lnSpc>
                <a:spcPts val="2376"/>
              </a:lnSpc>
              <a:spcAft>
                <a:spcPts val="405"/>
              </a:spcAft>
              <a:buNone/>
            </a:pPr>
            <a:r>
              <a:rPr lang="en-US" sz="2100" b="1" dirty="0">
                <a:solidFill>
                  <a:srgbClr val="1E3A5F"/>
                </a:solidFill>
                <a:latin typeface="Inter" pitchFamily="34" charset="0"/>
                <a:ea typeface="Inter" pitchFamily="34" charset="-122"/>
                <a:cs typeface="Inter" pitchFamily="34" charset="-120"/>
              </a:rPr>
              <a:t>Data Cleaning, Feature Engineering &amp; PII Handling</a:t>
            </a:r>
            <a:endParaRPr lang="en-US" sz="2100" dirty="0"/>
          </a:p>
        </p:txBody>
      </p:sp>
      <p:sp>
        <p:nvSpPr>
          <p:cNvPr id="10" name="Shape 8"/>
          <p:cNvSpPr/>
          <p:nvPr/>
        </p:nvSpPr>
        <p:spPr>
          <a:xfrm>
            <a:off x="366713" y="1244251"/>
            <a:ext cx="4024312" cy="1033462"/>
          </a:xfrm>
          <a:prstGeom prst="roundRect">
            <a:avLst>
              <a:gd name="adj" fmla="val 7829"/>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pPr algn="ctr"/>
            <a:endParaRPr lang="en-IN"/>
          </a:p>
        </p:txBody>
      </p:sp>
      <p:sp>
        <p:nvSpPr>
          <p:cNvPr id="11" name="Text 9"/>
          <p:cNvSpPr/>
          <p:nvPr/>
        </p:nvSpPr>
        <p:spPr>
          <a:xfrm>
            <a:off x="554832" y="1378159"/>
            <a:ext cx="3648075" cy="138113"/>
          </a:xfrm>
          <a:prstGeom prst="rect">
            <a:avLst/>
          </a:prstGeom>
          <a:ln/>
        </p:spPr>
        <p:txBody>
          <a:bodyPr wrap="square" lIns="0" tIns="0" rIns="0" bIns="0" rtlCol="0" anchor="t"/>
          <a:lstStyle/>
          <a:p>
            <a:pPr marL="0" indent="0" algn="l">
              <a:lnSpc>
                <a:spcPts val="1080"/>
              </a:lnSpc>
              <a:spcAft>
                <a:spcPts val="607"/>
              </a:spcAft>
              <a:buNone/>
            </a:pPr>
            <a:r>
              <a:rPr lang="en-US" sz="800" b="1" dirty="0">
                <a:solidFill>
                  <a:srgbClr val="1E3A5F"/>
                </a:solidFill>
                <a:latin typeface="Inter" pitchFamily="34" charset="0"/>
                <a:ea typeface="Inter" pitchFamily="34" charset="-122"/>
                <a:cs typeface="Inter" pitchFamily="34" charset="-120"/>
              </a:rPr>
              <a:t>Replacements</a:t>
            </a:r>
            <a:endParaRPr lang="en-US" sz="800" dirty="0"/>
          </a:p>
        </p:txBody>
      </p:sp>
      <p:sp>
        <p:nvSpPr>
          <p:cNvPr id="12" name="Text 10"/>
          <p:cNvSpPr/>
          <p:nvPr/>
        </p:nvSpPr>
        <p:spPr>
          <a:xfrm>
            <a:off x="555762" y="1593811"/>
            <a:ext cx="1776413" cy="247650"/>
          </a:xfrm>
          <a:prstGeom prst="roundRect">
            <a:avLst>
              <a:gd name="adj" fmla="val 17041"/>
            </a:avLst>
          </a:prstGeom>
          <a:solidFill>
            <a:srgbClr val="FAFBFC"/>
          </a:solidFill>
          <a:ln w="4763">
            <a:solidFill>
              <a:srgbClr val="E2E8F0"/>
            </a:solidFill>
            <a:prstDash val="solid"/>
          </a:ln>
        </p:spPr>
        <p:txBody>
          <a:bodyPr wrap="square" lIns="0" tIns="0" rIns="0" bIns="0" rtlCol="0" anchor="ctr"/>
          <a:lstStyle/>
          <a:p>
            <a:pPr marL="0" indent="0" algn="ctr">
              <a:lnSpc>
                <a:spcPts val="1080"/>
              </a:lnSpc>
              <a:buNone/>
            </a:pPr>
            <a:r>
              <a:rPr lang="en-US" sz="700" dirty="0">
                <a:solidFill>
                  <a:srgbClr val="DC2626"/>
                </a:solidFill>
                <a:latin typeface="monospace" pitchFamily="34" charset="0"/>
                <a:ea typeface="monospace" pitchFamily="34" charset="-122"/>
                <a:cs typeface="monospace" pitchFamily="34" charset="-120"/>
              </a:rPr>
              <a:t>URLs</a:t>
            </a:r>
            <a:r>
              <a:rPr lang="en-US" sz="700" dirty="0">
                <a:solidFill>
                  <a:srgbClr val="475569"/>
                </a:solidFill>
                <a:latin typeface="Inter" pitchFamily="34" charset="0"/>
                <a:ea typeface="Inter" pitchFamily="34" charset="-122"/>
                <a:cs typeface="Inter" pitchFamily="34" charset="-120"/>
              </a:rPr>
              <a:t>→ [URL]</a:t>
            </a:r>
            <a:endParaRPr lang="en-US" sz="700" dirty="0"/>
          </a:p>
        </p:txBody>
      </p:sp>
      <p:sp>
        <p:nvSpPr>
          <p:cNvPr id="13" name="Text 11"/>
          <p:cNvSpPr/>
          <p:nvPr/>
        </p:nvSpPr>
        <p:spPr>
          <a:xfrm>
            <a:off x="2425527" y="1593811"/>
            <a:ext cx="1776413" cy="247650"/>
          </a:xfrm>
          <a:prstGeom prst="roundRect">
            <a:avLst>
              <a:gd name="adj" fmla="val 17041"/>
            </a:avLst>
          </a:prstGeom>
          <a:solidFill>
            <a:srgbClr val="FAFBFC"/>
          </a:solidFill>
          <a:ln w="4763">
            <a:solidFill>
              <a:srgbClr val="E2E8F0"/>
            </a:solidFill>
            <a:prstDash val="solid"/>
          </a:ln>
        </p:spPr>
        <p:txBody>
          <a:bodyPr wrap="square" lIns="0" tIns="0" rIns="0" bIns="0" rtlCol="0" anchor="ctr"/>
          <a:lstStyle/>
          <a:p>
            <a:pPr marL="0" indent="0" algn="ctr">
              <a:lnSpc>
                <a:spcPts val="1080"/>
              </a:lnSpc>
              <a:buNone/>
            </a:pPr>
            <a:r>
              <a:rPr lang="en-US" sz="700" dirty="0">
                <a:solidFill>
                  <a:srgbClr val="DC2626"/>
                </a:solidFill>
                <a:latin typeface="monospace" pitchFamily="34" charset="0"/>
                <a:ea typeface="monospace" pitchFamily="34" charset="-122"/>
                <a:cs typeface="monospace" pitchFamily="34" charset="-120"/>
              </a:rPr>
              <a:t>Emails</a:t>
            </a:r>
            <a:r>
              <a:rPr lang="en-US" sz="700" dirty="0">
                <a:solidFill>
                  <a:srgbClr val="475569"/>
                </a:solidFill>
                <a:latin typeface="Inter" pitchFamily="34" charset="0"/>
                <a:ea typeface="Inter" pitchFamily="34" charset="-122"/>
                <a:cs typeface="Inter" pitchFamily="34" charset="-120"/>
              </a:rPr>
              <a:t>→ [EMAIL]</a:t>
            </a:r>
            <a:endParaRPr lang="en-US" sz="700" dirty="0"/>
          </a:p>
        </p:txBody>
      </p:sp>
      <p:sp>
        <p:nvSpPr>
          <p:cNvPr id="14" name="Text 12"/>
          <p:cNvSpPr/>
          <p:nvPr/>
        </p:nvSpPr>
        <p:spPr>
          <a:xfrm>
            <a:off x="555762" y="1894742"/>
            <a:ext cx="1776413" cy="247650"/>
          </a:xfrm>
          <a:prstGeom prst="roundRect">
            <a:avLst>
              <a:gd name="adj" fmla="val 17041"/>
            </a:avLst>
          </a:prstGeom>
          <a:solidFill>
            <a:srgbClr val="FAFBFC"/>
          </a:solidFill>
          <a:ln w="4763">
            <a:solidFill>
              <a:srgbClr val="E2E8F0"/>
            </a:solidFill>
            <a:prstDash val="solid"/>
          </a:ln>
        </p:spPr>
        <p:txBody>
          <a:bodyPr wrap="square" lIns="0" tIns="0" rIns="0" bIns="0" rtlCol="0" anchor="ctr"/>
          <a:lstStyle/>
          <a:p>
            <a:pPr marL="0" indent="0" algn="ctr">
              <a:lnSpc>
                <a:spcPts val="1080"/>
              </a:lnSpc>
              <a:buNone/>
            </a:pPr>
            <a:r>
              <a:rPr lang="en-US" sz="700" dirty="0">
                <a:solidFill>
                  <a:srgbClr val="DC2626"/>
                </a:solidFill>
                <a:latin typeface="monospace" pitchFamily="34" charset="0"/>
                <a:ea typeface="monospace" pitchFamily="34" charset="-122"/>
                <a:cs typeface="monospace" pitchFamily="34" charset="-120"/>
              </a:rPr>
              <a:t>File Paths</a:t>
            </a:r>
            <a:r>
              <a:rPr lang="en-US" sz="700" dirty="0">
                <a:solidFill>
                  <a:srgbClr val="475569"/>
                </a:solidFill>
                <a:latin typeface="Inter" pitchFamily="34" charset="0"/>
                <a:ea typeface="Inter" pitchFamily="34" charset="-122"/>
                <a:cs typeface="Inter" pitchFamily="34" charset="-120"/>
              </a:rPr>
              <a:t>→ [PATH]</a:t>
            </a:r>
            <a:endParaRPr lang="en-US" sz="700" dirty="0"/>
          </a:p>
        </p:txBody>
      </p:sp>
      <p:sp>
        <p:nvSpPr>
          <p:cNvPr id="15" name="Text 13"/>
          <p:cNvSpPr/>
          <p:nvPr/>
        </p:nvSpPr>
        <p:spPr>
          <a:xfrm>
            <a:off x="2425527" y="1894742"/>
            <a:ext cx="1776413" cy="247650"/>
          </a:xfrm>
          <a:prstGeom prst="roundRect">
            <a:avLst>
              <a:gd name="adj" fmla="val 17041"/>
            </a:avLst>
          </a:prstGeom>
          <a:solidFill>
            <a:srgbClr val="FAFBFC"/>
          </a:solidFill>
          <a:ln w="4763">
            <a:solidFill>
              <a:srgbClr val="E2E8F0"/>
            </a:solidFill>
            <a:prstDash val="solid"/>
          </a:ln>
        </p:spPr>
        <p:txBody>
          <a:bodyPr wrap="square" lIns="0" tIns="0" rIns="0" bIns="0" rtlCol="0" anchor="ctr"/>
          <a:lstStyle/>
          <a:p>
            <a:pPr marL="0" indent="0" algn="ctr">
              <a:lnSpc>
                <a:spcPts val="1080"/>
              </a:lnSpc>
              <a:buNone/>
            </a:pPr>
            <a:r>
              <a:rPr lang="en-US" sz="700" dirty="0">
                <a:solidFill>
                  <a:srgbClr val="D97706"/>
                </a:solidFill>
                <a:latin typeface="monospace" pitchFamily="34" charset="0"/>
                <a:ea typeface="monospace" pitchFamily="34" charset="-122"/>
                <a:cs typeface="Inter" pitchFamily="34" charset="-120"/>
              </a:rPr>
              <a:t>Special characters</a:t>
            </a:r>
            <a:r>
              <a:rPr lang="en-US" sz="700" dirty="0">
                <a:solidFill>
                  <a:srgbClr val="475569"/>
                </a:solidFill>
                <a:latin typeface="Inter" pitchFamily="34" charset="0"/>
                <a:ea typeface="Inter" pitchFamily="34" charset="-122"/>
                <a:cs typeface="Inter" pitchFamily="34" charset="-120"/>
              </a:rPr>
              <a:t>→ Removed</a:t>
            </a:r>
            <a:endParaRPr lang="en-US" sz="700" dirty="0"/>
          </a:p>
        </p:txBody>
      </p:sp>
      <p:sp>
        <p:nvSpPr>
          <p:cNvPr id="16" name="Shape 14"/>
          <p:cNvSpPr/>
          <p:nvPr/>
        </p:nvSpPr>
        <p:spPr>
          <a:xfrm>
            <a:off x="364777" y="2596595"/>
            <a:ext cx="1889199" cy="1785306"/>
          </a:xfrm>
          <a:prstGeom prst="roundRect">
            <a:avLst>
              <a:gd name="adj" fmla="val 8687"/>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000"/>
          </a:p>
        </p:txBody>
      </p:sp>
      <p:sp>
        <p:nvSpPr>
          <p:cNvPr id="17" name="Text 15"/>
          <p:cNvSpPr/>
          <p:nvPr/>
        </p:nvSpPr>
        <p:spPr>
          <a:xfrm>
            <a:off x="547650" y="2712312"/>
            <a:ext cx="894420" cy="226002"/>
          </a:xfrm>
          <a:prstGeom prst="rect">
            <a:avLst/>
          </a:prstGeom>
          <a:ln/>
        </p:spPr>
        <p:txBody>
          <a:bodyPr wrap="square" lIns="0" tIns="0" rIns="0" bIns="0" rtlCol="0" anchor="t"/>
          <a:lstStyle/>
          <a:p>
            <a:pPr marL="0" indent="0" algn="l">
              <a:lnSpc>
                <a:spcPts val="1080"/>
              </a:lnSpc>
              <a:spcAft>
                <a:spcPts val="486"/>
              </a:spcAft>
              <a:buNone/>
            </a:pPr>
            <a:r>
              <a:rPr lang="en-US" sz="1000" b="1" dirty="0">
                <a:solidFill>
                  <a:srgbClr val="1E3A5F"/>
                </a:solidFill>
                <a:latin typeface="Inter" pitchFamily="34" charset="0"/>
                <a:ea typeface="Inter" pitchFamily="34" charset="-122"/>
                <a:cs typeface="Inter" pitchFamily="34" charset="-120"/>
              </a:rPr>
              <a:t>Normalization</a:t>
            </a:r>
            <a:endParaRPr lang="en-US" sz="1000" dirty="0"/>
          </a:p>
        </p:txBody>
      </p:sp>
      <p:sp>
        <p:nvSpPr>
          <p:cNvPr id="18" name="Text 16"/>
          <p:cNvSpPr/>
          <p:nvPr/>
        </p:nvSpPr>
        <p:spPr>
          <a:xfrm>
            <a:off x="552897" y="2988626"/>
            <a:ext cx="1649975" cy="226001"/>
          </a:xfrm>
          <a:prstGeom prst="rect">
            <a:avLst/>
          </a:prstGeom>
          <a:ln/>
        </p:spPr>
        <p:txBody>
          <a:bodyPr wrap="square" lIns="0" tIns="0" rIns="0" bIns="0" rtlCol="0" anchor="t"/>
          <a:lstStyle/>
          <a:p>
            <a:pPr marL="0" indent="0" algn="l">
              <a:lnSpc>
                <a:spcPts val="1134"/>
              </a:lnSpc>
              <a:buNone/>
            </a:pPr>
            <a:r>
              <a:rPr lang="en-US" sz="1000" dirty="0">
                <a:solidFill>
                  <a:srgbClr val="475569"/>
                </a:solidFill>
                <a:latin typeface="Inter" pitchFamily="34" charset="0"/>
                <a:ea typeface="Inter" pitchFamily="34" charset="-122"/>
                <a:cs typeface="Inter" pitchFamily="34" charset="-120"/>
              </a:rPr>
              <a:t>Lowercasing all text</a:t>
            </a:r>
            <a:endParaRPr lang="en-US" sz="1000" dirty="0"/>
          </a:p>
        </p:txBody>
      </p:sp>
      <p:sp>
        <p:nvSpPr>
          <p:cNvPr id="19" name="Text 17"/>
          <p:cNvSpPr/>
          <p:nvPr/>
        </p:nvSpPr>
        <p:spPr>
          <a:xfrm>
            <a:off x="552898" y="3323844"/>
            <a:ext cx="1701078" cy="340460"/>
          </a:xfrm>
          <a:prstGeom prst="rect">
            <a:avLst/>
          </a:prstGeom>
          <a:ln/>
        </p:spPr>
        <p:txBody>
          <a:bodyPr wrap="square" lIns="0" tIns="0" rIns="0" bIns="0" rtlCol="0" anchor="t"/>
          <a:lstStyle/>
          <a:p>
            <a:pPr marL="0" indent="0" algn="l">
              <a:lnSpc>
                <a:spcPts val="1134"/>
              </a:lnSpc>
              <a:buNone/>
            </a:pPr>
            <a:r>
              <a:rPr lang="en-US" sz="1000" dirty="0">
                <a:solidFill>
                  <a:srgbClr val="475569"/>
                </a:solidFill>
                <a:latin typeface="Inter" pitchFamily="34" charset="0"/>
                <a:ea typeface="Inter" pitchFamily="34" charset="-122"/>
                <a:cs typeface="Inter" pitchFamily="34" charset="-120"/>
              </a:rPr>
              <a:t>Removing noise characters</a:t>
            </a:r>
            <a:endParaRPr lang="en-US" sz="1000" dirty="0"/>
          </a:p>
        </p:txBody>
      </p:sp>
      <p:sp>
        <p:nvSpPr>
          <p:cNvPr id="20" name="Text 18"/>
          <p:cNvSpPr/>
          <p:nvPr/>
        </p:nvSpPr>
        <p:spPr>
          <a:xfrm>
            <a:off x="553826" y="3684650"/>
            <a:ext cx="1700149" cy="332883"/>
          </a:xfrm>
          <a:prstGeom prst="rect">
            <a:avLst/>
          </a:prstGeom>
          <a:ln/>
        </p:spPr>
        <p:txBody>
          <a:bodyPr wrap="square" lIns="0" tIns="0" rIns="0" bIns="0" rtlCol="0" anchor="t"/>
          <a:lstStyle/>
          <a:p>
            <a:pPr marL="0" indent="0" algn="l">
              <a:lnSpc>
                <a:spcPts val="1134"/>
              </a:lnSpc>
              <a:buNone/>
            </a:pPr>
            <a:r>
              <a:rPr lang="en-US" sz="1000" dirty="0">
                <a:solidFill>
                  <a:srgbClr val="475569"/>
                </a:solidFill>
                <a:latin typeface="Inter" pitchFamily="34" charset="0"/>
                <a:ea typeface="Inter" pitchFamily="34" charset="-122"/>
                <a:cs typeface="Inter" pitchFamily="34" charset="-120"/>
              </a:rPr>
              <a:t>Standardizing format across sources</a:t>
            </a:r>
            <a:endParaRPr lang="en-US" sz="1000" dirty="0"/>
          </a:p>
        </p:txBody>
      </p:sp>
      <p:sp>
        <p:nvSpPr>
          <p:cNvPr id="21" name="Shape 19"/>
          <p:cNvSpPr/>
          <p:nvPr/>
        </p:nvSpPr>
        <p:spPr>
          <a:xfrm>
            <a:off x="2377417" y="2601421"/>
            <a:ext cx="1965498" cy="1785306"/>
          </a:xfrm>
          <a:prstGeom prst="roundRect">
            <a:avLst>
              <a:gd name="adj" fmla="val 8359"/>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000" dirty="0"/>
          </a:p>
        </p:txBody>
      </p:sp>
      <p:sp>
        <p:nvSpPr>
          <p:cNvPr id="22" name="Text 20"/>
          <p:cNvSpPr/>
          <p:nvPr/>
        </p:nvSpPr>
        <p:spPr>
          <a:xfrm>
            <a:off x="2539144" y="2712312"/>
            <a:ext cx="1546273" cy="110157"/>
          </a:xfrm>
          <a:prstGeom prst="rect">
            <a:avLst/>
          </a:prstGeom>
          <a:ln/>
        </p:spPr>
        <p:txBody>
          <a:bodyPr wrap="square" lIns="0" tIns="0" rIns="0" bIns="0" rtlCol="0" anchor="t"/>
          <a:lstStyle/>
          <a:p>
            <a:pPr marL="0" indent="0" algn="l">
              <a:lnSpc>
                <a:spcPts val="1080"/>
              </a:lnSpc>
              <a:spcAft>
                <a:spcPts val="486"/>
              </a:spcAft>
              <a:buNone/>
            </a:pPr>
            <a:r>
              <a:rPr lang="en-US" sz="1000" b="1" dirty="0">
                <a:solidFill>
                  <a:srgbClr val="0D9488"/>
                </a:solidFill>
                <a:latin typeface="Inter" pitchFamily="34" charset="0"/>
                <a:ea typeface="Inter" pitchFamily="34" charset="-122"/>
                <a:cs typeface="Inter" pitchFamily="34" charset="-120"/>
              </a:rPr>
              <a:t>Feature Engineering</a:t>
            </a:r>
            <a:endParaRPr lang="en-US" sz="1000" dirty="0"/>
          </a:p>
        </p:txBody>
      </p:sp>
      <p:sp>
        <p:nvSpPr>
          <p:cNvPr id="23" name="Text 21"/>
          <p:cNvSpPr/>
          <p:nvPr/>
        </p:nvSpPr>
        <p:spPr>
          <a:xfrm>
            <a:off x="2539144" y="3323844"/>
            <a:ext cx="1903265" cy="415425"/>
          </a:xfrm>
          <a:prstGeom prst="rect">
            <a:avLst/>
          </a:prstGeom>
          <a:ln/>
        </p:spPr>
        <p:txBody>
          <a:bodyPr wrap="square" lIns="0" tIns="0" rIns="0" bIns="0" rtlCol="0" anchor="t"/>
          <a:lstStyle/>
          <a:p>
            <a:pPr marL="0" indent="0" algn="l">
              <a:lnSpc>
                <a:spcPts val="1134"/>
              </a:lnSpc>
              <a:buNone/>
            </a:pPr>
            <a:r>
              <a:rPr lang="en-US" sz="1000" dirty="0">
                <a:solidFill>
                  <a:srgbClr val="1E3A5F"/>
                </a:solidFill>
                <a:latin typeface="Inter" pitchFamily="34" charset="0"/>
                <a:ea typeface="Inter" pitchFamily="34" charset="-122"/>
                <a:cs typeface="Inter" pitchFamily="34" charset="-120"/>
              </a:rPr>
              <a:t>Extract error codes (e.g., 0x80070005)</a:t>
            </a:r>
            <a:endParaRPr lang="en-US" sz="1000" dirty="0"/>
          </a:p>
        </p:txBody>
      </p:sp>
      <p:sp>
        <p:nvSpPr>
          <p:cNvPr id="24" name="Text 22"/>
          <p:cNvSpPr/>
          <p:nvPr/>
        </p:nvSpPr>
        <p:spPr>
          <a:xfrm>
            <a:off x="2539144" y="3008345"/>
            <a:ext cx="1546273" cy="177866"/>
          </a:xfrm>
          <a:prstGeom prst="rect">
            <a:avLst/>
          </a:prstGeom>
          <a:ln/>
        </p:spPr>
        <p:txBody>
          <a:bodyPr wrap="square" lIns="0" tIns="0" rIns="0" bIns="0" rtlCol="0" anchor="t"/>
          <a:lstStyle/>
          <a:p>
            <a:pPr marL="0" indent="0" algn="l">
              <a:lnSpc>
                <a:spcPts val="1134"/>
              </a:lnSpc>
              <a:buNone/>
            </a:pPr>
            <a:r>
              <a:rPr lang="en-US" sz="1000" dirty="0">
                <a:solidFill>
                  <a:srgbClr val="1E3A5F"/>
                </a:solidFill>
                <a:latin typeface="Inter" pitchFamily="34" charset="0"/>
                <a:ea typeface="Inter" pitchFamily="34" charset="-122"/>
                <a:cs typeface="Inter" pitchFamily="34" charset="-120"/>
              </a:rPr>
              <a:t>Extract ticket identifiers</a:t>
            </a:r>
            <a:endParaRPr lang="en-US" sz="1000" dirty="0"/>
          </a:p>
        </p:txBody>
      </p:sp>
      <p:sp>
        <p:nvSpPr>
          <p:cNvPr id="25" name="Text 23"/>
          <p:cNvSpPr/>
          <p:nvPr/>
        </p:nvSpPr>
        <p:spPr>
          <a:xfrm>
            <a:off x="2539144" y="3726785"/>
            <a:ext cx="1636754" cy="281901"/>
          </a:xfrm>
          <a:prstGeom prst="rect">
            <a:avLst/>
          </a:prstGeom>
          <a:ln/>
        </p:spPr>
        <p:txBody>
          <a:bodyPr wrap="square" lIns="0" tIns="0" rIns="0" bIns="0" rtlCol="0" anchor="t"/>
          <a:lstStyle/>
          <a:p>
            <a:pPr marL="0" indent="0" algn="l">
              <a:lnSpc>
                <a:spcPts val="1134"/>
              </a:lnSpc>
              <a:buNone/>
            </a:pPr>
            <a:r>
              <a:rPr lang="en-US" sz="1000" dirty="0">
                <a:solidFill>
                  <a:srgbClr val="1E3A5F"/>
                </a:solidFill>
                <a:latin typeface="Inter" pitchFamily="34" charset="0"/>
                <a:ea typeface="Inter" pitchFamily="34" charset="-122"/>
                <a:cs typeface="Inter" pitchFamily="34" charset="-120"/>
              </a:rPr>
              <a:t>Compute quality / reliability score</a:t>
            </a:r>
            <a:endParaRPr lang="en-US" sz="1000" dirty="0"/>
          </a:p>
        </p:txBody>
      </p:sp>
      <p:sp>
        <p:nvSpPr>
          <p:cNvPr id="32" name="Shape 30"/>
          <p:cNvSpPr/>
          <p:nvPr/>
        </p:nvSpPr>
        <p:spPr>
          <a:xfrm>
            <a:off x="366713" y="4705610"/>
            <a:ext cx="8410575" cy="233362"/>
          </a:xfrm>
          <a:prstGeom prst="rect">
            <a:avLst/>
          </a:prstGeom>
          <a:ln/>
        </p:spPr>
        <p:txBody>
          <a:bodyPr/>
          <a:lstStyle/>
          <a:p>
            <a:endParaRPr lang="en-IN"/>
          </a:p>
        </p:txBody>
      </p:sp>
      <p:sp>
        <p:nvSpPr>
          <p:cNvPr id="33" name="Text 31"/>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34" name="Text 32"/>
          <p:cNvSpPr/>
          <p:nvPr/>
        </p:nvSpPr>
        <p:spPr>
          <a:xfrm>
            <a:off x="8287643" y="4814181"/>
            <a:ext cx="490537"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7 of 24</a:t>
            </a:r>
            <a:endParaRPr lang="en-US" sz="600" dirty="0"/>
          </a:p>
        </p:txBody>
      </p:sp>
      <p:pic>
        <p:nvPicPr>
          <p:cNvPr id="3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3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sp>
        <p:nvSpPr>
          <p:cNvPr id="59" name="Shape 8">
            <a:extLst>
              <a:ext uri="{FF2B5EF4-FFF2-40B4-BE49-F238E27FC236}">
                <a16:creationId xmlns:a16="http://schemas.microsoft.com/office/drawing/2014/main" id="{DB52D9D8-F771-5062-1256-71B7F0182A00}"/>
              </a:ext>
            </a:extLst>
          </p:cNvPr>
          <p:cNvSpPr/>
          <p:nvPr/>
        </p:nvSpPr>
        <p:spPr>
          <a:xfrm>
            <a:off x="4604136" y="1251103"/>
            <a:ext cx="4024312" cy="1026609"/>
          </a:xfrm>
          <a:prstGeom prst="roundRect">
            <a:avLst>
              <a:gd name="adj" fmla="val 13218"/>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000"/>
          </a:p>
        </p:txBody>
      </p:sp>
      <p:sp>
        <p:nvSpPr>
          <p:cNvPr id="60" name="Text 9">
            <a:extLst>
              <a:ext uri="{FF2B5EF4-FFF2-40B4-BE49-F238E27FC236}">
                <a16:creationId xmlns:a16="http://schemas.microsoft.com/office/drawing/2014/main" id="{5DF06321-E93F-56EE-09BC-F16671411476}"/>
              </a:ext>
            </a:extLst>
          </p:cNvPr>
          <p:cNvSpPr/>
          <p:nvPr/>
        </p:nvSpPr>
        <p:spPr>
          <a:xfrm>
            <a:off x="4792255" y="1384343"/>
            <a:ext cx="3648075" cy="138113"/>
          </a:xfrm>
          <a:prstGeom prst="rect">
            <a:avLst/>
          </a:prstGeom>
          <a:ln/>
        </p:spPr>
        <p:txBody>
          <a:bodyPr wrap="square" lIns="0" tIns="0" rIns="0" bIns="0" rtlCol="0" anchor="t"/>
          <a:lstStyle/>
          <a:p>
            <a:pPr marL="0" indent="0" algn="l">
              <a:lnSpc>
                <a:spcPts val="1080"/>
              </a:lnSpc>
              <a:spcAft>
                <a:spcPts val="486"/>
              </a:spcAft>
              <a:buNone/>
            </a:pPr>
            <a:r>
              <a:rPr lang="en-US" sz="800" b="1" dirty="0">
                <a:solidFill>
                  <a:srgbClr val="DC2626"/>
                </a:solidFill>
                <a:latin typeface="Inter" pitchFamily="34" charset="0"/>
                <a:ea typeface="Inter" pitchFamily="34" charset="-122"/>
                <a:cs typeface="Inter" pitchFamily="34" charset="-120"/>
              </a:rPr>
              <a:t>PII RISKS IN TICKET DATA</a:t>
            </a:r>
            <a:endParaRPr lang="en-US" sz="800" dirty="0"/>
          </a:p>
        </p:txBody>
      </p:sp>
      <p:sp>
        <p:nvSpPr>
          <p:cNvPr id="61" name="Text 10">
            <a:extLst>
              <a:ext uri="{FF2B5EF4-FFF2-40B4-BE49-F238E27FC236}">
                <a16:creationId xmlns:a16="http://schemas.microsoft.com/office/drawing/2014/main" id="{8856C925-37B8-42BE-0B66-2B68C2110283}"/>
              </a:ext>
            </a:extLst>
          </p:cNvPr>
          <p:cNvSpPr/>
          <p:nvPr/>
        </p:nvSpPr>
        <p:spPr>
          <a:xfrm>
            <a:off x="4790729" y="1677769"/>
            <a:ext cx="1804988" cy="142875"/>
          </a:xfrm>
          <a:prstGeom prst="rect">
            <a:avLst/>
          </a:prstGeom>
          <a:ln/>
        </p:spPr>
        <p:txBody>
          <a:bodyPr wrap="square" lIns="0" tIns="0" rIns="0" bIns="0" rtlCol="0" anchor="t"/>
          <a:lstStyle/>
          <a:p>
            <a:pPr marL="0" indent="0" algn="l">
              <a:lnSpc>
                <a:spcPts val="1134"/>
              </a:lnSpc>
              <a:buNone/>
            </a:pPr>
            <a:r>
              <a:rPr lang="en-US" sz="800" dirty="0">
                <a:solidFill>
                  <a:srgbClr val="475569"/>
                </a:solidFill>
                <a:latin typeface="Inter" pitchFamily="34" charset="0"/>
                <a:ea typeface="Inter" pitchFamily="34" charset="-122"/>
                <a:cs typeface="Inter" pitchFamily="34" charset="-120"/>
              </a:rPr>
              <a:t>Emails &amp; phone numbers</a:t>
            </a:r>
            <a:endParaRPr lang="en-US" sz="800" dirty="0"/>
          </a:p>
        </p:txBody>
      </p:sp>
      <p:sp>
        <p:nvSpPr>
          <p:cNvPr id="62" name="Text 11">
            <a:extLst>
              <a:ext uri="{FF2B5EF4-FFF2-40B4-BE49-F238E27FC236}">
                <a16:creationId xmlns:a16="http://schemas.microsoft.com/office/drawing/2014/main" id="{7163AF95-ECFE-C60F-F4A9-69BF411BA347}"/>
              </a:ext>
            </a:extLst>
          </p:cNvPr>
          <p:cNvSpPr/>
          <p:nvPr/>
        </p:nvSpPr>
        <p:spPr>
          <a:xfrm>
            <a:off x="6635342" y="1677769"/>
            <a:ext cx="1804988" cy="142875"/>
          </a:xfrm>
          <a:prstGeom prst="rect">
            <a:avLst/>
          </a:prstGeom>
          <a:ln/>
        </p:spPr>
        <p:txBody>
          <a:bodyPr wrap="square" lIns="0" tIns="0" rIns="0" bIns="0" rtlCol="0" anchor="t"/>
          <a:lstStyle/>
          <a:p>
            <a:pPr marL="0" indent="0" algn="l">
              <a:lnSpc>
                <a:spcPts val="1134"/>
              </a:lnSpc>
              <a:buNone/>
            </a:pPr>
            <a:r>
              <a:rPr lang="en-US" sz="800" dirty="0">
                <a:solidFill>
                  <a:srgbClr val="475569"/>
                </a:solidFill>
                <a:latin typeface="Inter" pitchFamily="34" charset="0"/>
                <a:ea typeface="Inter" pitchFamily="34" charset="-122"/>
                <a:cs typeface="Inter" pitchFamily="34" charset="-120"/>
              </a:rPr>
              <a:t>API keys &amp; passwords</a:t>
            </a:r>
            <a:endParaRPr lang="en-US" sz="800" dirty="0"/>
          </a:p>
        </p:txBody>
      </p:sp>
      <p:sp>
        <p:nvSpPr>
          <p:cNvPr id="63" name="Text 12">
            <a:extLst>
              <a:ext uri="{FF2B5EF4-FFF2-40B4-BE49-F238E27FC236}">
                <a16:creationId xmlns:a16="http://schemas.microsoft.com/office/drawing/2014/main" id="{59C0FA9F-25EC-BD10-0C53-BF21851978EE}"/>
              </a:ext>
            </a:extLst>
          </p:cNvPr>
          <p:cNvSpPr/>
          <p:nvPr/>
        </p:nvSpPr>
        <p:spPr>
          <a:xfrm>
            <a:off x="4790729" y="1862837"/>
            <a:ext cx="1804988" cy="142875"/>
          </a:xfrm>
          <a:prstGeom prst="rect">
            <a:avLst/>
          </a:prstGeom>
          <a:ln/>
        </p:spPr>
        <p:txBody>
          <a:bodyPr wrap="square" lIns="0" tIns="0" rIns="0" bIns="0" rtlCol="0" anchor="t"/>
          <a:lstStyle/>
          <a:p>
            <a:pPr marL="0" indent="0" algn="l">
              <a:lnSpc>
                <a:spcPts val="1134"/>
              </a:lnSpc>
              <a:buNone/>
            </a:pPr>
            <a:r>
              <a:rPr lang="en-US" sz="800" dirty="0">
                <a:solidFill>
                  <a:srgbClr val="475569"/>
                </a:solidFill>
                <a:latin typeface="Inter" pitchFamily="34" charset="0"/>
                <a:ea typeface="Inter" pitchFamily="34" charset="-122"/>
                <a:cs typeface="Inter" pitchFamily="34" charset="-120"/>
              </a:rPr>
              <a:t>Internal system details</a:t>
            </a:r>
            <a:endParaRPr lang="en-US" sz="800" dirty="0"/>
          </a:p>
        </p:txBody>
      </p:sp>
      <p:sp>
        <p:nvSpPr>
          <p:cNvPr id="64" name="Text 13">
            <a:extLst>
              <a:ext uri="{FF2B5EF4-FFF2-40B4-BE49-F238E27FC236}">
                <a16:creationId xmlns:a16="http://schemas.microsoft.com/office/drawing/2014/main" id="{A64DB1EC-1029-53D9-7082-0C4176CF94CB}"/>
              </a:ext>
            </a:extLst>
          </p:cNvPr>
          <p:cNvSpPr/>
          <p:nvPr/>
        </p:nvSpPr>
        <p:spPr>
          <a:xfrm>
            <a:off x="6635342" y="1862837"/>
            <a:ext cx="1804988" cy="142875"/>
          </a:xfrm>
          <a:prstGeom prst="rect">
            <a:avLst/>
          </a:prstGeom>
          <a:ln/>
        </p:spPr>
        <p:txBody>
          <a:bodyPr wrap="square" lIns="0" tIns="0" rIns="0" bIns="0" rtlCol="0" anchor="t"/>
          <a:lstStyle/>
          <a:p>
            <a:pPr marL="0" indent="0" algn="l">
              <a:lnSpc>
                <a:spcPts val="1134"/>
              </a:lnSpc>
              <a:buNone/>
            </a:pPr>
            <a:r>
              <a:rPr lang="en-US" sz="800" dirty="0">
                <a:solidFill>
                  <a:srgbClr val="475569"/>
                </a:solidFill>
                <a:latin typeface="Inter" pitchFamily="34" charset="0"/>
                <a:ea typeface="Inter" pitchFamily="34" charset="-122"/>
                <a:cs typeface="Inter" pitchFamily="34" charset="-120"/>
              </a:rPr>
              <a:t>Personal identifiers</a:t>
            </a:r>
            <a:endParaRPr lang="en-US" sz="800" dirty="0"/>
          </a:p>
        </p:txBody>
      </p:sp>
      <p:sp>
        <p:nvSpPr>
          <p:cNvPr id="65" name="Shape 14">
            <a:extLst>
              <a:ext uri="{FF2B5EF4-FFF2-40B4-BE49-F238E27FC236}">
                <a16:creationId xmlns:a16="http://schemas.microsoft.com/office/drawing/2014/main" id="{D3D646EE-610C-F12F-A7C3-2FF9A4F33071}"/>
              </a:ext>
            </a:extLst>
          </p:cNvPr>
          <p:cNvSpPr/>
          <p:nvPr/>
        </p:nvSpPr>
        <p:spPr>
          <a:xfrm>
            <a:off x="4623931" y="2600976"/>
            <a:ext cx="4024312" cy="647700"/>
          </a:xfrm>
          <a:prstGeom prst="roundRect">
            <a:avLst>
              <a:gd name="adj" fmla="val 15945"/>
            </a:avLst>
          </a:prstGeom>
          <a:solidFill>
            <a:srgbClr val="FFFFFF"/>
          </a:solidFill>
          <a:ln w="4763">
            <a:solidFill>
              <a:srgbClr val="E2E8F0"/>
            </a:solidFill>
            <a:prstDash val="solid"/>
          </a:ln>
          <a:effectLst>
            <a:outerShdw blurRad="38100" dist="9525" dir="5400000" algn="bl" rotWithShape="0">
              <a:srgbClr val="1E3A5F">
                <a:alpha val="5000"/>
              </a:srgbClr>
            </a:outerShdw>
          </a:effectLst>
        </p:spPr>
        <p:txBody>
          <a:bodyPr/>
          <a:lstStyle/>
          <a:p>
            <a:endParaRPr lang="en-IN" sz="2000"/>
          </a:p>
        </p:txBody>
      </p:sp>
      <p:sp>
        <p:nvSpPr>
          <p:cNvPr id="66" name="Text 15">
            <a:extLst>
              <a:ext uri="{FF2B5EF4-FFF2-40B4-BE49-F238E27FC236}">
                <a16:creationId xmlns:a16="http://schemas.microsoft.com/office/drawing/2014/main" id="{3DD490EA-B939-CAF5-FA09-B0BDA0F6BEEC}"/>
              </a:ext>
            </a:extLst>
          </p:cNvPr>
          <p:cNvSpPr/>
          <p:nvPr/>
        </p:nvSpPr>
        <p:spPr>
          <a:xfrm>
            <a:off x="4805971" y="2733553"/>
            <a:ext cx="223838" cy="190500"/>
          </a:xfrm>
          <a:prstGeom prst="roundRect">
            <a:avLst>
              <a:gd name="adj" fmla="val 23040"/>
            </a:avLst>
          </a:prstGeom>
          <a:solidFill>
            <a:srgbClr val="0D9488"/>
          </a:solidFill>
          <a:ln/>
        </p:spPr>
        <p:txBody>
          <a:bodyPr wrap="square" lIns="0" tIns="0" rIns="0" bIns="0" rtlCol="0" anchor="ctr"/>
          <a:lstStyle/>
          <a:p>
            <a:pPr marL="0" indent="0" algn="l">
              <a:lnSpc>
                <a:spcPts val="1080"/>
              </a:lnSpc>
              <a:buNone/>
            </a:pPr>
            <a:r>
              <a:rPr lang="en-US" sz="800" b="1" dirty="0">
                <a:solidFill>
                  <a:srgbClr val="FFFFFF"/>
                </a:solidFill>
                <a:latin typeface="Inter" pitchFamily="34" charset="0"/>
                <a:ea typeface="Inter" pitchFamily="34" charset="-122"/>
                <a:cs typeface="Inter" pitchFamily="34" charset="-120"/>
              </a:rPr>
              <a:t>1</a:t>
            </a:r>
            <a:endParaRPr lang="en-US" sz="800" dirty="0"/>
          </a:p>
        </p:txBody>
      </p:sp>
      <p:sp>
        <p:nvSpPr>
          <p:cNvPr id="67" name="Text 16">
            <a:extLst>
              <a:ext uri="{FF2B5EF4-FFF2-40B4-BE49-F238E27FC236}">
                <a16:creationId xmlns:a16="http://schemas.microsoft.com/office/drawing/2014/main" id="{08ADEC09-DB9B-BAF8-6C82-A59608A84B10}"/>
              </a:ext>
            </a:extLst>
          </p:cNvPr>
          <p:cNvSpPr/>
          <p:nvPr/>
        </p:nvSpPr>
        <p:spPr>
          <a:xfrm>
            <a:off x="5170317" y="2708541"/>
            <a:ext cx="3290887" cy="142875"/>
          </a:xfrm>
          <a:prstGeom prst="rect">
            <a:avLst/>
          </a:prstGeom>
          <a:ln/>
        </p:spPr>
        <p:txBody>
          <a:bodyPr wrap="square" lIns="0" tIns="0" rIns="0" bIns="0" rtlCol="0" anchor="t"/>
          <a:lstStyle/>
          <a:p>
            <a:pPr marL="0" indent="0" algn="l">
              <a:lnSpc>
                <a:spcPts val="1134"/>
              </a:lnSpc>
              <a:spcAft>
                <a:spcPts val="122"/>
              </a:spcAft>
              <a:buNone/>
            </a:pPr>
            <a:r>
              <a:rPr lang="en-US" sz="800" b="1" dirty="0">
                <a:solidFill>
                  <a:srgbClr val="1E3A5F"/>
                </a:solidFill>
                <a:latin typeface="Inter" pitchFamily="34" charset="0"/>
                <a:ea typeface="Inter" pitchFamily="34" charset="-122"/>
                <a:cs typeface="Inter" pitchFamily="34" charset="-120"/>
              </a:rPr>
              <a:t>Preprocessing Stage</a:t>
            </a:r>
            <a:endParaRPr lang="en-US" sz="800" dirty="0"/>
          </a:p>
        </p:txBody>
      </p:sp>
      <p:sp>
        <p:nvSpPr>
          <p:cNvPr id="68" name="Text 17">
            <a:extLst>
              <a:ext uri="{FF2B5EF4-FFF2-40B4-BE49-F238E27FC236}">
                <a16:creationId xmlns:a16="http://schemas.microsoft.com/office/drawing/2014/main" id="{A89027BF-C1E5-5AB6-F40B-72B5758B3A20}"/>
              </a:ext>
            </a:extLst>
          </p:cNvPr>
          <p:cNvSpPr/>
          <p:nvPr/>
        </p:nvSpPr>
        <p:spPr>
          <a:xfrm>
            <a:off x="5170317" y="2866411"/>
            <a:ext cx="3290887" cy="276225"/>
          </a:xfrm>
          <a:prstGeom prst="rect">
            <a:avLst/>
          </a:prstGeom>
          <a:ln/>
        </p:spPr>
        <p:txBody>
          <a:bodyPr wrap="square" lIns="0" tIns="0" rIns="0" bIns="0" rtlCol="0" anchor="t"/>
          <a:lstStyle/>
          <a:p>
            <a:pPr marL="0" indent="0" algn="l">
              <a:lnSpc>
                <a:spcPts val="1080"/>
              </a:lnSpc>
              <a:buNone/>
            </a:pPr>
            <a:r>
              <a:rPr lang="en-US" sz="800" dirty="0">
                <a:solidFill>
                  <a:srgbClr val="64748B"/>
                </a:solidFill>
                <a:latin typeface="Inter" pitchFamily="34" charset="0"/>
                <a:ea typeface="Inter" pitchFamily="34" charset="-122"/>
                <a:cs typeface="Inter" pitchFamily="34" charset="-120"/>
              </a:rPr>
              <a:t>Replace sensitive data with placeholders which prevents leakage during embedding</a:t>
            </a:r>
            <a:endParaRPr lang="en-US" sz="800" dirty="0"/>
          </a:p>
        </p:txBody>
      </p:sp>
      <p:sp>
        <p:nvSpPr>
          <p:cNvPr id="69" name="Shape 18">
            <a:extLst>
              <a:ext uri="{FF2B5EF4-FFF2-40B4-BE49-F238E27FC236}">
                <a16:creationId xmlns:a16="http://schemas.microsoft.com/office/drawing/2014/main" id="{50238FC3-CEC3-08E4-1C69-5FB376059E28}"/>
              </a:ext>
            </a:extLst>
          </p:cNvPr>
          <p:cNvSpPr/>
          <p:nvPr/>
        </p:nvSpPr>
        <p:spPr>
          <a:xfrm>
            <a:off x="4623931" y="3312039"/>
            <a:ext cx="4024312" cy="509587"/>
          </a:xfrm>
          <a:prstGeom prst="roundRect">
            <a:avLst>
              <a:gd name="adj" fmla="val 25759"/>
            </a:avLst>
          </a:prstGeom>
          <a:solidFill>
            <a:srgbClr val="FFFFFF"/>
          </a:solidFill>
          <a:ln w="4763">
            <a:solidFill>
              <a:srgbClr val="E2E8F0"/>
            </a:solidFill>
            <a:prstDash val="solid"/>
          </a:ln>
          <a:effectLst>
            <a:outerShdw blurRad="38100" dist="9525" dir="5400000" algn="bl" rotWithShape="0">
              <a:srgbClr val="1E3A5F">
                <a:alpha val="5000"/>
              </a:srgbClr>
            </a:outerShdw>
          </a:effectLst>
        </p:spPr>
        <p:txBody>
          <a:bodyPr/>
          <a:lstStyle/>
          <a:p>
            <a:endParaRPr lang="en-IN" sz="2000"/>
          </a:p>
        </p:txBody>
      </p:sp>
      <p:sp>
        <p:nvSpPr>
          <p:cNvPr id="70" name="Text 19">
            <a:extLst>
              <a:ext uri="{FF2B5EF4-FFF2-40B4-BE49-F238E27FC236}">
                <a16:creationId xmlns:a16="http://schemas.microsoft.com/office/drawing/2014/main" id="{134576E6-C1D8-D171-8AF4-92CD093C35F4}"/>
              </a:ext>
            </a:extLst>
          </p:cNvPr>
          <p:cNvSpPr/>
          <p:nvPr/>
        </p:nvSpPr>
        <p:spPr>
          <a:xfrm>
            <a:off x="4813129" y="3417558"/>
            <a:ext cx="238125" cy="190500"/>
          </a:xfrm>
          <a:prstGeom prst="roundRect">
            <a:avLst>
              <a:gd name="adj" fmla="val 23040"/>
            </a:avLst>
          </a:prstGeom>
          <a:solidFill>
            <a:srgbClr val="0D9488"/>
          </a:solidFill>
          <a:ln/>
        </p:spPr>
        <p:txBody>
          <a:bodyPr wrap="square" lIns="0" tIns="0" rIns="0" bIns="0" rtlCol="0" anchor="ctr"/>
          <a:lstStyle/>
          <a:p>
            <a:pPr marL="0" indent="0" algn="l">
              <a:lnSpc>
                <a:spcPts val="1080"/>
              </a:lnSpc>
              <a:buNone/>
            </a:pPr>
            <a:r>
              <a:rPr lang="en-US" sz="800" b="1" dirty="0">
                <a:solidFill>
                  <a:srgbClr val="FFFFFF"/>
                </a:solidFill>
                <a:latin typeface="Inter" pitchFamily="34" charset="0"/>
                <a:ea typeface="Inter" pitchFamily="34" charset="-122"/>
                <a:cs typeface="Inter" pitchFamily="34" charset="-120"/>
              </a:rPr>
              <a:t>2</a:t>
            </a:r>
            <a:endParaRPr lang="en-US" sz="800" dirty="0"/>
          </a:p>
        </p:txBody>
      </p:sp>
      <p:sp>
        <p:nvSpPr>
          <p:cNvPr id="71" name="Text 20">
            <a:extLst>
              <a:ext uri="{FF2B5EF4-FFF2-40B4-BE49-F238E27FC236}">
                <a16:creationId xmlns:a16="http://schemas.microsoft.com/office/drawing/2014/main" id="{BA1548B9-EDE2-8352-D305-5D2E5E74B03B}"/>
              </a:ext>
            </a:extLst>
          </p:cNvPr>
          <p:cNvSpPr/>
          <p:nvPr/>
        </p:nvSpPr>
        <p:spPr>
          <a:xfrm>
            <a:off x="5190111" y="3419121"/>
            <a:ext cx="3038475" cy="142875"/>
          </a:xfrm>
          <a:prstGeom prst="rect">
            <a:avLst/>
          </a:prstGeom>
          <a:ln/>
        </p:spPr>
        <p:txBody>
          <a:bodyPr wrap="square" lIns="0" tIns="0" rIns="0" bIns="0" rtlCol="0" anchor="t"/>
          <a:lstStyle/>
          <a:p>
            <a:pPr marL="0" indent="0" algn="l">
              <a:lnSpc>
                <a:spcPts val="1134"/>
              </a:lnSpc>
              <a:spcAft>
                <a:spcPts val="122"/>
              </a:spcAft>
              <a:buNone/>
            </a:pPr>
            <a:r>
              <a:rPr lang="en-US" sz="800" b="1" dirty="0">
                <a:solidFill>
                  <a:srgbClr val="1E3A5F"/>
                </a:solidFill>
                <a:latin typeface="Inter" pitchFamily="34" charset="0"/>
                <a:ea typeface="Inter" pitchFamily="34" charset="-122"/>
                <a:cs typeface="Inter" pitchFamily="34" charset="-120"/>
              </a:rPr>
              <a:t>Guardrail Layer</a:t>
            </a:r>
            <a:endParaRPr lang="en-US" sz="800" dirty="0"/>
          </a:p>
        </p:txBody>
      </p:sp>
      <p:sp>
        <p:nvSpPr>
          <p:cNvPr id="72" name="Text 21">
            <a:extLst>
              <a:ext uri="{FF2B5EF4-FFF2-40B4-BE49-F238E27FC236}">
                <a16:creationId xmlns:a16="http://schemas.microsoft.com/office/drawing/2014/main" id="{37732815-CE03-0C6C-800C-F76A4D9C6CAF}"/>
              </a:ext>
            </a:extLst>
          </p:cNvPr>
          <p:cNvSpPr/>
          <p:nvPr/>
        </p:nvSpPr>
        <p:spPr>
          <a:xfrm>
            <a:off x="5190111" y="3577474"/>
            <a:ext cx="3038475" cy="138113"/>
          </a:xfrm>
          <a:prstGeom prst="rect">
            <a:avLst/>
          </a:prstGeom>
          <a:ln/>
        </p:spPr>
        <p:txBody>
          <a:bodyPr wrap="square" lIns="0" tIns="0" rIns="0" bIns="0" rtlCol="0" anchor="t"/>
          <a:lstStyle/>
          <a:p>
            <a:pPr marL="0" indent="0" algn="l">
              <a:lnSpc>
                <a:spcPts val="1080"/>
              </a:lnSpc>
              <a:buNone/>
            </a:pPr>
            <a:r>
              <a:rPr lang="en-US" sz="800" dirty="0">
                <a:solidFill>
                  <a:srgbClr val="64748B"/>
                </a:solidFill>
                <a:latin typeface="Inter" pitchFamily="34" charset="0"/>
                <a:ea typeface="Inter" pitchFamily="34" charset="-122"/>
                <a:cs typeface="Inter" pitchFamily="34" charset="-120"/>
              </a:rPr>
              <a:t>Redacts sensitive information in outputs this prevents exposure to users</a:t>
            </a:r>
            <a:endParaRPr lang="en-US" sz="800" dirty="0"/>
          </a:p>
        </p:txBody>
      </p:sp>
      <p:sp>
        <p:nvSpPr>
          <p:cNvPr id="73" name="Shape 22">
            <a:extLst>
              <a:ext uri="{FF2B5EF4-FFF2-40B4-BE49-F238E27FC236}">
                <a16:creationId xmlns:a16="http://schemas.microsoft.com/office/drawing/2014/main" id="{E5E4F9C9-5FCB-A957-1D61-925BB1988A10}"/>
              </a:ext>
            </a:extLst>
          </p:cNvPr>
          <p:cNvSpPr/>
          <p:nvPr/>
        </p:nvSpPr>
        <p:spPr>
          <a:xfrm>
            <a:off x="4623931" y="3885474"/>
            <a:ext cx="4024312" cy="509587"/>
          </a:xfrm>
          <a:prstGeom prst="roundRect">
            <a:avLst>
              <a:gd name="adj" fmla="val 25759"/>
            </a:avLst>
          </a:prstGeom>
          <a:solidFill>
            <a:srgbClr val="FFFFFF"/>
          </a:solidFill>
          <a:ln w="4763">
            <a:solidFill>
              <a:srgbClr val="E2E8F0"/>
            </a:solidFill>
            <a:prstDash val="solid"/>
          </a:ln>
          <a:effectLst>
            <a:outerShdw blurRad="38100" dist="9525" dir="5400000" algn="bl" rotWithShape="0">
              <a:srgbClr val="1E3A5F">
                <a:alpha val="5000"/>
              </a:srgbClr>
            </a:outerShdw>
          </a:effectLst>
        </p:spPr>
        <p:txBody>
          <a:bodyPr/>
          <a:lstStyle/>
          <a:p>
            <a:endParaRPr lang="en-IN" sz="2000"/>
          </a:p>
        </p:txBody>
      </p:sp>
      <p:sp>
        <p:nvSpPr>
          <p:cNvPr id="74" name="Text 23">
            <a:extLst>
              <a:ext uri="{FF2B5EF4-FFF2-40B4-BE49-F238E27FC236}">
                <a16:creationId xmlns:a16="http://schemas.microsoft.com/office/drawing/2014/main" id="{85681CDA-B694-72BF-B715-4EFDAD43289E}"/>
              </a:ext>
            </a:extLst>
          </p:cNvPr>
          <p:cNvSpPr/>
          <p:nvPr/>
        </p:nvSpPr>
        <p:spPr>
          <a:xfrm>
            <a:off x="4811455" y="3990993"/>
            <a:ext cx="242888" cy="190500"/>
          </a:xfrm>
          <a:prstGeom prst="roundRect">
            <a:avLst>
              <a:gd name="adj" fmla="val 23040"/>
            </a:avLst>
          </a:prstGeom>
          <a:solidFill>
            <a:srgbClr val="0D9488"/>
          </a:solidFill>
          <a:ln/>
        </p:spPr>
        <p:txBody>
          <a:bodyPr wrap="square" lIns="0" tIns="0" rIns="0" bIns="0" rtlCol="0" anchor="ctr"/>
          <a:lstStyle/>
          <a:p>
            <a:pPr marL="0" indent="0" algn="l">
              <a:lnSpc>
                <a:spcPts val="1080"/>
              </a:lnSpc>
              <a:buNone/>
            </a:pPr>
            <a:r>
              <a:rPr lang="en-US" sz="800" b="1" dirty="0">
                <a:solidFill>
                  <a:srgbClr val="FFFFFF"/>
                </a:solidFill>
                <a:latin typeface="Inter" pitchFamily="34" charset="0"/>
                <a:ea typeface="Inter" pitchFamily="34" charset="-122"/>
                <a:cs typeface="Inter" pitchFamily="34" charset="-120"/>
              </a:rPr>
              <a:t>3</a:t>
            </a:r>
            <a:endParaRPr lang="en-US" sz="800" dirty="0"/>
          </a:p>
        </p:txBody>
      </p:sp>
      <p:sp>
        <p:nvSpPr>
          <p:cNvPr id="75" name="Text 24">
            <a:extLst>
              <a:ext uri="{FF2B5EF4-FFF2-40B4-BE49-F238E27FC236}">
                <a16:creationId xmlns:a16="http://schemas.microsoft.com/office/drawing/2014/main" id="{8A0FD0F6-2590-3FA0-9211-604A36EDD9E4}"/>
              </a:ext>
            </a:extLst>
          </p:cNvPr>
          <p:cNvSpPr/>
          <p:nvPr/>
        </p:nvSpPr>
        <p:spPr>
          <a:xfrm>
            <a:off x="5190706" y="3992556"/>
            <a:ext cx="2700338" cy="142875"/>
          </a:xfrm>
          <a:prstGeom prst="rect">
            <a:avLst/>
          </a:prstGeom>
          <a:ln/>
        </p:spPr>
        <p:txBody>
          <a:bodyPr wrap="square" lIns="0" tIns="0" rIns="0" bIns="0" rtlCol="0" anchor="t"/>
          <a:lstStyle/>
          <a:p>
            <a:pPr marL="0" indent="0" algn="l">
              <a:lnSpc>
                <a:spcPts val="1134"/>
              </a:lnSpc>
              <a:spcAft>
                <a:spcPts val="122"/>
              </a:spcAft>
              <a:buNone/>
            </a:pPr>
            <a:r>
              <a:rPr lang="en-US" sz="800" b="1" dirty="0">
                <a:solidFill>
                  <a:srgbClr val="1E3A5F"/>
                </a:solidFill>
                <a:latin typeface="Inter" pitchFamily="34" charset="0"/>
                <a:ea typeface="Inter" pitchFamily="34" charset="-122"/>
                <a:cs typeface="Inter" pitchFamily="34" charset="-120"/>
              </a:rPr>
              <a:t>Deployment Strategy</a:t>
            </a:r>
            <a:endParaRPr lang="en-US" sz="800" dirty="0"/>
          </a:p>
        </p:txBody>
      </p:sp>
      <p:sp>
        <p:nvSpPr>
          <p:cNvPr id="76" name="Text 25">
            <a:extLst>
              <a:ext uri="{FF2B5EF4-FFF2-40B4-BE49-F238E27FC236}">
                <a16:creationId xmlns:a16="http://schemas.microsoft.com/office/drawing/2014/main" id="{13DB8E6A-D3F7-3517-9A4C-DAA5D3A46508}"/>
              </a:ext>
            </a:extLst>
          </p:cNvPr>
          <p:cNvSpPr/>
          <p:nvPr/>
        </p:nvSpPr>
        <p:spPr>
          <a:xfrm>
            <a:off x="5190706" y="4150909"/>
            <a:ext cx="2700338" cy="138113"/>
          </a:xfrm>
          <a:prstGeom prst="rect">
            <a:avLst/>
          </a:prstGeom>
          <a:ln/>
        </p:spPr>
        <p:txBody>
          <a:bodyPr wrap="square" lIns="0" tIns="0" rIns="0" bIns="0" rtlCol="0" anchor="t"/>
          <a:lstStyle/>
          <a:p>
            <a:pPr marL="0" indent="0" algn="l">
              <a:lnSpc>
                <a:spcPts val="1080"/>
              </a:lnSpc>
              <a:buNone/>
            </a:pPr>
            <a:r>
              <a:rPr lang="en-US" sz="800" dirty="0">
                <a:solidFill>
                  <a:srgbClr val="64748B"/>
                </a:solidFill>
                <a:latin typeface="Inter" pitchFamily="34" charset="0"/>
                <a:ea typeface="Inter" pitchFamily="34" charset="-122"/>
                <a:cs typeface="Inter" pitchFamily="34" charset="-120"/>
              </a:rPr>
              <a:t>Cloud (OpenAI + Pinecone) or fully local (Ollama + ChromaDB)</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27CE5-5CFD-7AF0-22D3-979F1EE01A1A}"/>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C625B17E-D79B-EB6F-26DD-4F5882232419}"/>
              </a:ext>
            </a:extLst>
          </p:cNvPr>
          <p:cNvSpPr/>
          <p:nvPr/>
        </p:nvSpPr>
        <p:spPr>
          <a:xfrm>
            <a:off x="366713" y="205643"/>
            <a:ext cx="8410575" cy="290513"/>
          </a:xfrm>
          <a:prstGeom prst="rect">
            <a:avLst/>
          </a:prstGeom>
          <a:ln/>
        </p:spPr>
        <p:txBody>
          <a:bodyPr/>
          <a:lstStyle/>
          <a:p>
            <a:endParaRPr lang="en-IN"/>
          </a:p>
        </p:txBody>
      </p:sp>
      <p:sp>
        <p:nvSpPr>
          <p:cNvPr id="4" name="Shape 2">
            <a:extLst>
              <a:ext uri="{FF2B5EF4-FFF2-40B4-BE49-F238E27FC236}">
                <a16:creationId xmlns:a16="http://schemas.microsoft.com/office/drawing/2014/main" id="{167B1EE0-7ACB-3526-AFB5-36A324DE3458}"/>
              </a:ext>
            </a:extLst>
          </p:cNvPr>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a:extLst>
              <a:ext uri="{FF2B5EF4-FFF2-40B4-BE49-F238E27FC236}">
                <a16:creationId xmlns:a16="http://schemas.microsoft.com/office/drawing/2014/main" id="{60C44895-4E74-CC5C-EEB2-DC09B8616AE4}"/>
              </a:ext>
            </a:extLst>
          </p:cNvPr>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a:extLst>
              <a:ext uri="{FF2B5EF4-FFF2-40B4-BE49-F238E27FC236}">
                <a16:creationId xmlns:a16="http://schemas.microsoft.com/office/drawing/2014/main" id="{19B17E1D-CA94-BE03-7A86-593DA9C4073E}"/>
              </a:ext>
            </a:extLst>
          </p:cNvPr>
          <p:cNvSpPr/>
          <p:nvPr/>
        </p:nvSpPr>
        <p:spPr>
          <a:xfrm>
            <a:off x="7025878" y="228042"/>
            <a:ext cx="976312"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SOLUTION OVERVIEW</a:t>
            </a:r>
            <a:endParaRPr lang="en-US" sz="700" dirty="0"/>
          </a:p>
        </p:txBody>
      </p:sp>
      <p:sp>
        <p:nvSpPr>
          <p:cNvPr id="7" name="Text 5">
            <a:extLst>
              <a:ext uri="{FF2B5EF4-FFF2-40B4-BE49-F238E27FC236}">
                <a16:creationId xmlns:a16="http://schemas.microsoft.com/office/drawing/2014/main" id="{52413AB5-F717-6BCA-03EA-8477E2FFE7A3}"/>
              </a:ext>
            </a:extLst>
          </p:cNvPr>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a:extLst>
              <a:ext uri="{FF2B5EF4-FFF2-40B4-BE49-F238E27FC236}">
                <a16:creationId xmlns:a16="http://schemas.microsoft.com/office/drawing/2014/main" id="{5ADE4FD1-612D-FAD9-39DB-BBC4858EC5D9}"/>
              </a:ext>
            </a:extLst>
          </p:cNvPr>
          <p:cNvSpPr/>
          <p:nvPr/>
        </p:nvSpPr>
        <p:spPr>
          <a:xfrm>
            <a:off x="368871" y="604727"/>
            <a:ext cx="8410575" cy="300037"/>
          </a:xfrm>
          <a:prstGeom prst="rect">
            <a:avLst/>
          </a:prstGeom>
          <a:ln/>
        </p:spPr>
        <p:txBody>
          <a:bodyPr wrap="square" lIns="0" tIns="0" rIns="0" bIns="0" rtlCol="0" anchor="t"/>
          <a:lstStyle/>
          <a:p>
            <a:pPr marL="0" indent="0" algn="l">
              <a:lnSpc>
                <a:spcPts val="2376"/>
              </a:lnSpc>
              <a:spcAft>
                <a:spcPts val="203"/>
              </a:spcAft>
              <a:buNone/>
            </a:pPr>
            <a:r>
              <a:rPr lang="en-US" sz="2100" b="1" dirty="0">
                <a:solidFill>
                  <a:srgbClr val="1E3A5F"/>
                </a:solidFill>
                <a:latin typeface="Inter" pitchFamily="34" charset="0"/>
                <a:ea typeface="Inter" pitchFamily="34" charset="-122"/>
                <a:cs typeface="Inter" pitchFamily="34" charset="-120"/>
              </a:rPr>
              <a:t>Solution Overview &amp; System Architecture</a:t>
            </a:r>
            <a:endParaRPr lang="en-US" sz="2100" dirty="0"/>
          </a:p>
        </p:txBody>
      </p:sp>
      <p:sp>
        <p:nvSpPr>
          <p:cNvPr id="32" name="Shape 30">
            <a:extLst>
              <a:ext uri="{FF2B5EF4-FFF2-40B4-BE49-F238E27FC236}">
                <a16:creationId xmlns:a16="http://schemas.microsoft.com/office/drawing/2014/main" id="{C6218C24-8F2C-513B-E5AE-24019033C838}"/>
              </a:ext>
            </a:extLst>
          </p:cNvPr>
          <p:cNvSpPr/>
          <p:nvPr/>
        </p:nvSpPr>
        <p:spPr>
          <a:xfrm>
            <a:off x="366713" y="4705610"/>
            <a:ext cx="8410575" cy="233362"/>
          </a:xfrm>
          <a:prstGeom prst="rect">
            <a:avLst/>
          </a:prstGeom>
          <a:ln/>
        </p:spPr>
        <p:txBody>
          <a:bodyPr/>
          <a:lstStyle/>
          <a:p>
            <a:endParaRPr lang="en-IN"/>
          </a:p>
        </p:txBody>
      </p:sp>
      <p:sp>
        <p:nvSpPr>
          <p:cNvPr id="33" name="Text 31">
            <a:extLst>
              <a:ext uri="{FF2B5EF4-FFF2-40B4-BE49-F238E27FC236}">
                <a16:creationId xmlns:a16="http://schemas.microsoft.com/office/drawing/2014/main" id="{4707D5C9-1BAB-24F2-4C2B-1F25FFE3780A}"/>
              </a:ext>
            </a:extLst>
          </p:cNvPr>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34" name="Text 32">
            <a:extLst>
              <a:ext uri="{FF2B5EF4-FFF2-40B4-BE49-F238E27FC236}">
                <a16:creationId xmlns:a16="http://schemas.microsoft.com/office/drawing/2014/main" id="{D318867C-B320-9F6D-F2A7-D3124998C102}"/>
              </a:ext>
            </a:extLst>
          </p:cNvPr>
          <p:cNvSpPr/>
          <p:nvPr/>
        </p:nvSpPr>
        <p:spPr>
          <a:xfrm>
            <a:off x="8279383" y="4814181"/>
            <a:ext cx="500063"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4 of 24</a:t>
            </a:r>
            <a:endParaRPr lang="en-US" sz="600" dirty="0"/>
          </a:p>
        </p:txBody>
      </p:sp>
      <p:pic>
        <p:nvPicPr>
          <p:cNvPr id="35" name="Image 0" descr="preencoded.png">
            <a:extLst>
              <a:ext uri="{FF2B5EF4-FFF2-40B4-BE49-F238E27FC236}">
                <a16:creationId xmlns:a16="http://schemas.microsoft.com/office/drawing/2014/main" id="{371AAD1E-B8B5-BF6A-5380-28B68367F3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36" name="Image 1" descr="preencoded.png">
            <a:extLst>
              <a:ext uri="{FF2B5EF4-FFF2-40B4-BE49-F238E27FC236}">
                <a16:creationId xmlns:a16="http://schemas.microsoft.com/office/drawing/2014/main" id="{0DF848D6-BD7C-5E1D-4A35-1D19DA2B86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pic>
        <p:nvPicPr>
          <p:cNvPr id="37" name="Picture 36">
            <a:extLst>
              <a:ext uri="{FF2B5EF4-FFF2-40B4-BE49-F238E27FC236}">
                <a16:creationId xmlns:a16="http://schemas.microsoft.com/office/drawing/2014/main" id="{77CFCD0D-1E20-0B43-E325-1AEE2F263D23}"/>
              </a:ext>
            </a:extLst>
          </p:cNvPr>
          <p:cNvPicPr>
            <a:picLocks noChangeAspect="1"/>
          </p:cNvPicPr>
          <p:nvPr/>
        </p:nvPicPr>
        <p:blipFill>
          <a:blip r:embed="rId5"/>
          <a:stretch>
            <a:fillRect/>
          </a:stretch>
        </p:blipFill>
        <p:spPr>
          <a:xfrm>
            <a:off x="255732" y="1092406"/>
            <a:ext cx="4229868" cy="3446367"/>
          </a:xfrm>
          <a:prstGeom prst="rect">
            <a:avLst/>
          </a:prstGeom>
        </p:spPr>
      </p:pic>
      <p:sp>
        <p:nvSpPr>
          <p:cNvPr id="44" name="Shape 33">
            <a:extLst>
              <a:ext uri="{FF2B5EF4-FFF2-40B4-BE49-F238E27FC236}">
                <a16:creationId xmlns:a16="http://schemas.microsoft.com/office/drawing/2014/main" id="{EF715EDC-453E-12D2-374F-2459D22A0C98}"/>
              </a:ext>
            </a:extLst>
          </p:cNvPr>
          <p:cNvSpPr/>
          <p:nvPr/>
        </p:nvSpPr>
        <p:spPr>
          <a:xfrm>
            <a:off x="4706112" y="1101852"/>
            <a:ext cx="0" cy="3436921"/>
          </a:xfrm>
          <a:prstGeom prst="line">
            <a:avLst/>
          </a:prstGeom>
          <a:noFill/>
          <a:ln w="19050">
            <a:solidFill>
              <a:srgbClr val="E2E8F0"/>
            </a:solidFill>
            <a:prstDash val="dash"/>
          </a:ln>
        </p:spPr>
        <p:txBody>
          <a:bodyPr/>
          <a:lstStyle/>
          <a:p>
            <a:endParaRPr lang="en-IN"/>
          </a:p>
        </p:txBody>
      </p:sp>
      <p:sp>
        <p:nvSpPr>
          <p:cNvPr id="45" name="Text 21">
            <a:extLst>
              <a:ext uri="{FF2B5EF4-FFF2-40B4-BE49-F238E27FC236}">
                <a16:creationId xmlns:a16="http://schemas.microsoft.com/office/drawing/2014/main" id="{49FD9030-2E00-F21E-CA39-36333D46C6ED}"/>
              </a:ext>
            </a:extLst>
          </p:cNvPr>
          <p:cNvSpPr/>
          <p:nvPr/>
        </p:nvSpPr>
        <p:spPr>
          <a:xfrm>
            <a:off x="4892040" y="960120"/>
            <a:ext cx="3931920" cy="274320"/>
          </a:xfrm>
          <a:prstGeom prst="rect">
            <a:avLst/>
          </a:prstGeom>
          <a:noFill/>
          <a:ln/>
        </p:spPr>
        <p:txBody>
          <a:bodyPr wrap="square" lIns="0" tIns="0" rIns="0" bIns="0" rtlCol="0" anchor="ctr"/>
          <a:lstStyle/>
          <a:p>
            <a:pPr marL="0" indent="0" algn="l">
              <a:buNone/>
            </a:pPr>
            <a:r>
              <a:rPr lang="en-US" sz="1200" b="1" dirty="0">
                <a:solidFill>
                  <a:srgbClr val="0F2044"/>
                </a:solidFill>
                <a:latin typeface="Calibri" pitchFamily="34" charset="0"/>
                <a:ea typeface="Calibri" pitchFamily="34" charset="-122"/>
                <a:cs typeface="Calibri" pitchFamily="34" charset="-120"/>
              </a:rPr>
              <a:t>🔒  LOCAL STACK (Privacy-First)</a:t>
            </a:r>
            <a:endParaRPr lang="en-US" sz="1200" dirty="0"/>
          </a:p>
        </p:txBody>
      </p:sp>
      <p:sp>
        <p:nvSpPr>
          <p:cNvPr id="46" name="Shape 22">
            <a:extLst>
              <a:ext uri="{FF2B5EF4-FFF2-40B4-BE49-F238E27FC236}">
                <a16:creationId xmlns:a16="http://schemas.microsoft.com/office/drawing/2014/main" id="{95EEEBDF-90D9-3B1D-F38E-C99337A3A6B0}"/>
              </a:ext>
            </a:extLst>
          </p:cNvPr>
          <p:cNvSpPr/>
          <p:nvPr/>
        </p:nvSpPr>
        <p:spPr>
          <a:xfrm>
            <a:off x="4892040" y="1298448"/>
            <a:ext cx="3931920" cy="411480"/>
          </a:xfrm>
          <a:prstGeom prst="rect">
            <a:avLst/>
          </a:prstGeom>
          <a:solidFill>
            <a:srgbClr val="F97316"/>
          </a:solidFill>
          <a:ln w="12700">
            <a:solidFill>
              <a:srgbClr val="000000"/>
            </a:solidFill>
            <a:prstDash val="solid"/>
          </a:ln>
        </p:spPr>
        <p:txBody>
          <a:bodyPr/>
          <a:lstStyle/>
          <a:p>
            <a:endParaRPr lang="en-IN"/>
          </a:p>
        </p:txBody>
      </p:sp>
      <p:sp>
        <p:nvSpPr>
          <p:cNvPr id="47" name="Text 23">
            <a:extLst>
              <a:ext uri="{FF2B5EF4-FFF2-40B4-BE49-F238E27FC236}">
                <a16:creationId xmlns:a16="http://schemas.microsoft.com/office/drawing/2014/main" id="{75C22D00-5B46-27EB-AD68-B2AF6C069A9A}"/>
              </a:ext>
            </a:extLst>
          </p:cNvPr>
          <p:cNvSpPr/>
          <p:nvPr/>
        </p:nvSpPr>
        <p:spPr>
          <a:xfrm>
            <a:off x="4983480" y="1298448"/>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User Query (React / CLI)</a:t>
            </a:r>
            <a:endParaRPr lang="en-US" sz="1100" dirty="0"/>
          </a:p>
        </p:txBody>
      </p:sp>
      <p:sp>
        <p:nvSpPr>
          <p:cNvPr id="48" name="Text 24">
            <a:extLst>
              <a:ext uri="{FF2B5EF4-FFF2-40B4-BE49-F238E27FC236}">
                <a16:creationId xmlns:a16="http://schemas.microsoft.com/office/drawing/2014/main" id="{B3865C8E-6F1B-B809-FD85-844FC11116DA}"/>
              </a:ext>
            </a:extLst>
          </p:cNvPr>
          <p:cNvSpPr/>
          <p:nvPr/>
        </p:nvSpPr>
        <p:spPr>
          <a:xfrm>
            <a:off x="4892040" y="1709928"/>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49" name="Shape 25">
            <a:extLst>
              <a:ext uri="{FF2B5EF4-FFF2-40B4-BE49-F238E27FC236}">
                <a16:creationId xmlns:a16="http://schemas.microsoft.com/office/drawing/2014/main" id="{70697617-D050-0CF0-4F55-05123ED26B24}"/>
              </a:ext>
            </a:extLst>
          </p:cNvPr>
          <p:cNvSpPr/>
          <p:nvPr/>
        </p:nvSpPr>
        <p:spPr>
          <a:xfrm>
            <a:off x="4892040" y="1837944"/>
            <a:ext cx="3931920" cy="411480"/>
          </a:xfrm>
          <a:prstGeom prst="rect">
            <a:avLst/>
          </a:prstGeom>
          <a:solidFill>
            <a:srgbClr val="007A7A"/>
          </a:solidFill>
          <a:ln w="12700">
            <a:solidFill>
              <a:srgbClr val="000000"/>
            </a:solidFill>
            <a:prstDash val="solid"/>
          </a:ln>
        </p:spPr>
        <p:txBody>
          <a:bodyPr/>
          <a:lstStyle/>
          <a:p>
            <a:endParaRPr lang="en-IN"/>
          </a:p>
        </p:txBody>
      </p:sp>
      <p:sp>
        <p:nvSpPr>
          <p:cNvPr id="50" name="Text 26">
            <a:extLst>
              <a:ext uri="{FF2B5EF4-FFF2-40B4-BE49-F238E27FC236}">
                <a16:creationId xmlns:a16="http://schemas.microsoft.com/office/drawing/2014/main" id="{B8863D90-E6F4-7621-F6D7-0D35F7F0BEF7}"/>
              </a:ext>
            </a:extLst>
          </p:cNvPr>
          <p:cNvSpPr/>
          <p:nvPr/>
        </p:nvSpPr>
        <p:spPr>
          <a:xfrm>
            <a:off x="4983480" y="1837944"/>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Ollama Qwen3-4B + LoRA Adapter</a:t>
            </a:r>
            <a:endParaRPr lang="en-US" sz="1100" dirty="0"/>
          </a:p>
        </p:txBody>
      </p:sp>
      <p:sp>
        <p:nvSpPr>
          <p:cNvPr id="51" name="Text 27">
            <a:extLst>
              <a:ext uri="{FF2B5EF4-FFF2-40B4-BE49-F238E27FC236}">
                <a16:creationId xmlns:a16="http://schemas.microsoft.com/office/drawing/2014/main" id="{748827C8-4CFA-D994-9A5B-6BDB97B92558}"/>
              </a:ext>
            </a:extLst>
          </p:cNvPr>
          <p:cNvSpPr/>
          <p:nvPr/>
        </p:nvSpPr>
        <p:spPr>
          <a:xfrm>
            <a:off x="4892040" y="2249424"/>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52" name="Shape 28">
            <a:extLst>
              <a:ext uri="{FF2B5EF4-FFF2-40B4-BE49-F238E27FC236}">
                <a16:creationId xmlns:a16="http://schemas.microsoft.com/office/drawing/2014/main" id="{317F48B6-4817-3E14-DB84-48905178C539}"/>
              </a:ext>
            </a:extLst>
          </p:cNvPr>
          <p:cNvSpPr/>
          <p:nvPr/>
        </p:nvSpPr>
        <p:spPr>
          <a:xfrm>
            <a:off x="4892040" y="2377440"/>
            <a:ext cx="3931920" cy="411480"/>
          </a:xfrm>
          <a:prstGeom prst="rect">
            <a:avLst/>
          </a:prstGeom>
          <a:solidFill>
            <a:srgbClr val="007A7A"/>
          </a:solidFill>
          <a:ln w="12700">
            <a:solidFill>
              <a:srgbClr val="000000"/>
            </a:solidFill>
            <a:prstDash val="solid"/>
          </a:ln>
        </p:spPr>
        <p:txBody>
          <a:bodyPr/>
          <a:lstStyle/>
          <a:p>
            <a:endParaRPr lang="en-IN"/>
          </a:p>
        </p:txBody>
      </p:sp>
      <p:sp>
        <p:nvSpPr>
          <p:cNvPr id="53" name="Text 29">
            <a:extLst>
              <a:ext uri="{FF2B5EF4-FFF2-40B4-BE49-F238E27FC236}">
                <a16:creationId xmlns:a16="http://schemas.microsoft.com/office/drawing/2014/main" id="{C1D83142-14EA-BE18-0E6C-6C2F2FC9A0CC}"/>
              </a:ext>
            </a:extLst>
          </p:cNvPr>
          <p:cNvSpPr/>
          <p:nvPr/>
        </p:nvSpPr>
        <p:spPr>
          <a:xfrm>
            <a:off x="4983480" y="2377440"/>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ChromaDB + BM25 + RRF + Rerank</a:t>
            </a:r>
            <a:endParaRPr lang="en-US" sz="1100" dirty="0"/>
          </a:p>
        </p:txBody>
      </p:sp>
      <p:sp>
        <p:nvSpPr>
          <p:cNvPr id="54" name="Text 30">
            <a:extLst>
              <a:ext uri="{FF2B5EF4-FFF2-40B4-BE49-F238E27FC236}">
                <a16:creationId xmlns:a16="http://schemas.microsoft.com/office/drawing/2014/main" id="{9E880418-9C56-C7C3-DCA2-4446D0AB441A}"/>
              </a:ext>
            </a:extLst>
          </p:cNvPr>
          <p:cNvSpPr/>
          <p:nvPr/>
        </p:nvSpPr>
        <p:spPr>
          <a:xfrm>
            <a:off x="4892040" y="2788920"/>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55" name="Shape 31">
            <a:extLst>
              <a:ext uri="{FF2B5EF4-FFF2-40B4-BE49-F238E27FC236}">
                <a16:creationId xmlns:a16="http://schemas.microsoft.com/office/drawing/2014/main" id="{655FCE75-A763-53B5-DA60-C009C49E14E1}"/>
              </a:ext>
            </a:extLst>
          </p:cNvPr>
          <p:cNvSpPr/>
          <p:nvPr/>
        </p:nvSpPr>
        <p:spPr>
          <a:xfrm>
            <a:off x="4892040" y="2916936"/>
            <a:ext cx="3931920" cy="411480"/>
          </a:xfrm>
          <a:prstGeom prst="rect">
            <a:avLst/>
          </a:prstGeom>
          <a:solidFill>
            <a:srgbClr val="0F2044"/>
          </a:solidFill>
          <a:ln w="12700">
            <a:solidFill>
              <a:srgbClr val="000000"/>
            </a:solidFill>
            <a:prstDash val="solid"/>
          </a:ln>
        </p:spPr>
        <p:txBody>
          <a:bodyPr/>
          <a:lstStyle/>
          <a:p>
            <a:endParaRPr lang="en-IN"/>
          </a:p>
        </p:txBody>
      </p:sp>
      <p:sp>
        <p:nvSpPr>
          <p:cNvPr id="56" name="Text 32">
            <a:extLst>
              <a:ext uri="{FF2B5EF4-FFF2-40B4-BE49-F238E27FC236}">
                <a16:creationId xmlns:a16="http://schemas.microsoft.com/office/drawing/2014/main" id="{3DC8C07F-851A-501D-940A-847351676D4E}"/>
              </a:ext>
            </a:extLst>
          </p:cNvPr>
          <p:cNvSpPr/>
          <p:nvPr/>
        </p:nvSpPr>
        <p:spPr>
          <a:xfrm>
            <a:off x="4983480" y="2916936"/>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Qwen3-0.6B Embedder (local)</a:t>
            </a:r>
            <a:endParaRPr lang="en-US" sz="1100" dirty="0"/>
          </a:p>
        </p:txBody>
      </p:sp>
      <p:sp>
        <p:nvSpPr>
          <p:cNvPr id="57" name="Text 33">
            <a:extLst>
              <a:ext uri="{FF2B5EF4-FFF2-40B4-BE49-F238E27FC236}">
                <a16:creationId xmlns:a16="http://schemas.microsoft.com/office/drawing/2014/main" id="{E46E84BD-954E-2BBD-F2BC-A0A2B5816F16}"/>
              </a:ext>
            </a:extLst>
          </p:cNvPr>
          <p:cNvSpPr/>
          <p:nvPr/>
        </p:nvSpPr>
        <p:spPr>
          <a:xfrm>
            <a:off x="4892040" y="3328416"/>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58" name="Shape 34">
            <a:extLst>
              <a:ext uri="{FF2B5EF4-FFF2-40B4-BE49-F238E27FC236}">
                <a16:creationId xmlns:a16="http://schemas.microsoft.com/office/drawing/2014/main" id="{50B48F9D-AA4A-68D3-FE0A-C83F332E3D54}"/>
              </a:ext>
            </a:extLst>
          </p:cNvPr>
          <p:cNvSpPr/>
          <p:nvPr/>
        </p:nvSpPr>
        <p:spPr>
          <a:xfrm>
            <a:off x="4892040" y="3456432"/>
            <a:ext cx="3931920" cy="411480"/>
          </a:xfrm>
          <a:prstGeom prst="rect">
            <a:avLst/>
          </a:prstGeom>
          <a:solidFill>
            <a:srgbClr val="0F2044"/>
          </a:solidFill>
          <a:ln w="12700">
            <a:solidFill>
              <a:srgbClr val="000000"/>
            </a:solidFill>
            <a:prstDash val="solid"/>
          </a:ln>
        </p:spPr>
        <p:txBody>
          <a:bodyPr/>
          <a:lstStyle/>
          <a:p>
            <a:endParaRPr lang="en-IN"/>
          </a:p>
        </p:txBody>
      </p:sp>
      <p:sp>
        <p:nvSpPr>
          <p:cNvPr id="59" name="Text 35">
            <a:extLst>
              <a:ext uri="{FF2B5EF4-FFF2-40B4-BE49-F238E27FC236}">
                <a16:creationId xmlns:a16="http://schemas.microsoft.com/office/drawing/2014/main" id="{C48DDC83-964D-6450-D712-EBE8EC377192}"/>
              </a:ext>
            </a:extLst>
          </p:cNvPr>
          <p:cNvSpPr/>
          <p:nvPr/>
        </p:nvSpPr>
        <p:spPr>
          <a:xfrm>
            <a:off x="4983480" y="3456432"/>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SQLite + FastAPI Backend</a:t>
            </a:r>
            <a:endParaRPr lang="en-US" sz="1100" dirty="0"/>
          </a:p>
        </p:txBody>
      </p:sp>
      <p:sp>
        <p:nvSpPr>
          <p:cNvPr id="60" name="Text 36">
            <a:extLst>
              <a:ext uri="{FF2B5EF4-FFF2-40B4-BE49-F238E27FC236}">
                <a16:creationId xmlns:a16="http://schemas.microsoft.com/office/drawing/2014/main" id="{F3BE3535-EFFD-9A32-C427-EDB17BEC681D}"/>
              </a:ext>
            </a:extLst>
          </p:cNvPr>
          <p:cNvSpPr/>
          <p:nvPr/>
        </p:nvSpPr>
        <p:spPr>
          <a:xfrm>
            <a:off x="4892040" y="3867912"/>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61" name="Shape 37">
            <a:extLst>
              <a:ext uri="{FF2B5EF4-FFF2-40B4-BE49-F238E27FC236}">
                <a16:creationId xmlns:a16="http://schemas.microsoft.com/office/drawing/2014/main" id="{8456B0D9-117C-44AF-62F5-79AF6FC16A2F}"/>
              </a:ext>
            </a:extLst>
          </p:cNvPr>
          <p:cNvSpPr/>
          <p:nvPr/>
        </p:nvSpPr>
        <p:spPr>
          <a:xfrm>
            <a:off x="4892040" y="3995928"/>
            <a:ext cx="3931920" cy="411480"/>
          </a:xfrm>
          <a:prstGeom prst="rect">
            <a:avLst/>
          </a:prstGeom>
          <a:solidFill>
            <a:srgbClr val="F97316"/>
          </a:solidFill>
          <a:ln w="12700">
            <a:solidFill>
              <a:srgbClr val="000000"/>
            </a:solidFill>
            <a:prstDash val="solid"/>
          </a:ln>
        </p:spPr>
        <p:txBody>
          <a:bodyPr/>
          <a:lstStyle/>
          <a:p>
            <a:endParaRPr lang="en-IN"/>
          </a:p>
        </p:txBody>
      </p:sp>
      <p:sp>
        <p:nvSpPr>
          <p:cNvPr id="62" name="Text 38">
            <a:extLst>
              <a:ext uri="{FF2B5EF4-FFF2-40B4-BE49-F238E27FC236}">
                <a16:creationId xmlns:a16="http://schemas.microsoft.com/office/drawing/2014/main" id="{5057AD37-8D73-C104-3389-D752A59722AA}"/>
              </a:ext>
            </a:extLst>
          </p:cNvPr>
          <p:cNvSpPr/>
          <p:nvPr/>
        </p:nvSpPr>
        <p:spPr>
          <a:xfrm>
            <a:off x="4983480" y="3995928"/>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Grounded Response (no data leaves network)</a:t>
            </a:r>
            <a:endParaRPr lang="en-US" sz="1100" dirty="0"/>
          </a:p>
        </p:txBody>
      </p:sp>
    </p:spTree>
    <p:extLst>
      <p:ext uri="{BB962C8B-B14F-4D97-AF65-F5344CB8AC3E}">
        <p14:creationId xmlns:p14="http://schemas.microsoft.com/office/powerpoint/2010/main" val="3330663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C61BE-7499-3161-3884-05BCCC05584C}"/>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4DCAD552-D1F2-0603-017F-74A772A08AEB}"/>
              </a:ext>
            </a:extLst>
          </p:cNvPr>
          <p:cNvSpPr/>
          <p:nvPr/>
        </p:nvSpPr>
        <p:spPr>
          <a:xfrm>
            <a:off x="366713" y="205643"/>
            <a:ext cx="8410575" cy="290513"/>
          </a:xfrm>
          <a:prstGeom prst="rect">
            <a:avLst/>
          </a:prstGeom>
          <a:ln/>
        </p:spPr>
        <p:txBody>
          <a:bodyPr/>
          <a:lstStyle/>
          <a:p>
            <a:endParaRPr lang="en-IN"/>
          </a:p>
        </p:txBody>
      </p:sp>
      <p:sp>
        <p:nvSpPr>
          <p:cNvPr id="4" name="Shape 2">
            <a:extLst>
              <a:ext uri="{FF2B5EF4-FFF2-40B4-BE49-F238E27FC236}">
                <a16:creationId xmlns:a16="http://schemas.microsoft.com/office/drawing/2014/main" id="{722A9DB1-BEA5-2F7C-3F54-1B15C66BF88C}"/>
              </a:ext>
            </a:extLst>
          </p:cNvPr>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a:extLst>
              <a:ext uri="{FF2B5EF4-FFF2-40B4-BE49-F238E27FC236}">
                <a16:creationId xmlns:a16="http://schemas.microsoft.com/office/drawing/2014/main" id="{59B9E4DC-A79F-8FD0-3D5F-9EC1A7AEA5C3}"/>
              </a:ext>
            </a:extLst>
          </p:cNvPr>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a:extLst>
              <a:ext uri="{FF2B5EF4-FFF2-40B4-BE49-F238E27FC236}">
                <a16:creationId xmlns:a16="http://schemas.microsoft.com/office/drawing/2014/main" id="{DFC10C24-EC4D-9D5A-53F4-BC384F9AC788}"/>
              </a:ext>
            </a:extLst>
          </p:cNvPr>
          <p:cNvSpPr/>
          <p:nvPr/>
        </p:nvSpPr>
        <p:spPr>
          <a:xfrm>
            <a:off x="7025878" y="228042"/>
            <a:ext cx="976312"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SOLUTION OVERVIEW</a:t>
            </a:r>
            <a:endParaRPr lang="en-US" sz="700" dirty="0"/>
          </a:p>
        </p:txBody>
      </p:sp>
      <p:sp>
        <p:nvSpPr>
          <p:cNvPr id="7" name="Text 5">
            <a:extLst>
              <a:ext uri="{FF2B5EF4-FFF2-40B4-BE49-F238E27FC236}">
                <a16:creationId xmlns:a16="http://schemas.microsoft.com/office/drawing/2014/main" id="{208A53DF-48AB-0AB8-8840-C2CEA833C1E8}"/>
              </a:ext>
            </a:extLst>
          </p:cNvPr>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a:extLst>
              <a:ext uri="{FF2B5EF4-FFF2-40B4-BE49-F238E27FC236}">
                <a16:creationId xmlns:a16="http://schemas.microsoft.com/office/drawing/2014/main" id="{844C7170-BBB3-09CF-6062-EA773F7FB13D}"/>
              </a:ext>
            </a:extLst>
          </p:cNvPr>
          <p:cNvSpPr/>
          <p:nvPr/>
        </p:nvSpPr>
        <p:spPr>
          <a:xfrm>
            <a:off x="368871" y="520422"/>
            <a:ext cx="8410575" cy="196803"/>
          </a:xfrm>
          <a:prstGeom prst="rect">
            <a:avLst/>
          </a:prstGeom>
          <a:ln/>
        </p:spPr>
        <p:txBody>
          <a:bodyPr wrap="square" lIns="0" tIns="0" rIns="0" bIns="0" rtlCol="0" anchor="t"/>
          <a:lstStyle/>
          <a:p>
            <a:pPr marL="0" indent="0" algn="l">
              <a:lnSpc>
                <a:spcPts val="2376"/>
              </a:lnSpc>
              <a:spcAft>
                <a:spcPts val="203"/>
              </a:spcAft>
              <a:buNone/>
            </a:pPr>
            <a:r>
              <a:rPr lang="en-US" sz="2100" b="1" dirty="0">
                <a:solidFill>
                  <a:srgbClr val="1E3A5F"/>
                </a:solidFill>
                <a:latin typeface="Inter" pitchFamily="34" charset="0"/>
                <a:ea typeface="Inter" pitchFamily="34" charset="-122"/>
                <a:cs typeface="Inter" pitchFamily="34" charset="-120"/>
              </a:rPr>
              <a:t>Solution Overview &amp; System Architecture</a:t>
            </a:r>
            <a:endParaRPr lang="en-US" sz="2100" dirty="0"/>
          </a:p>
        </p:txBody>
      </p:sp>
      <p:sp>
        <p:nvSpPr>
          <p:cNvPr id="32" name="Shape 30">
            <a:extLst>
              <a:ext uri="{FF2B5EF4-FFF2-40B4-BE49-F238E27FC236}">
                <a16:creationId xmlns:a16="http://schemas.microsoft.com/office/drawing/2014/main" id="{B3876099-7ABE-CCFB-A7D8-AA03C2AEBF76}"/>
              </a:ext>
            </a:extLst>
          </p:cNvPr>
          <p:cNvSpPr/>
          <p:nvPr/>
        </p:nvSpPr>
        <p:spPr>
          <a:xfrm>
            <a:off x="366713" y="4705610"/>
            <a:ext cx="8410575" cy="233362"/>
          </a:xfrm>
          <a:prstGeom prst="rect">
            <a:avLst/>
          </a:prstGeom>
          <a:ln/>
        </p:spPr>
        <p:txBody>
          <a:bodyPr/>
          <a:lstStyle/>
          <a:p>
            <a:endParaRPr lang="en-IN"/>
          </a:p>
        </p:txBody>
      </p:sp>
      <p:sp>
        <p:nvSpPr>
          <p:cNvPr id="33" name="Text 31">
            <a:extLst>
              <a:ext uri="{FF2B5EF4-FFF2-40B4-BE49-F238E27FC236}">
                <a16:creationId xmlns:a16="http://schemas.microsoft.com/office/drawing/2014/main" id="{7D13EC71-4911-F126-E3F8-054673B650DE}"/>
              </a:ext>
            </a:extLst>
          </p:cNvPr>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34" name="Text 32">
            <a:extLst>
              <a:ext uri="{FF2B5EF4-FFF2-40B4-BE49-F238E27FC236}">
                <a16:creationId xmlns:a16="http://schemas.microsoft.com/office/drawing/2014/main" id="{D924C1AC-9539-2F3A-4A96-9AA3321BDAE6}"/>
              </a:ext>
            </a:extLst>
          </p:cNvPr>
          <p:cNvSpPr/>
          <p:nvPr/>
        </p:nvSpPr>
        <p:spPr>
          <a:xfrm>
            <a:off x="8279383" y="4814181"/>
            <a:ext cx="500063"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4 of 24</a:t>
            </a:r>
            <a:endParaRPr lang="en-US" sz="600" dirty="0"/>
          </a:p>
        </p:txBody>
      </p:sp>
      <p:pic>
        <p:nvPicPr>
          <p:cNvPr id="35" name="Image 0" descr="preencoded.png">
            <a:extLst>
              <a:ext uri="{FF2B5EF4-FFF2-40B4-BE49-F238E27FC236}">
                <a16:creationId xmlns:a16="http://schemas.microsoft.com/office/drawing/2014/main" id="{95429CDB-4FA7-3EE2-70DA-FE12B017DA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36" name="Image 1" descr="preencoded.png">
            <a:extLst>
              <a:ext uri="{FF2B5EF4-FFF2-40B4-BE49-F238E27FC236}">
                <a16:creationId xmlns:a16="http://schemas.microsoft.com/office/drawing/2014/main" id="{CD2B90D7-9A08-953A-66C6-E889B9FAFF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sp>
        <p:nvSpPr>
          <p:cNvPr id="44" name="Shape 33">
            <a:extLst>
              <a:ext uri="{FF2B5EF4-FFF2-40B4-BE49-F238E27FC236}">
                <a16:creationId xmlns:a16="http://schemas.microsoft.com/office/drawing/2014/main" id="{A00F4294-C6BD-F1B0-0ADA-85EDE0B0C52D}"/>
              </a:ext>
            </a:extLst>
          </p:cNvPr>
          <p:cNvSpPr/>
          <p:nvPr/>
        </p:nvSpPr>
        <p:spPr>
          <a:xfrm>
            <a:off x="4706112" y="1101852"/>
            <a:ext cx="0" cy="3436921"/>
          </a:xfrm>
          <a:prstGeom prst="line">
            <a:avLst/>
          </a:prstGeom>
          <a:noFill/>
          <a:ln w="19050">
            <a:solidFill>
              <a:srgbClr val="E2E8F0"/>
            </a:solidFill>
            <a:prstDash val="dash"/>
          </a:ln>
        </p:spPr>
        <p:txBody>
          <a:bodyPr/>
          <a:lstStyle/>
          <a:p>
            <a:endParaRPr lang="en-IN"/>
          </a:p>
        </p:txBody>
      </p:sp>
      <p:pic>
        <p:nvPicPr>
          <p:cNvPr id="11" name="Picture 10">
            <a:extLst>
              <a:ext uri="{FF2B5EF4-FFF2-40B4-BE49-F238E27FC236}">
                <a16:creationId xmlns:a16="http://schemas.microsoft.com/office/drawing/2014/main" id="{2B25B8DB-3DEE-7AF3-FD72-3F1B56F1ECF9}"/>
              </a:ext>
            </a:extLst>
          </p:cNvPr>
          <p:cNvPicPr>
            <a:picLocks noChangeAspect="1"/>
          </p:cNvPicPr>
          <p:nvPr/>
        </p:nvPicPr>
        <p:blipFill>
          <a:blip r:embed="rId5"/>
          <a:stretch>
            <a:fillRect/>
          </a:stretch>
        </p:blipFill>
        <p:spPr>
          <a:xfrm>
            <a:off x="183092" y="822962"/>
            <a:ext cx="4068866" cy="3875468"/>
          </a:xfrm>
          <a:prstGeom prst="rect">
            <a:avLst/>
          </a:prstGeom>
        </p:spPr>
      </p:pic>
      <p:sp>
        <p:nvSpPr>
          <p:cNvPr id="12" name="Text 3">
            <a:extLst>
              <a:ext uri="{FF2B5EF4-FFF2-40B4-BE49-F238E27FC236}">
                <a16:creationId xmlns:a16="http://schemas.microsoft.com/office/drawing/2014/main" id="{6AA4B604-6481-4FC5-4365-FC50E42F9A78}"/>
              </a:ext>
            </a:extLst>
          </p:cNvPr>
          <p:cNvSpPr/>
          <p:nvPr/>
        </p:nvSpPr>
        <p:spPr>
          <a:xfrm>
            <a:off x="4892044" y="1088136"/>
            <a:ext cx="3931920" cy="274320"/>
          </a:xfrm>
          <a:prstGeom prst="rect">
            <a:avLst/>
          </a:prstGeom>
          <a:noFill/>
          <a:ln/>
        </p:spPr>
        <p:txBody>
          <a:bodyPr wrap="square" lIns="0" tIns="0" rIns="0" bIns="0" rtlCol="0" anchor="ctr"/>
          <a:lstStyle/>
          <a:p>
            <a:pPr marL="0" indent="0" algn="l">
              <a:buNone/>
            </a:pPr>
            <a:r>
              <a:rPr lang="en-US" sz="1200" b="1" dirty="0">
                <a:solidFill>
                  <a:srgbClr val="0F2044"/>
                </a:solidFill>
                <a:latin typeface="Calibri" pitchFamily="34" charset="0"/>
                <a:ea typeface="Calibri" pitchFamily="34" charset="-122"/>
                <a:cs typeface="Calibri" pitchFamily="34" charset="-120"/>
              </a:rPr>
              <a:t>☁  CLOUD STACK (ITS-v2-main)</a:t>
            </a:r>
            <a:endParaRPr lang="en-US" sz="1200" dirty="0"/>
          </a:p>
        </p:txBody>
      </p:sp>
      <p:sp>
        <p:nvSpPr>
          <p:cNvPr id="13" name="Shape 4">
            <a:extLst>
              <a:ext uri="{FF2B5EF4-FFF2-40B4-BE49-F238E27FC236}">
                <a16:creationId xmlns:a16="http://schemas.microsoft.com/office/drawing/2014/main" id="{6BE07AEA-3368-AB99-0EBA-47A9DD95156E}"/>
              </a:ext>
            </a:extLst>
          </p:cNvPr>
          <p:cNvSpPr/>
          <p:nvPr/>
        </p:nvSpPr>
        <p:spPr>
          <a:xfrm>
            <a:off x="4892044" y="1426464"/>
            <a:ext cx="3931920" cy="411480"/>
          </a:xfrm>
          <a:prstGeom prst="rect">
            <a:avLst/>
          </a:prstGeom>
          <a:solidFill>
            <a:srgbClr val="00A8A8"/>
          </a:solidFill>
          <a:ln w="12700">
            <a:solidFill>
              <a:srgbClr val="000000"/>
            </a:solidFill>
            <a:prstDash val="solid"/>
          </a:ln>
        </p:spPr>
        <p:txBody>
          <a:bodyPr/>
          <a:lstStyle/>
          <a:p>
            <a:endParaRPr lang="en-IN"/>
          </a:p>
        </p:txBody>
      </p:sp>
      <p:sp>
        <p:nvSpPr>
          <p:cNvPr id="14" name="Text 5">
            <a:extLst>
              <a:ext uri="{FF2B5EF4-FFF2-40B4-BE49-F238E27FC236}">
                <a16:creationId xmlns:a16="http://schemas.microsoft.com/office/drawing/2014/main" id="{31FB4DD1-3841-CEAD-DF3D-D41CA32DE020}"/>
              </a:ext>
            </a:extLst>
          </p:cNvPr>
          <p:cNvSpPr/>
          <p:nvPr/>
        </p:nvSpPr>
        <p:spPr>
          <a:xfrm>
            <a:off x="4983484" y="1426464"/>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User Query (React SPA)</a:t>
            </a:r>
            <a:endParaRPr lang="en-US" sz="1100" dirty="0"/>
          </a:p>
        </p:txBody>
      </p:sp>
      <p:sp>
        <p:nvSpPr>
          <p:cNvPr id="15" name="Text 6">
            <a:extLst>
              <a:ext uri="{FF2B5EF4-FFF2-40B4-BE49-F238E27FC236}">
                <a16:creationId xmlns:a16="http://schemas.microsoft.com/office/drawing/2014/main" id="{4C3255FA-EBB6-9998-C40A-AA4CD95A3EEF}"/>
              </a:ext>
            </a:extLst>
          </p:cNvPr>
          <p:cNvSpPr/>
          <p:nvPr/>
        </p:nvSpPr>
        <p:spPr>
          <a:xfrm>
            <a:off x="4892044" y="1837944"/>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16" name="Shape 7">
            <a:extLst>
              <a:ext uri="{FF2B5EF4-FFF2-40B4-BE49-F238E27FC236}">
                <a16:creationId xmlns:a16="http://schemas.microsoft.com/office/drawing/2014/main" id="{F39A2E3F-4370-0060-4976-F5A9D182DAC8}"/>
              </a:ext>
            </a:extLst>
          </p:cNvPr>
          <p:cNvSpPr/>
          <p:nvPr/>
        </p:nvSpPr>
        <p:spPr>
          <a:xfrm>
            <a:off x="4892044" y="1965960"/>
            <a:ext cx="3931920" cy="411480"/>
          </a:xfrm>
          <a:prstGeom prst="rect">
            <a:avLst/>
          </a:prstGeom>
          <a:solidFill>
            <a:srgbClr val="007A7A"/>
          </a:solidFill>
          <a:ln w="12700">
            <a:solidFill>
              <a:srgbClr val="000000"/>
            </a:solidFill>
            <a:prstDash val="solid"/>
          </a:ln>
        </p:spPr>
        <p:txBody>
          <a:bodyPr/>
          <a:lstStyle/>
          <a:p>
            <a:endParaRPr lang="en-IN"/>
          </a:p>
        </p:txBody>
      </p:sp>
      <p:sp>
        <p:nvSpPr>
          <p:cNvPr id="17" name="Text 8">
            <a:extLst>
              <a:ext uri="{FF2B5EF4-FFF2-40B4-BE49-F238E27FC236}">
                <a16:creationId xmlns:a16="http://schemas.microsoft.com/office/drawing/2014/main" id="{8C46C842-5FD0-0E12-2CCE-DD78EBB6C1DD}"/>
              </a:ext>
            </a:extLst>
          </p:cNvPr>
          <p:cNvSpPr/>
          <p:nvPr/>
        </p:nvSpPr>
        <p:spPr>
          <a:xfrm>
            <a:off x="4983484" y="1965960"/>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LangGraph Agent Loop</a:t>
            </a:r>
            <a:endParaRPr lang="en-US" sz="1100" dirty="0"/>
          </a:p>
        </p:txBody>
      </p:sp>
      <p:sp>
        <p:nvSpPr>
          <p:cNvPr id="18" name="Text 9">
            <a:extLst>
              <a:ext uri="{FF2B5EF4-FFF2-40B4-BE49-F238E27FC236}">
                <a16:creationId xmlns:a16="http://schemas.microsoft.com/office/drawing/2014/main" id="{07DBECB6-32A7-A3DC-5D3C-008AD17FFEC5}"/>
              </a:ext>
            </a:extLst>
          </p:cNvPr>
          <p:cNvSpPr/>
          <p:nvPr/>
        </p:nvSpPr>
        <p:spPr>
          <a:xfrm>
            <a:off x="4892044" y="2377440"/>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19" name="Shape 10">
            <a:extLst>
              <a:ext uri="{FF2B5EF4-FFF2-40B4-BE49-F238E27FC236}">
                <a16:creationId xmlns:a16="http://schemas.microsoft.com/office/drawing/2014/main" id="{2B7E24B4-C944-9816-5A1B-FF927CA1AD07}"/>
              </a:ext>
            </a:extLst>
          </p:cNvPr>
          <p:cNvSpPr/>
          <p:nvPr/>
        </p:nvSpPr>
        <p:spPr>
          <a:xfrm>
            <a:off x="4892044" y="2505456"/>
            <a:ext cx="3931920" cy="411480"/>
          </a:xfrm>
          <a:prstGeom prst="rect">
            <a:avLst/>
          </a:prstGeom>
          <a:solidFill>
            <a:srgbClr val="007A7A"/>
          </a:solidFill>
          <a:ln w="12700">
            <a:solidFill>
              <a:srgbClr val="000000"/>
            </a:solidFill>
            <a:prstDash val="solid"/>
          </a:ln>
        </p:spPr>
        <p:txBody>
          <a:bodyPr/>
          <a:lstStyle/>
          <a:p>
            <a:endParaRPr lang="en-IN"/>
          </a:p>
        </p:txBody>
      </p:sp>
      <p:sp>
        <p:nvSpPr>
          <p:cNvPr id="20" name="Text 11">
            <a:extLst>
              <a:ext uri="{FF2B5EF4-FFF2-40B4-BE49-F238E27FC236}">
                <a16:creationId xmlns:a16="http://schemas.microsoft.com/office/drawing/2014/main" id="{D9FA9B8B-2162-A1EA-58A1-B6CBFF5DECF7}"/>
              </a:ext>
            </a:extLst>
          </p:cNvPr>
          <p:cNvSpPr/>
          <p:nvPr/>
        </p:nvSpPr>
        <p:spPr>
          <a:xfrm>
            <a:off x="4983484" y="2505456"/>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Guardrail → Agent ↔ Tools</a:t>
            </a:r>
            <a:endParaRPr lang="en-US" sz="1100" dirty="0"/>
          </a:p>
        </p:txBody>
      </p:sp>
      <p:sp>
        <p:nvSpPr>
          <p:cNvPr id="21" name="Text 12">
            <a:extLst>
              <a:ext uri="{FF2B5EF4-FFF2-40B4-BE49-F238E27FC236}">
                <a16:creationId xmlns:a16="http://schemas.microsoft.com/office/drawing/2014/main" id="{D6C30A96-DB42-77C7-C13E-BB40F57E1930}"/>
              </a:ext>
            </a:extLst>
          </p:cNvPr>
          <p:cNvSpPr/>
          <p:nvPr/>
        </p:nvSpPr>
        <p:spPr>
          <a:xfrm>
            <a:off x="4892044" y="2916936"/>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22" name="Shape 13">
            <a:extLst>
              <a:ext uri="{FF2B5EF4-FFF2-40B4-BE49-F238E27FC236}">
                <a16:creationId xmlns:a16="http://schemas.microsoft.com/office/drawing/2014/main" id="{6039B45F-0FE4-45CE-425D-499591CCDDE8}"/>
              </a:ext>
            </a:extLst>
          </p:cNvPr>
          <p:cNvSpPr/>
          <p:nvPr/>
        </p:nvSpPr>
        <p:spPr>
          <a:xfrm>
            <a:off x="4892044" y="3044952"/>
            <a:ext cx="3931920" cy="411480"/>
          </a:xfrm>
          <a:prstGeom prst="rect">
            <a:avLst/>
          </a:prstGeom>
          <a:solidFill>
            <a:srgbClr val="0F2044"/>
          </a:solidFill>
          <a:ln w="12700">
            <a:solidFill>
              <a:srgbClr val="000000"/>
            </a:solidFill>
            <a:prstDash val="solid"/>
          </a:ln>
        </p:spPr>
        <p:txBody>
          <a:bodyPr/>
          <a:lstStyle/>
          <a:p>
            <a:endParaRPr lang="en-IN"/>
          </a:p>
        </p:txBody>
      </p:sp>
      <p:sp>
        <p:nvSpPr>
          <p:cNvPr id="23" name="Text 14">
            <a:extLst>
              <a:ext uri="{FF2B5EF4-FFF2-40B4-BE49-F238E27FC236}">
                <a16:creationId xmlns:a16="http://schemas.microsoft.com/office/drawing/2014/main" id="{86FF148B-4CFD-9417-AF4F-09986A1E98EF}"/>
              </a:ext>
            </a:extLst>
          </p:cNvPr>
          <p:cNvSpPr/>
          <p:nvPr/>
        </p:nvSpPr>
        <p:spPr>
          <a:xfrm>
            <a:off x="4983484" y="3044952"/>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Pinecone Vector Search</a:t>
            </a:r>
            <a:endParaRPr lang="en-US" sz="1100" dirty="0"/>
          </a:p>
        </p:txBody>
      </p:sp>
      <p:sp>
        <p:nvSpPr>
          <p:cNvPr id="24" name="Text 15">
            <a:extLst>
              <a:ext uri="{FF2B5EF4-FFF2-40B4-BE49-F238E27FC236}">
                <a16:creationId xmlns:a16="http://schemas.microsoft.com/office/drawing/2014/main" id="{E339A67A-A68F-5138-BA50-DFD4BC96E7B5}"/>
              </a:ext>
            </a:extLst>
          </p:cNvPr>
          <p:cNvSpPr/>
          <p:nvPr/>
        </p:nvSpPr>
        <p:spPr>
          <a:xfrm>
            <a:off x="4892044" y="3456432"/>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25" name="Shape 16">
            <a:extLst>
              <a:ext uri="{FF2B5EF4-FFF2-40B4-BE49-F238E27FC236}">
                <a16:creationId xmlns:a16="http://schemas.microsoft.com/office/drawing/2014/main" id="{3825264A-15D8-EA19-22EA-70528FC858A8}"/>
              </a:ext>
            </a:extLst>
          </p:cNvPr>
          <p:cNvSpPr/>
          <p:nvPr/>
        </p:nvSpPr>
        <p:spPr>
          <a:xfrm>
            <a:off x="4892044" y="3584448"/>
            <a:ext cx="3931920" cy="411480"/>
          </a:xfrm>
          <a:prstGeom prst="rect">
            <a:avLst/>
          </a:prstGeom>
          <a:solidFill>
            <a:srgbClr val="0F2044"/>
          </a:solidFill>
          <a:ln w="12700">
            <a:solidFill>
              <a:srgbClr val="000000"/>
            </a:solidFill>
            <a:prstDash val="solid"/>
          </a:ln>
        </p:spPr>
        <p:txBody>
          <a:bodyPr/>
          <a:lstStyle/>
          <a:p>
            <a:endParaRPr lang="en-IN"/>
          </a:p>
        </p:txBody>
      </p:sp>
      <p:sp>
        <p:nvSpPr>
          <p:cNvPr id="26" name="Text 17">
            <a:extLst>
              <a:ext uri="{FF2B5EF4-FFF2-40B4-BE49-F238E27FC236}">
                <a16:creationId xmlns:a16="http://schemas.microsoft.com/office/drawing/2014/main" id="{53C61072-FC1D-52AB-68DB-D9DF31E18315}"/>
              </a:ext>
            </a:extLst>
          </p:cNvPr>
          <p:cNvSpPr/>
          <p:nvPr/>
        </p:nvSpPr>
        <p:spPr>
          <a:xfrm>
            <a:off x="4983484" y="3584448"/>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OpenAI Chat + Embeddings</a:t>
            </a:r>
            <a:endParaRPr lang="en-US" sz="1100" dirty="0"/>
          </a:p>
        </p:txBody>
      </p:sp>
      <p:sp>
        <p:nvSpPr>
          <p:cNvPr id="27" name="Text 18">
            <a:extLst>
              <a:ext uri="{FF2B5EF4-FFF2-40B4-BE49-F238E27FC236}">
                <a16:creationId xmlns:a16="http://schemas.microsoft.com/office/drawing/2014/main" id="{1704547E-F73F-4F7E-5DD1-FF8ADAB64DAF}"/>
              </a:ext>
            </a:extLst>
          </p:cNvPr>
          <p:cNvSpPr/>
          <p:nvPr/>
        </p:nvSpPr>
        <p:spPr>
          <a:xfrm>
            <a:off x="4892044" y="3995928"/>
            <a:ext cx="3931920" cy="128016"/>
          </a:xfrm>
          <a:prstGeom prst="rect">
            <a:avLst/>
          </a:prstGeom>
          <a:noFill/>
          <a:ln/>
        </p:spPr>
        <p:txBody>
          <a:bodyPr wrap="square" lIns="0" tIns="0" rIns="0" bIns="0" rtlCol="0" anchor="ctr"/>
          <a:lstStyle/>
          <a:p>
            <a:pPr marL="0" indent="0" algn="ctr">
              <a:buNone/>
            </a:pPr>
            <a:r>
              <a:rPr lang="en-US" sz="900" dirty="0">
                <a:solidFill>
                  <a:srgbClr val="007A7A"/>
                </a:solidFill>
              </a:rPr>
              <a:t>▼</a:t>
            </a:r>
            <a:endParaRPr lang="en-US" sz="900" dirty="0"/>
          </a:p>
        </p:txBody>
      </p:sp>
      <p:sp>
        <p:nvSpPr>
          <p:cNvPr id="28" name="Shape 19">
            <a:extLst>
              <a:ext uri="{FF2B5EF4-FFF2-40B4-BE49-F238E27FC236}">
                <a16:creationId xmlns:a16="http://schemas.microsoft.com/office/drawing/2014/main" id="{BAF7643D-01F3-D9C9-CF6E-947704396E27}"/>
              </a:ext>
            </a:extLst>
          </p:cNvPr>
          <p:cNvSpPr/>
          <p:nvPr/>
        </p:nvSpPr>
        <p:spPr>
          <a:xfrm>
            <a:off x="4892044" y="4123944"/>
            <a:ext cx="3931920" cy="411480"/>
          </a:xfrm>
          <a:prstGeom prst="rect">
            <a:avLst/>
          </a:prstGeom>
          <a:solidFill>
            <a:srgbClr val="00A8A8"/>
          </a:solidFill>
          <a:ln w="12700">
            <a:solidFill>
              <a:srgbClr val="000000"/>
            </a:solidFill>
            <a:prstDash val="solid"/>
          </a:ln>
        </p:spPr>
        <p:txBody>
          <a:bodyPr/>
          <a:lstStyle/>
          <a:p>
            <a:endParaRPr lang="en-IN"/>
          </a:p>
        </p:txBody>
      </p:sp>
      <p:sp>
        <p:nvSpPr>
          <p:cNvPr id="29" name="Text 20">
            <a:extLst>
              <a:ext uri="{FF2B5EF4-FFF2-40B4-BE49-F238E27FC236}">
                <a16:creationId xmlns:a16="http://schemas.microsoft.com/office/drawing/2014/main" id="{9EC0F8F5-91EE-9DBB-65F8-AED1204B6E96}"/>
              </a:ext>
            </a:extLst>
          </p:cNvPr>
          <p:cNvSpPr/>
          <p:nvPr/>
        </p:nvSpPr>
        <p:spPr>
          <a:xfrm>
            <a:off x="4983484" y="4123944"/>
            <a:ext cx="3749040" cy="41148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FastAPI Response + Citations</a:t>
            </a:r>
            <a:endParaRPr lang="en-US" sz="1100" dirty="0"/>
          </a:p>
        </p:txBody>
      </p:sp>
    </p:spTree>
    <p:extLst>
      <p:ext uri="{BB962C8B-B14F-4D97-AF65-F5344CB8AC3E}">
        <p14:creationId xmlns:p14="http://schemas.microsoft.com/office/powerpoint/2010/main" val="2327181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7A07D-180C-32BE-B4E7-857423FB6ED6}"/>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AE567A86-618C-1D47-4469-0FC5C3F7611B}"/>
              </a:ext>
            </a:extLst>
          </p:cNvPr>
          <p:cNvSpPr/>
          <p:nvPr/>
        </p:nvSpPr>
        <p:spPr>
          <a:xfrm>
            <a:off x="366713" y="205643"/>
            <a:ext cx="8410575" cy="290513"/>
          </a:xfrm>
          <a:prstGeom prst="rect">
            <a:avLst/>
          </a:prstGeom>
          <a:ln/>
        </p:spPr>
        <p:txBody>
          <a:bodyPr/>
          <a:lstStyle/>
          <a:p>
            <a:endParaRPr lang="en-IN"/>
          </a:p>
        </p:txBody>
      </p:sp>
      <p:sp>
        <p:nvSpPr>
          <p:cNvPr id="4" name="Shape 2">
            <a:extLst>
              <a:ext uri="{FF2B5EF4-FFF2-40B4-BE49-F238E27FC236}">
                <a16:creationId xmlns:a16="http://schemas.microsoft.com/office/drawing/2014/main" id="{12A7D2E8-5D9F-F3B0-92CA-517597B5A940}"/>
              </a:ext>
            </a:extLst>
          </p:cNvPr>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a:extLst>
              <a:ext uri="{FF2B5EF4-FFF2-40B4-BE49-F238E27FC236}">
                <a16:creationId xmlns:a16="http://schemas.microsoft.com/office/drawing/2014/main" id="{60AF3232-EF08-A8A2-60DD-285E2D35F40F}"/>
              </a:ext>
            </a:extLst>
          </p:cNvPr>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a:extLst>
              <a:ext uri="{FF2B5EF4-FFF2-40B4-BE49-F238E27FC236}">
                <a16:creationId xmlns:a16="http://schemas.microsoft.com/office/drawing/2014/main" id="{B55EFE56-A28A-D067-86BD-38F84F43B683}"/>
              </a:ext>
            </a:extLst>
          </p:cNvPr>
          <p:cNvSpPr/>
          <p:nvPr/>
        </p:nvSpPr>
        <p:spPr>
          <a:xfrm>
            <a:off x="6502400" y="228042"/>
            <a:ext cx="1499790" cy="159544"/>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rPr>
              <a:t>PERFORMANCE AND VALIDATION</a:t>
            </a:r>
            <a:endParaRPr lang="en-US" sz="700" dirty="0"/>
          </a:p>
        </p:txBody>
      </p:sp>
      <p:sp>
        <p:nvSpPr>
          <p:cNvPr id="7" name="Text 5">
            <a:extLst>
              <a:ext uri="{FF2B5EF4-FFF2-40B4-BE49-F238E27FC236}">
                <a16:creationId xmlns:a16="http://schemas.microsoft.com/office/drawing/2014/main" id="{FAD91D48-D3DA-54F2-A089-59D1A76C6AEE}"/>
              </a:ext>
            </a:extLst>
          </p:cNvPr>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a:extLst>
              <a:ext uri="{FF2B5EF4-FFF2-40B4-BE49-F238E27FC236}">
                <a16:creationId xmlns:a16="http://schemas.microsoft.com/office/drawing/2014/main" id="{B5785A77-88ED-93A2-7917-0AE5F760C69E}"/>
              </a:ext>
            </a:extLst>
          </p:cNvPr>
          <p:cNvSpPr/>
          <p:nvPr/>
        </p:nvSpPr>
        <p:spPr>
          <a:xfrm>
            <a:off x="411480" y="499685"/>
            <a:ext cx="8410575" cy="252745"/>
          </a:xfrm>
          <a:prstGeom prst="rect">
            <a:avLst/>
          </a:prstGeom>
          <a:ln/>
        </p:spPr>
        <p:txBody>
          <a:bodyPr wrap="square" lIns="0" tIns="0" rIns="0" bIns="0" rtlCol="0" anchor="t"/>
          <a:lstStyle/>
          <a:p>
            <a:pPr marL="0" indent="0" algn="l">
              <a:lnSpc>
                <a:spcPts val="2376"/>
              </a:lnSpc>
              <a:spcAft>
                <a:spcPts val="203"/>
              </a:spcAft>
              <a:buNone/>
            </a:pPr>
            <a:r>
              <a:rPr lang="en-US" sz="2100" b="1" dirty="0">
                <a:solidFill>
                  <a:srgbClr val="1E3A5F"/>
                </a:solidFill>
                <a:latin typeface="Inter" pitchFamily="34" charset="0"/>
                <a:ea typeface="Inter" pitchFamily="34" charset="-122"/>
                <a:cs typeface="Inter" pitchFamily="34" charset="-120"/>
              </a:rPr>
              <a:t>Eight Evaluation Experiments</a:t>
            </a:r>
            <a:endParaRPr lang="en-US" sz="2100" dirty="0"/>
          </a:p>
        </p:txBody>
      </p:sp>
      <p:sp>
        <p:nvSpPr>
          <p:cNvPr id="32" name="Shape 30">
            <a:extLst>
              <a:ext uri="{FF2B5EF4-FFF2-40B4-BE49-F238E27FC236}">
                <a16:creationId xmlns:a16="http://schemas.microsoft.com/office/drawing/2014/main" id="{6A73513A-C573-F6DF-3E0F-963BACC51781}"/>
              </a:ext>
            </a:extLst>
          </p:cNvPr>
          <p:cNvSpPr/>
          <p:nvPr/>
        </p:nvSpPr>
        <p:spPr>
          <a:xfrm>
            <a:off x="366713" y="4705610"/>
            <a:ext cx="8410575" cy="233362"/>
          </a:xfrm>
          <a:prstGeom prst="rect">
            <a:avLst/>
          </a:prstGeom>
          <a:ln/>
        </p:spPr>
        <p:txBody>
          <a:bodyPr/>
          <a:lstStyle/>
          <a:p>
            <a:endParaRPr lang="en-IN"/>
          </a:p>
        </p:txBody>
      </p:sp>
      <p:sp>
        <p:nvSpPr>
          <p:cNvPr id="33" name="Text 31">
            <a:extLst>
              <a:ext uri="{FF2B5EF4-FFF2-40B4-BE49-F238E27FC236}">
                <a16:creationId xmlns:a16="http://schemas.microsoft.com/office/drawing/2014/main" id="{62B7DE4C-4D2C-FA70-F5D5-A635E89AF2A6}"/>
              </a:ext>
            </a:extLst>
          </p:cNvPr>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34" name="Text 32">
            <a:extLst>
              <a:ext uri="{FF2B5EF4-FFF2-40B4-BE49-F238E27FC236}">
                <a16:creationId xmlns:a16="http://schemas.microsoft.com/office/drawing/2014/main" id="{B2D81257-B8B2-B29D-843C-1525CA6A5698}"/>
              </a:ext>
            </a:extLst>
          </p:cNvPr>
          <p:cNvSpPr/>
          <p:nvPr/>
        </p:nvSpPr>
        <p:spPr>
          <a:xfrm>
            <a:off x="8279383" y="4814181"/>
            <a:ext cx="500063"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4 of 24</a:t>
            </a:r>
            <a:endParaRPr lang="en-US" sz="600" dirty="0"/>
          </a:p>
        </p:txBody>
      </p:sp>
      <p:pic>
        <p:nvPicPr>
          <p:cNvPr id="35" name="Image 0" descr="preencoded.png">
            <a:extLst>
              <a:ext uri="{FF2B5EF4-FFF2-40B4-BE49-F238E27FC236}">
                <a16:creationId xmlns:a16="http://schemas.microsoft.com/office/drawing/2014/main" id="{BBA7F57A-6456-78E6-87E8-72C6E23E0E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36" name="Image 1" descr="preencoded.png">
            <a:extLst>
              <a:ext uri="{FF2B5EF4-FFF2-40B4-BE49-F238E27FC236}">
                <a16:creationId xmlns:a16="http://schemas.microsoft.com/office/drawing/2014/main" id="{7BAF62A8-5B37-E7D9-AD5E-1BAB2BCCF7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sp>
        <p:nvSpPr>
          <p:cNvPr id="2" name="Shape 2">
            <a:extLst>
              <a:ext uri="{FF2B5EF4-FFF2-40B4-BE49-F238E27FC236}">
                <a16:creationId xmlns:a16="http://schemas.microsoft.com/office/drawing/2014/main" id="{8BB29AF0-7967-E8FD-C862-0FC4E51FAE93}"/>
              </a:ext>
            </a:extLst>
          </p:cNvPr>
          <p:cNvSpPr/>
          <p:nvPr/>
        </p:nvSpPr>
        <p:spPr>
          <a:xfrm>
            <a:off x="411480" y="804672"/>
            <a:ext cx="8321040" cy="27432"/>
          </a:xfrm>
          <a:prstGeom prst="rect">
            <a:avLst/>
          </a:prstGeom>
          <a:solidFill>
            <a:srgbClr val="007A7A"/>
          </a:solidFill>
          <a:ln w="12700">
            <a:solidFill>
              <a:srgbClr val="000000"/>
            </a:solidFill>
            <a:prstDash val="solid"/>
          </a:ln>
        </p:spPr>
        <p:txBody>
          <a:bodyPr/>
          <a:lstStyle/>
          <a:p>
            <a:endParaRPr lang="en-IN">
              <a:latin typeface="Inter"/>
            </a:endParaRPr>
          </a:p>
        </p:txBody>
      </p:sp>
      <p:sp>
        <p:nvSpPr>
          <p:cNvPr id="8" name="Shape 3">
            <a:extLst>
              <a:ext uri="{FF2B5EF4-FFF2-40B4-BE49-F238E27FC236}">
                <a16:creationId xmlns:a16="http://schemas.microsoft.com/office/drawing/2014/main" id="{3A236831-5BBC-BA88-8D14-B42934D06667}"/>
              </a:ext>
            </a:extLst>
          </p:cNvPr>
          <p:cNvSpPr/>
          <p:nvPr/>
        </p:nvSpPr>
        <p:spPr>
          <a:xfrm>
            <a:off x="411480" y="953837"/>
            <a:ext cx="4096512" cy="877824"/>
          </a:xfrm>
          <a:prstGeom prst="rect">
            <a:avLst/>
          </a:prstGeom>
          <a:solidFill>
            <a:srgbClr val="132840"/>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ndParaRPr>
          </a:p>
        </p:txBody>
      </p:sp>
      <p:sp>
        <p:nvSpPr>
          <p:cNvPr id="10" name="Text 4">
            <a:extLst>
              <a:ext uri="{FF2B5EF4-FFF2-40B4-BE49-F238E27FC236}">
                <a16:creationId xmlns:a16="http://schemas.microsoft.com/office/drawing/2014/main" id="{45E773FE-AAA4-1FC1-0E69-1F95DE17410C}"/>
              </a:ext>
            </a:extLst>
          </p:cNvPr>
          <p:cNvSpPr/>
          <p:nvPr/>
        </p:nvSpPr>
        <p:spPr>
          <a:xfrm>
            <a:off x="521208" y="1014984"/>
            <a:ext cx="3041079" cy="274320"/>
          </a:xfrm>
          <a:prstGeom prst="rect">
            <a:avLst/>
          </a:prstGeom>
          <a:noFill/>
          <a:ln/>
        </p:spPr>
        <p:txBody>
          <a:bodyPr wrap="square" lIns="0" tIns="0" rIns="0" bIns="0" rtlCol="0" anchor="ctr"/>
          <a:lstStyle/>
          <a:p>
            <a:pPr marL="0" indent="0" algn="l">
              <a:buNone/>
            </a:pPr>
            <a:r>
              <a:rPr lang="en-US" sz="1100" b="1" dirty="0">
                <a:solidFill>
                  <a:srgbClr val="00A8A8"/>
                </a:solidFill>
                <a:latin typeface="Inter"/>
                <a:ea typeface="Calibri" pitchFamily="34" charset="-122"/>
                <a:cs typeface="Calibri" pitchFamily="34" charset="-120"/>
              </a:rPr>
              <a:t>Retrieval Recall@k &amp; MRR</a:t>
            </a:r>
            <a:endParaRPr lang="en-US" sz="1100" dirty="0">
              <a:latin typeface="Inter"/>
            </a:endParaRPr>
          </a:p>
        </p:txBody>
      </p:sp>
      <p:sp>
        <p:nvSpPr>
          <p:cNvPr id="30" name="Text 5">
            <a:extLst>
              <a:ext uri="{FF2B5EF4-FFF2-40B4-BE49-F238E27FC236}">
                <a16:creationId xmlns:a16="http://schemas.microsoft.com/office/drawing/2014/main" id="{9F8109CF-F2E6-501B-FDE5-2C52D40FE33E}"/>
              </a:ext>
            </a:extLst>
          </p:cNvPr>
          <p:cNvSpPr/>
          <p:nvPr/>
        </p:nvSpPr>
        <p:spPr>
          <a:xfrm>
            <a:off x="3346509" y="966403"/>
            <a:ext cx="1053348" cy="228600"/>
          </a:xfrm>
          <a:prstGeom prst="rect">
            <a:avLst/>
          </a:prstGeom>
          <a:noFill/>
          <a:ln/>
        </p:spPr>
        <p:txBody>
          <a:bodyPr wrap="square" lIns="0" tIns="0" rIns="0" bIns="0" rtlCol="0" anchor="ctr"/>
          <a:lstStyle/>
          <a:p>
            <a:pPr marL="0" indent="0" algn="r">
              <a:buNone/>
            </a:pPr>
            <a:r>
              <a:rPr lang="en-US" sz="750" i="1" dirty="0">
                <a:solidFill>
                  <a:srgbClr val="B8E0E0"/>
                </a:solidFill>
                <a:latin typeface="Inter"/>
                <a:ea typeface="Calibri" pitchFamily="34" charset="-122"/>
                <a:cs typeface="Calibri" pitchFamily="34" charset="-120"/>
              </a:rPr>
              <a:t>500_query_results.csv</a:t>
            </a:r>
            <a:endParaRPr lang="en-US" sz="750" dirty="0">
              <a:latin typeface="Inter"/>
            </a:endParaRPr>
          </a:p>
        </p:txBody>
      </p:sp>
      <p:sp>
        <p:nvSpPr>
          <p:cNvPr id="31" name="Text 6">
            <a:extLst>
              <a:ext uri="{FF2B5EF4-FFF2-40B4-BE49-F238E27FC236}">
                <a16:creationId xmlns:a16="http://schemas.microsoft.com/office/drawing/2014/main" id="{6EDC345F-6341-BD6F-D317-8F0C9FC31D8A}"/>
              </a:ext>
            </a:extLst>
          </p:cNvPr>
          <p:cNvSpPr/>
          <p:nvPr/>
        </p:nvSpPr>
        <p:spPr>
          <a:xfrm>
            <a:off x="521208" y="1307592"/>
            <a:ext cx="3828182" cy="475488"/>
          </a:xfrm>
          <a:prstGeom prst="rect">
            <a:avLst/>
          </a:prstGeom>
          <a:noFill/>
          <a:ln/>
        </p:spPr>
        <p:txBody>
          <a:bodyPr wrap="square" lIns="0" tIns="0" rIns="0" bIns="0" rtlCol="0" anchor="ctr"/>
          <a:lstStyle/>
          <a:p>
            <a:pPr marL="0" indent="0" algn="l">
              <a:buNone/>
            </a:pPr>
            <a:r>
              <a:rPr lang="en-US" sz="1000" dirty="0">
                <a:solidFill>
                  <a:srgbClr val="F4F8F8"/>
                </a:solidFill>
                <a:latin typeface="Inter"/>
                <a:ea typeface="Calibri" pitchFamily="34" charset="-122"/>
                <a:cs typeface="Calibri" pitchFamily="34" charset="-120"/>
              </a:rPr>
              <a:t>Self-retrieval over 500 queries: does the source ticket appear in top-k results?</a:t>
            </a:r>
            <a:endParaRPr lang="en-US" sz="1000" dirty="0">
              <a:latin typeface="Inter"/>
            </a:endParaRPr>
          </a:p>
        </p:txBody>
      </p:sp>
      <p:sp>
        <p:nvSpPr>
          <p:cNvPr id="37" name="Shape 7">
            <a:extLst>
              <a:ext uri="{FF2B5EF4-FFF2-40B4-BE49-F238E27FC236}">
                <a16:creationId xmlns:a16="http://schemas.microsoft.com/office/drawing/2014/main" id="{527A0537-4699-7F46-1FE9-D34D4BB02358}"/>
              </a:ext>
            </a:extLst>
          </p:cNvPr>
          <p:cNvSpPr/>
          <p:nvPr/>
        </p:nvSpPr>
        <p:spPr>
          <a:xfrm>
            <a:off x="4818888" y="960120"/>
            <a:ext cx="3913632" cy="877824"/>
          </a:xfrm>
          <a:prstGeom prst="rect">
            <a:avLst/>
          </a:prstGeom>
          <a:solidFill>
            <a:srgbClr val="132840"/>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ndParaRPr>
          </a:p>
        </p:txBody>
      </p:sp>
      <p:sp>
        <p:nvSpPr>
          <p:cNvPr id="38" name="Text 8">
            <a:extLst>
              <a:ext uri="{FF2B5EF4-FFF2-40B4-BE49-F238E27FC236}">
                <a16:creationId xmlns:a16="http://schemas.microsoft.com/office/drawing/2014/main" id="{CCD4F7FD-9B51-0182-9282-58901D1E0E2D}"/>
              </a:ext>
            </a:extLst>
          </p:cNvPr>
          <p:cNvSpPr/>
          <p:nvPr/>
        </p:nvSpPr>
        <p:spPr>
          <a:xfrm>
            <a:off x="4928617" y="1014984"/>
            <a:ext cx="1900108" cy="274320"/>
          </a:xfrm>
          <a:prstGeom prst="rect">
            <a:avLst/>
          </a:prstGeom>
          <a:noFill/>
          <a:ln/>
        </p:spPr>
        <p:txBody>
          <a:bodyPr wrap="square" lIns="0" tIns="0" rIns="0" bIns="0" rtlCol="0" anchor="ctr"/>
          <a:lstStyle/>
          <a:p>
            <a:pPr marL="0" indent="0" algn="l">
              <a:buNone/>
            </a:pPr>
            <a:r>
              <a:rPr lang="en-US" sz="1100" b="1" dirty="0">
                <a:solidFill>
                  <a:srgbClr val="00A8A8"/>
                </a:solidFill>
                <a:latin typeface="Inter"/>
                <a:ea typeface="Calibri" pitchFamily="34" charset="-122"/>
                <a:cs typeface="Calibri" pitchFamily="34" charset="-120"/>
              </a:rPr>
              <a:t>Hallucination Rate</a:t>
            </a:r>
            <a:endParaRPr lang="en-US" sz="1100" dirty="0">
              <a:latin typeface="Inter"/>
            </a:endParaRPr>
          </a:p>
        </p:txBody>
      </p:sp>
      <p:sp>
        <p:nvSpPr>
          <p:cNvPr id="39" name="Text 9">
            <a:extLst>
              <a:ext uri="{FF2B5EF4-FFF2-40B4-BE49-F238E27FC236}">
                <a16:creationId xmlns:a16="http://schemas.microsoft.com/office/drawing/2014/main" id="{0AE47726-EAAE-41F1-61E5-D0F74F07627B}"/>
              </a:ext>
            </a:extLst>
          </p:cNvPr>
          <p:cNvSpPr/>
          <p:nvPr/>
        </p:nvSpPr>
        <p:spPr>
          <a:xfrm>
            <a:off x="7328748" y="1014984"/>
            <a:ext cx="1326508" cy="164592"/>
          </a:xfrm>
          <a:prstGeom prst="rect">
            <a:avLst/>
          </a:prstGeom>
          <a:noFill/>
          <a:ln/>
        </p:spPr>
        <p:txBody>
          <a:bodyPr wrap="square" lIns="0" tIns="0" rIns="0" bIns="0" rtlCol="0" anchor="ctr"/>
          <a:lstStyle/>
          <a:p>
            <a:pPr marL="0" indent="0" algn="r">
              <a:buNone/>
            </a:pPr>
            <a:r>
              <a:rPr lang="en-US" sz="750" i="1" dirty="0">
                <a:solidFill>
                  <a:srgbClr val="B8E0E0"/>
                </a:solidFill>
                <a:latin typeface="Inter"/>
                <a:ea typeface="Calibri" pitchFamily="34" charset="-122"/>
                <a:cs typeface="Calibri" pitchFamily="34" charset="-120"/>
              </a:rPr>
              <a:t>hallucination_comparison.csv</a:t>
            </a:r>
            <a:endParaRPr lang="en-US" sz="750" dirty="0">
              <a:latin typeface="Inter"/>
            </a:endParaRPr>
          </a:p>
        </p:txBody>
      </p:sp>
      <p:sp>
        <p:nvSpPr>
          <p:cNvPr id="40" name="Text 10">
            <a:extLst>
              <a:ext uri="{FF2B5EF4-FFF2-40B4-BE49-F238E27FC236}">
                <a16:creationId xmlns:a16="http://schemas.microsoft.com/office/drawing/2014/main" id="{E15CE595-9327-2E11-30CD-EF4AD7043BA5}"/>
              </a:ext>
            </a:extLst>
          </p:cNvPr>
          <p:cNvSpPr/>
          <p:nvPr/>
        </p:nvSpPr>
        <p:spPr>
          <a:xfrm>
            <a:off x="4928616" y="1307592"/>
            <a:ext cx="3657281" cy="475488"/>
          </a:xfrm>
          <a:prstGeom prst="rect">
            <a:avLst/>
          </a:prstGeom>
          <a:noFill/>
          <a:ln/>
        </p:spPr>
        <p:txBody>
          <a:bodyPr wrap="square" lIns="0" tIns="0" rIns="0" bIns="0" rtlCol="0" anchor="ctr"/>
          <a:lstStyle/>
          <a:p>
            <a:pPr marL="0" indent="0" algn="l">
              <a:buNone/>
            </a:pPr>
            <a:r>
              <a:rPr lang="en-US" sz="1000" dirty="0">
                <a:solidFill>
                  <a:srgbClr val="F4F8F8"/>
                </a:solidFill>
                <a:latin typeface="Inter"/>
                <a:ea typeface="Calibri" pitchFamily="34" charset="-122"/>
                <a:cs typeface="Calibri" pitchFamily="34" charset="-120"/>
              </a:rPr>
              <a:t>LLM-as-judge scores groundedness, specificity, accuracy (1–5). Binary hallucination flag per query.</a:t>
            </a:r>
            <a:endParaRPr lang="en-US" sz="1000" dirty="0">
              <a:latin typeface="Inter"/>
            </a:endParaRPr>
          </a:p>
        </p:txBody>
      </p:sp>
      <p:sp>
        <p:nvSpPr>
          <p:cNvPr id="41" name="Shape 11">
            <a:extLst>
              <a:ext uri="{FF2B5EF4-FFF2-40B4-BE49-F238E27FC236}">
                <a16:creationId xmlns:a16="http://schemas.microsoft.com/office/drawing/2014/main" id="{45A6F8F3-B908-D3C0-758C-BEE7A4F7ADBB}"/>
              </a:ext>
            </a:extLst>
          </p:cNvPr>
          <p:cNvSpPr/>
          <p:nvPr/>
        </p:nvSpPr>
        <p:spPr>
          <a:xfrm>
            <a:off x="411480" y="1929384"/>
            <a:ext cx="4096512" cy="877824"/>
          </a:xfrm>
          <a:prstGeom prst="rect">
            <a:avLst/>
          </a:prstGeom>
          <a:solidFill>
            <a:srgbClr val="132840"/>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ndParaRPr>
          </a:p>
        </p:txBody>
      </p:sp>
      <p:sp>
        <p:nvSpPr>
          <p:cNvPr id="42" name="Text 12">
            <a:extLst>
              <a:ext uri="{FF2B5EF4-FFF2-40B4-BE49-F238E27FC236}">
                <a16:creationId xmlns:a16="http://schemas.microsoft.com/office/drawing/2014/main" id="{CF957ED6-4BDE-67A9-941D-4216C2F3BEC5}"/>
              </a:ext>
            </a:extLst>
          </p:cNvPr>
          <p:cNvSpPr/>
          <p:nvPr/>
        </p:nvSpPr>
        <p:spPr>
          <a:xfrm>
            <a:off x="521208" y="1984248"/>
            <a:ext cx="3041079" cy="274320"/>
          </a:xfrm>
          <a:prstGeom prst="rect">
            <a:avLst/>
          </a:prstGeom>
          <a:noFill/>
          <a:ln/>
        </p:spPr>
        <p:txBody>
          <a:bodyPr wrap="square" lIns="0" tIns="0" rIns="0" bIns="0" rtlCol="0" anchor="ctr"/>
          <a:lstStyle/>
          <a:p>
            <a:pPr marL="0" indent="0" algn="l">
              <a:buNone/>
            </a:pPr>
            <a:r>
              <a:rPr lang="en-US" sz="1100" b="1" dirty="0">
                <a:solidFill>
                  <a:srgbClr val="00A8A8"/>
                </a:solidFill>
                <a:latin typeface="Inter"/>
                <a:ea typeface="Calibri" pitchFamily="34" charset="-122"/>
                <a:cs typeface="Calibri" pitchFamily="34" charset="-120"/>
              </a:rPr>
              <a:t>Dedup F1 (Precision/Recall)</a:t>
            </a:r>
            <a:endParaRPr lang="en-US" sz="1100" dirty="0">
              <a:latin typeface="Inter"/>
            </a:endParaRPr>
          </a:p>
        </p:txBody>
      </p:sp>
      <p:sp>
        <p:nvSpPr>
          <p:cNvPr id="43" name="Text 13">
            <a:extLst>
              <a:ext uri="{FF2B5EF4-FFF2-40B4-BE49-F238E27FC236}">
                <a16:creationId xmlns:a16="http://schemas.microsoft.com/office/drawing/2014/main" id="{CF0A5703-18E4-1BF6-8B40-8193B2B01ABB}"/>
              </a:ext>
            </a:extLst>
          </p:cNvPr>
          <p:cNvSpPr/>
          <p:nvPr/>
        </p:nvSpPr>
        <p:spPr>
          <a:xfrm>
            <a:off x="3116788" y="1936157"/>
            <a:ext cx="1319919" cy="228600"/>
          </a:xfrm>
          <a:prstGeom prst="rect">
            <a:avLst/>
          </a:prstGeom>
          <a:noFill/>
          <a:ln/>
        </p:spPr>
        <p:txBody>
          <a:bodyPr wrap="square" lIns="0" tIns="0" rIns="0" bIns="0" rtlCol="0" anchor="ctr"/>
          <a:lstStyle/>
          <a:p>
            <a:pPr marL="0" indent="0" algn="r">
              <a:buNone/>
            </a:pPr>
            <a:r>
              <a:rPr lang="en-US" sz="750" i="1" dirty="0">
                <a:solidFill>
                  <a:srgbClr val="B8E0E0"/>
                </a:solidFill>
                <a:latin typeface="Inter"/>
                <a:ea typeface="Calibri" pitchFamily="34" charset="-122"/>
                <a:cs typeface="Calibri" pitchFamily="34" charset="-120"/>
              </a:rPr>
              <a:t>dedup_threshold_results.csv</a:t>
            </a:r>
            <a:endParaRPr lang="en-US" sz="750" dirty="0">
              <a:latin typeface="Inter"/>
            </a:endParaRPr>
          </a:p>
        </p:txBody>
      </p:sp>
      <p:sp>
        <p:nvSpPr>
          <p:cNvPr id="45" name="Text 14">
            <a:extLst>
              <a:ext uri="{FF2B5EF4-FFF2-40B4-BE49-F238E27FC236}">
                <a16:creationId xmlns:a16="http://schemas.microsoft.com/office/drawing/2014/main" id="{9461F01B-DEE8-221E-32F7-186395093274}"/>
              </a:ext>
            </a:extLst>
          </p:cNvPr>
          <p:cNvSpPr/>
          <p:nvPr/>
        </p:nvSpPr>
        <p:spPr>
          <a:xfrm>
            <a:off x="521208" y="2276856"/>
            <a:ext cx="3828182" cy="475488"/>
          </a:xfrm>
          <a:prstGeom prst="rect">
            <a:avLst/>
          </a:prstGeom>
          <a:noFill/>
          <a:ln/>
        </p:spPr>
        <p:txBody>
          <a:bodyPr wrap="square" lIns="0" tIns="0" rIns="0" bIns="0" rtlCol="0" anchor="ctr"/>
          <a:lstStyle/>
          <a:p>
            <a:pPr marL="0" indent="0" algn="l">
              <a:buNone/>
            </a:pPr>
            <a:r>
              <a:rPr lang="en-US" sz="1000" dirty="0">
                <a:solidFill>
                  <a:srgbClr val="F4F8F8"/>
                </a:solidFill>
                <a:latin typeface="Inter"/>
                <a:ea typeface="Calibri" pitchFamily="34" charset="-122"/>
                <a:cs typeface="Calibri" pitchFamily="34" charset="-120"/>
              </a:rPr>
              <a:t>Similarity threshold sweep (τ) on 82 positive + 200 negative pairs. Cost-sensitive F1 objective.</a:t>
            </a:r>
            <a:endParaRPr lang="en-US" sz="1000" dirty="0">
              <a:latin typeface="Inter"/>
            </a:endParaRPr>
          </a:p>
        </p:txBody>
      </p:sp>
      <p:sp>
        <p:nvSpPr>
          <p:cNvPr id="46" name="Shape 15">
            <a:extLst>
              <a:ext uri="{FF2B5EF4-FFF2-40B4-BE49-F238E27FC236}">
                <a16:creationId xmlns:a16="http://schemas.microsoft.com/office/drawing/2014/main" id="{36CA8DA3-0AAC-5025-4D4F-EA74752AF43F}"/>
              </a:ext>
            </a:extLst>
          </p:cNvPr>
          <p:cNvSpPr/>
          <p:nvPr/>
        </p:nvSpPr>
        <p:spPr>
          <a:xfrm>
            <a:off x="4818888" y="1936157"/>
            <a:ext cx="3913632" cy="877824"/>
          </a:xfrm>
          <a:prstGeom prst="rect">
            <a:avLst/>
          </a:prstGeom>
          <a:solidFill>
            <a:srgbClr val="132840"/>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ndParaRPr>
          </a:p>
        </p:txBody>
      </p:sp>
      <p:sp>
        <p:nvSpPr>
          <p:cNvPr id="47" name="Text 16">
            <a:extLst>
              <a:ext uri="{FF2B5EF4-FFF2-40B4-BE49-F238E27FC236}">
                <a16:creationId xmlns:a16="http://schemas.microsoft.com/office/drawing/2014/main" id="{6B1757AC-9C17-8E4A-A991-A01DD495B09C}"/>
              </a:ext>
            </a:extLst>
          </p:cNvPr>
          <p:cNvSpPr/>
          <p:nvPr/>
        </p:nvSpPr>
        <p:spPr>
          <a:xfrm>
            <a:off x="4928616" y="1984248"/>
            <a:ext cx="2905316" cy="274320"/>
          </a:xfrm>
          <a:prstGeom prst="rect">
            <a:avLst/>
          </a:prstGeom>
          <a:noFill/>
          <a:ln/>
        </p:spPr>
        <p:txBody>
          <a:bodyPr wrap="square" lIns="0" tIns="0" rIns="0" bIns="0" rtlCol="0" anchor="ctr"/>
          <a:lstStyle/>
          <a:p>
            <a:pPr marL="0" indent="0" algn="l">
              <a:buNone/>
            </a:pPr>
            <a:r>
              <a:rPr lang="en-US" sz="1100" b="1" dirty="0">
                <a:solidFill>
                  <a:srgbClr val="00A8A8"/>
                </a:solidFill>
                <a:latin typeface="Inter"/>
                <a:ea typeface="Calibri" pitchFamily="34" charset="-122"/>
                <a:cs typeface="Calibri" pitchFamily="34" charset="-120"/>
              </a:rPr>
              <a:t>Perturbation Jaccard Top-10</a:t>
            </a:r>
            <a:endParaRPr lang="en-US" sz="1100" dirty="0">
              <a:latin typeface="Inter"/>
            </a:endParaRPr>
          </a:p>
        </p:txBody>
      </p:sp>
      <p:sp>
        <p:nvSpPr>
          <p:cNvPr id="48" name="Text 17">
            <a:extLst>
              <a:ext uri="{FF2B5EF4-FFF2-40B4-BE49-F238E27FC236}">
                <a16:creationId xmlns:a16="http://schemas.microsoft.com/office/drawing/2014/main" id="{CD067256-F9FD-DB6A-F7F6-279490193F6B}"/>
              </a:ext>
            </a:extLst>
          </p:cNvPr>
          <p:cNvSpPr/>
          <p:nvPr/>
        </p:nvSpPr>
        <p:spPr>
          <a:xfrm>
            <a:off x="7232353" y="1956816"/>
            <a:ext cx="1422903" cy="228600"/>
          </a:xfrm>
          <a:prstGeom prst="rect">
            <a:avLst/>
          </a:prstGeom>
          <a:noFill/>
          <a:ln/>
        </p:spPr>
        <p:txBody>
          <a:bodyPr wrap="square" lIns="0" tIns="0" rIns="0" bIns="0" rtlCol="0" anchor="ctr"/>
          <a:lstStyle/>
          <a:p>
            <a:pPr marL="0" indent="0" algn="r">
              <a:buNone/>
            </a:pPr>
            <a:r>
              <a:rPr lang="en-US" sz="750" i="1" dirty="0">
                <a:solidFill>
                  <a:srgbClr val="B8E0E0"/>
                </a:solidFill>
                <a:latin typeface="Inter"/>
                <a:ea typeface="Calibri" pitchFamily="34" charset="-122"/>
                <a:cs typeface="Calibri" pitchFamily="34" charset="-120"/>
              </a:rPr>
              <a:t>perturbation_stability_n500.csv</a:t>
            </a:r>
            <a:endParaRPr lang="en-US" sz="750" dirty="0">
              <a:latin typeface="Inter"/>
            </a:endParaRPr>
          </a:p>
        </p:txBody>
      </p:sp>
      <p:sp>
        <p:nvSpPr>
          <p:cNvPr id="49" name="Text 18">
            <a:extLst>
              <a:ext uri="{FF2B5EF4-FFF2-40B4-BE49-F238E27FC236}">
                <a16:creationId xmlns:a16="http://schemas.microsoft.com/office/drawing/2014/main" id="{664C895B-A715-587A-A781-80F9F00E86D2}"/>
              </a:ext>
            </a:extLst>
          </p:cNvPr>
          <p:cNvSpPr/>
          <p:nvPr/>
        </p:nvSpPr>
        <p:spPr>
          <a:xfrm>
            <a:off x="4928616" y="2276856"/>
            <a:ext cx="3657281" cy="475488"/>
          </a:xfrm>
          <a:prstGeom prst="rect">
            <a:avLst/>
          </a:prstGeom>
          <a:noFill/>
          <a:ln/>
        </p:spPr>
        <p:txBody>
          <a:bodyPr wrap="square" lIns="0" tIns="0" rIns="0" bIns="0" rtlCol="0" anchor="ctr"/>
          <a:lstStyle/>
          <a:p>
            <a:pPr marL="0" indent="0" algn="l">
              <a:buNone/>
            </a:pPr>
            <a:r>
              <a:rPr lang="en-US" sz="1000" dirty="0">
                <a:solidFill>
                  <a:srgbClr val="F4F8F8"/>
                </a:solidFill>
                <a:latin typeface="Inter"/>
                <a:ea typeface="Calibri" pitchFamily="34" charset="-122"/>
                <a:cs typeface="Calibri" pitchFamily="34" charset="-120"/>
              </a:rPr>
              <a:t>Set similarity of top-10 retrieved IDs across 5 query variants. Measures robustness under typos and noise.</a:t>
            </a:r>
            <a:endParaRPr lang="en-US" sz="1000" dirty="0">
              <a:latin typeface="Inter"/>
            </a:endParaRPr>
          </a:p>
        </p:txBody>
      </p:sp>
      <p:sp>
        <p:nvSpPr>
          <p:cNvPr id="50" name="Shape 19">
            <a:extLst>
              <a:ext uri="{FF2B5EF4-FFF2-40B4-BE49-F238E27FC236}">
                <a16:creationId xmlns:a16="http://schemas.microsoft.com/office/drawing/2014/main" id="{6092422A-6351-9DD9-5C91-27797A7F4CC9}"/>
              </a:ext>
            </a:extLst>
          </p:cNvPr>
          <p:cNvSpPr/>
          <p:nvPr/>
        </p:nvSpPr>
        <p:spPr>
          <a:xfrm>
            <a:off x="411480" y="2898648"/>
            <a:ext cx="4096512" cy="877824"/>
          </a:xfrm>
          <a:prstGeom prst="rect">
            <a:avLst/>
          </a:prstGeom>
          <a:solidFill>
            <a:srgbClr val="132840"/>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ndParaRPr>
          </a:p>
        </p:txBody>
      </p:sp>
      <p:sp>
        <p:nvSpPr>
          <p:cNvPr id="51" name="Text 20">
            <a:extLst>
              <a:ext uri="{FF2B5EF4-FFF2-40B4-BE49-F238E27FC236}">
                <a16:creationId xmlns:a16="http://schemas.microsoft.com/office/drawing/2014/main" id="{993A73F2-F47D-9FE5-241F-09CEB7D6221A}"/>
              </a:ext>
            </a:extLst>
          </p:cNvPr>
          <p:cNvSpPr/>
          <p:nvPr/>
        </p:nvSpPr>
        <p:spPr>
          <a:xfrm>
            <a:off x="521208" y="2953512"/>
            <a:ext cx="3041079" cy="274320"/>
          </a:xfrm>
          <a:prstGeom prst="rect">
            <a:avLst/>
          </a:prstGeom>
          <a:noFill/>
          <a:ln/>
        </p:spPr>
        <p:txBody>
          <a:bodyPr wrap="square" lIns="0" tIns="0" rIns="0" bIns="0" rtlCol="0" anchor="ctr"/>
          <a:lstStyle/>
          <a:p>
            <a:pPr marL="0" indent="0" algn="l">
              <a:buNone/>
            </a:pPr>
            <a:r>
              <a:rPr lang="en-US" sz="1100" b="1" dirty="0">
                <a:solidFill>
                  <a:srgbClr val="00A8A8"/>
                </a:solidFill>
                <a:latin typeface="Inter"/>
                <a:ea typeface="Calibri" pitchFamily="34" charset="-122"/>
                <a:cs typeface="Calibri" pitchFamily="34" charset="-120"/>
              </a:rPr>
              <a:t>Latency (P50 / P95)</a:t>
            </a:r>
            <a:endParaRPr lang="en-US" sz="1100" dirty="0">
              <a:latin typeface="Inter"/>
            </a:endParaRPr>
          </a:p>
        </p:txBody>
      </p:sp>
      <p:sp>
        <p:nvSpPr>
          <p:cNvPr id="52" name="Text 21">
            <a:extLst>
              <a:ext uri="{FF2B5EF4-FFF2-40B4-BE49-F238E27FC236}">
                <a16:creationId xmlns:a16="http://schemas.microsoft.com/office/drawing/2014/main" id="{97261E2D-710E-7CD7-59F0-9884FD7DA722}"/>
              </a:ext>
            </a:extLst>
          </p:cNvPr>
          <p:cNvSpPr/>
          <p:nvPr/>
        </p:nvSpPr>
        <p:spPr>
          <a:xfrm>
            <a:off x="3512315" y="2926080"/>
            <a:ext cx="921268" cy="228600"/>
          </a:xfrm>
          <a:prstGeom prst="rect">
            <a:avLst/>
          </a:prstGeom>
          <a:noFill/>
          <a:ln/>
        </p:spPr>
        <p:txBody>
          <a:bodyPr wrap="square" lIns="0" tIns="0" rIns="0" bIns="0" rtlCol="0" anchor="ctr"/>
          <a:lstStyle/>
          <a:p>
            <a:pPr marL="0" indent="0" algn="r">
              <a:buNone/>
            </a:pPr>
            <a:r>
              <a:rPr lang="en-US" sz="750" i="1" dirty="0">
                <a:solidFill>
                  <a:srgbClr val="B8E0E0"/>
                </a:solidFill>
                <a:latin typeface="Inter"/>
                <a:ea typeface="Calibri" pitchFamily="34" charset="-122"/>
                <a:cs typeface="Calibri" pitchFamily="34" charset="-120"/>
              </a:rPr>
              <a:t>latency_results.json</a:t>
            </a:r>
            <a:endParaRPr lang="en-US" sz="750" dirty="0">
              <a:latin typeface="Inter"/>
            </a:endParaRPr>
          </a:p>
        </p:txBody>
      </p:sp>
      <p:sp>
        <p:nvSpPr>
          <p:cNvPr id="53" name="Text 22">
            <a:extLst>
              <a:ext uri="{FF2B5EF4-FFF2-40B4-BE49-F238E27FC236}">
                <a16:creationId xmlns:a16="http://schemas.microsoft.com/office/drawing/2014/main" id="{055C59A7-D35C-0CF5-AF3F-A4C1800DB69D}"/>
              </a:ext>
            </a:extLst>
          </p:cNvPr>
          <p:cNvSpPr/>
          <p:nvPr/>
        </p:nvSpPr>
        <p:spPr>
          <a:xfrm>
            <a:off x="521208" y="3246120"/>
            <a:ext cx="3828182" cy="475488"/>
          </a:xfrm>
          <a:prstGeom prst="rect">
            <a:avLst/>
          </a:prstGeom>
          <a:noFill/>
          <a:ln/>
        </p:spPr>
        <p:txBody>
          <a:bodyPr wrap="square" lIns="0" tIns="0" rIns="0" bIns="0" rtlCol="0" anchor="ctr"/>
          <a:lstStyle/>
          <a:p>
            <a:pPr marL="0" indent="0" algn="l">
              <a:buNone/>
            </a:pPr>
            <a:r>
              <a:rPr lang="en-US" sz="1000" dirty="0">
                <a:solidFill>
                  <a:srgbClr val="F4F8F8"/>
                </a:solidFill>
                <a:latin typeface="Inter"/>
                <a:ea typeface="Calibri" pitchFamily="34" charset="-122"/>
                <a:cs typeface="Calibri" pitchFamily="34" charset="-120"/>
              </a:rPr>
              <a:t>Per-stage decomposition: embed → dense → BM25 → RRF → rerank → LLM. Locates bottleneck.</a:t>
            </a:r>
            <a:endParaRPr lang="en-US" sz="1000" dirty="0">
              <a:latin typeface="Inter"/>
            </a:endParaRPr>
          </a:p>
        </p:txBody>
      </p:sp>
      <p:sp>
        <p:nvSpPr>
          <p:cNvPr id="54" name="Shape 23">
            <a:extLst>
              <a:ext uri="{FF2B5EF4-FFF2-40B4-BE49-F238E27FC236}">
                <a16:creationId xmlns:a16="http://schemas.microsoft.com/office/drawing/2014/main" id="{EB9340CB-0914-F109-1517-EC5CBE260631}"/>
              </a:ext>
            </a:extLst>
          </p:cNvPr>
          <p:cNvSpPr/>
          <p:nvPr/>
        </p:nvSpPr>
        <p:spPr>
          <a:xfrm>
            <a:off x="4818888" y="2898648"/>
            <a:ext cx="3913632" cy="877824"/>
          </a:xfrm>
          <a:prstGeom prst="rect">
            <a:avLst/>
          </a:prstGeom>
          <a:solidFill>
            <a:srgbClr val="132840"/>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ndParaRPr>
          </a:p>
        </p:txBody>
      </p:sp>
      <p:sp>
        <p:nvSpPr>
          <p:cNvPr id="55" name="Text 24">
            <a:extLst>
              <a:ext uri="{FF2B5EF4-FFF2-40B4-BE49-F238E27FC236}">
                <a16:creationId xmlns:a16="http://schemas.microsoft.com/office/drawing/2014/main" id="{07E1512E-4283-D18B-BAD7-D3C09320D542}"/>
              </a:ext>
            </a:extLst>
          </p:cNvPr>
          <p:cNvSpPr/>
          <p:nvPr/>
        </p:nvSpPr>
        <p:spPr>
          <a:xfrm>
            <a:off x="4928616" y="2953512"/>
            <a:ext cx="2905316" cy="274320"/>
          </a:xfrm>
          <a:prstGeom prst="rect">
            <a:avLst/>
          </a:prstGeom>
          <a:noFill/>
          <a:ln/>
        </p:spPr>
        <p:txBody>
          <a:bodyPr wrap="square" lIns="0" tIns="0" rIns="0" bIns="0" rtlCol="0" anchor="ctr"/>
          <a:lstStyle/>
          <a:p>
            <a:pPr marL="0" indent="0" algn="l">
              <a:buNone/>
            </a:pPr>
            <a:r>
              <a:rPr lang="en-US" sz="1100" b="1" dirty="0">
                <a:solidFill>
                  <a:srgbClr val="00A8A8"/>
                </a:solidFill>
                <a:latin typeface="Inter"/>
                <a:ea typeface="Calibri" pitchFamily="34" charset="-122"/>
                <a:cs typeface="Calibri" pitchFamily="34" charset="-120"/>
              </a:rPr>
              <a:t>LoRA JSON Contract Score</a:t>
            </a:r>
            <a:endParaRPr lang="en-US" sz="1100" dirty="0">
              <a:latin typeface="Inter"/>
            </a:endParaRPr>
          </a:p>
        </p:txBody>
      </p:sp>
      <p:sp>
        <p:nvSpPr>
          <p:cNvPr id="56" name="Text 25">
            <a:extLst>
              <a:ext uri="{FF2B5EF4-FFF2-40B4-BE49-F238E27FC236}">
                <a16:creationId xmlns:a16="http://schemas.microsoft.com/office/drawing/2014/main" id="{5417AC66-7B7D-4020-3D99-210230EBDE27}"/>
              </a:ext>
            </a:extLst>
          </p:cNvPr>
          <p:cNvSpPr/>
          <p:nvPr/>
        </p:nvSpPr>
        <p:spPr>
          <a:xfrm>
            <a:off x="7490826" y="2932853"/>
            <a:ext cx="1164430" cy="228600"/>
          </a:xfrm>
          <a:prstGeom prst="rect">
            <a:avLst/>
          </a:prstGeom>
          <a:noFill/>
          <a:ln/>
        </p:spPr>
        <p:txBody>
          <a:bodyPr wrap="square" lIns="0" tIns="0" rIns="0" bIns="0" rtlCol="0" anchor="ctr"/>
          <a:lstStyle/>
          <a:p>
            <a:pPr marL="0" indent="0" algn="r">
              <a:buNone/>
            </a:pPr>
            <a:r>
              <a:rPr lang="en-US" sz="750" i="1" dirty="0">
                <a:solidFill>
                  <a:srgbClr val="B8E0E0"/>
                </a:solidFill>
                <a:latin typeface="Inter"/>
                <a:ea typeface="Calibri" pitchFamily="34" charset="-122"/>
                <a:cs typeface="Calibri" pitchFamily="34" charset="-120"/>
              </a:rPr>
              <a:t>phase6_lora_comparison.csv</a:t>
            </a:r>
            <a:endParaRPr lang="en-US" sz="750" dirty="0">
              <a:latin typeface="Inter"/>
            </a:endParaRPr>
          </a:p>
        </p:txBody>
      </p:sp>
      <p:sp>
        <p:nvSpPr>
          <p:cNvPr id="57" name="Text 26">
            <a:extLst>
              <a:ext uri="{FF2B5EF4-FFF2-40B4-BE49-F238E27FC236}">
                <a16:creationId xmlns:a16="http://schemas.microsoft.com/office/drawing/2014/main" id="{311D7D05-ED76-D04F-08DF-3D7255FEDDD0}"/>
              </a:ext>
            </a:extLst>
          </p:cNvPr>
          <p:cNvSpPr/>
          <p:nvPr/>
        </p:nvSpPr>
        <p:spPr>
          <a:xfrm>
            <a:off x="4928616" y="3246120"/>
            <a:ext cx="3657281" cy="475488"/>
          </a:xfrm>
          <a:prstGeom prst="rect">
            <a:avLst/>
          </a:prstGeom>
          <a:noFill/>
          <a:ln/>
        </p:spPr>
        <p:txBody>
          <a:bodyPr wrap="square" lIns="0" tIns="0" rIns="0" bIns="0" rtlCol="0" anchor="ctr"/>
          <a:lstStyle/>
          <a:p>
            <a:pPr marL="0" indent="0" algn="l">
              <a:buNone/>
            </a:pPr>
            <a:r>
              <a:rPr lang="en-US" sz="1000" dirty="0">
                <a:solidFill>
                  <a:srgbClr val="F4F8F8"/>
                </a:solidFill>
                <a:latin typeface="Inter"/>
                <a:ea typeface="Calibri" pitchFamily="34" charset="-122"/>
                <a:cs typeface="Calibri" pitchFamily="34" charset="-120"/>
              </a:rPr>
              <a:t>json_valid, has_reply, 2≤steps≤5, confidence ∈ [0,1], escalation flag present. Adapter vs base model.</a:t>
            </a:r>
            <a:endParaRPr lang="en-US" sz="1000" dirty="0">
              <a:latin typeface="Inter"/>
            </a:endParaRPr>
          </a:p>
        </p:txBody>
      </p:sp>
      <p:sp>
        <p:nvSpPr>
          <p:cNvPr id="58" name="Shape 27">
            <a:extLst>
              <a:ext uri="{FF2B5EF4-FFF2-40B4-BE49-F238E27FC236}">
                <a16:creationId xmlns:a16="http://schemas.microsoft.com/office/drawing/2014/main" id="{567C35DC-B344-2B16-0A09-EA65CC7A89C6}"/>
              </a:ext>
            </a:extLst>
          </p:cNvPr>
          <p:cNvSpPr/>
          <p:nvPr/>
        </p:nvSpPr>
        <p:spPr>
          <a:xfrm>
            <a:off x="411480" y="3867912"/>
            <a:ext cx="4096512" cy="877824"/>
          </a:xfrm>
          <a:prstGeom prst="rect">
            <a:avLst/>
          </a:prstGeom>
          <a:solidFill>
            <a:srgbClr val="132840"/>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ndParaRPr>
          </a:p>
        </p:txBody>
      </p:sp>
      <p:sp>
        <p:nvSpPr>
          <p:cNvPr id="59" name="Text 28">
            <a:extLst>
              <a:ext uri="{FF2B5EF4-FFF2-40B4-BE49-F238E27FC236}">
                <a16:creationId xmlns:a16="http://schemas.microsoft.com/office/drawing/2014/main" id="{F039B07F-ABE6-70DB-8058-C6A33642CE2A}"/>
              </a:ext>
            </a:extLst>
          </p:cNvPr>
          <p:cNvSpPr/>
          <p:nvPr/>
        </p:nvSpPr>
        <p:spPr>
          <a:xfrm>
            <a:off x="521208" y="3922776"/>
            <a:ext cx="3041079" cy="274320"/>
          </a:xfrm>
          <a:prstGeom prst="rect">
            <a:avLst/>
          </a:prstGeom>
          <a:noFill/>
          <a:ln/>
        </p:spPr>
        <p:txBody>
          <a:bodyPr wrap="square" lIns="0" tIns="0" rIns="0" bIns="0" rtlCol="0" anchor="ctr"/>
          <a:lstStyle/>
          <a:p>
            <a:pPr marL="0" indent="0" algn="l">
              <a:buNone/>
            </a:pPr>
            <a:r>
              <a:rPr lang="en-US" sz="1100" b="1" dirty="0">
                <a:solidFill>
                  <a:srgbClr val="00A8A8"/>
                </a:solidFill>
                <a:latin typeface="Inter"/>
                <a:ea typeface="Calibri" pitchFamily="34" charset="-122"/>
                <a:cs typeface="Calibri" pitchFamily="34" charset="-120"/>
              </a:rPr>
              <a:t>Embedding Ablation (Table 1)</a:t>
            </a:r>
            <a:endParaRPr lang="en-US" sz="1100" dirty="0">
              <a:latin typeface="Inter"/>
            </a:endParaRPr>
          </a:p>
        </p:txBody>
      </p:sp>
      <p:sp>
        <p:nvSpPr>
          <p:cNvPr id="60" name="Text 29">
            <a:extLst>
              <a:ext uri="{FF2B5EF4-FFF2-40B4-BE49-F238E27FC236}">
                <a16:creationId xmlns:a16="http://schemas.microsoft.com/office/drawing/2014/main" id="{BA604B83-0377-8C81-B601-C25554416806}"/>
              </a:ext>
            </a:extLst>
          </p:cNvPr>
          <p:cNvSpPr/>
          <p:nvPr/>
        </p:nvSpPr>
        <p:spPr>
          <a:xfrm>
            <a:off x="3512315" y="3904488"/>
            <a:ext cx="921268" cy="228600"/>
          </a:xfrm>
          <a:prstGeom prst="rect">
            <a:avLst/>
          </a:prstGeom>
          <a:noFill/>
          <a:ln/>
        </p:spPr>
        <p:txBody>
          <a:bodyPr wrap="square" lIns="0" tIns="0" rIns="0" bIns="0" rtlCol="0" anchor="ctr"/>
          <a:lstStyle/>
          <a:p>
            <a:pPr marL="0" indent="0" algn="r">
              <a:buNone/>
            </a:pPr>
            <a:r>
              <a:rPr lang="en-US" sz="750" i="1" dirty="0">
                <a:solidFill>
                  <a:srgbClr val="B8E0E0"/>
                </a:solidFill>
                <a:latin typeface="Inter"/>
                <a:ea typeface="Calibri" pitchFamily="34" charset="-122"/>
                <a:cs typeface="Calibri" pitchFamily="34" charset="-120"/>
              </a:rPr>
              <a:t>ablation_results.csv</a:t>
            </a:r>
            <a:endParaRPr lang="en-US" sz="750" dirty="0">
              <a:latin typeface="Inter"/>
            </a:endParaRPr>
          </a:p>
        </p:txBody>
      </p:sp>
      <p:sp>
        <p:nvSpPr>
          <p:cNvPr id="61" name="Text 30">
            <a:extLst>
              <a:ext uri="{FF2B5EF4-FFF2-40B4-BE49-F238E27FC236}">
                <a16:creationId xmlns:a16="http://schemas.microsoft.com/office/drawing/2014/main" id="{99EF0B90-F518-DE71-29B5-87689C8F19B5}"/>
              </a:ext>
            </a:extLst>
          </p:cNvPr>
          <p:cNvSpPr/>
          <p:nvPr/>
        </p:nvSpPr>
        <p:spPr>
          <a:xfrm>
            <a:off x="521208" y="4215384"/>
            <a:ext cx="3828182" cy="475488"/>
          </a:xfrm>
          <a:prstGeom prst="rect">
            <a:avLst/>
          </a:prstGeom>
          <a:noFill/>
          <a:ln/>
        </p:spPr>
        <p:txBody>
          <a:bodyPr wrap="square" lIns="0" tIns="0" rIns="0" bIns="0" rtlCol="0" anchor="ctr"/>
          <a:lstStyle/>
          <a:p>
            <a:pPr marL="0" indent="0" algn="l">
              <a:buNone/>
            </a:pPr>
            <a:r>
              <a:rPr lang="en-US" sz="1000" dirty="0">
                <a:solidFill>
                  <a:srgbClr val="F4F8F8"/>
                </a:solidFill>
                <a:latin typeface="Inter"/>
                <a:ea typeface="Calibri" pitchFamily="34" charset="-122"/>
                <a:cs typeface="Calibri" pitchFamily="34" charset="-120"/>
              </a:rPr>
              <a:t>5 embedding models × 6 cutoffs on 35K FAISS index. Determines best embedder before indexing 80K.</a:t>
            </a:r>
            <a:endParaRPr lang="en-US" sz="1000" dirty="0">
              <a:latin typeface="Inter"/>
            </a:endParaRPr>
          </a:p>
        </p:txBody>
      </p:sp>
      <p:sp>
        <p:nvSpPr>
          <p:cNvPr id="62" name="Shape 31">
            <a:extLst>
              <a:ext uri="{FF2B5EF4-FFF2-40B4-BE49-F238E27FC236}">
                <a16:creationId xmlns:a16="http://schemas.microsoft.com/office/drawing/2014/main" id="{B88D621C-FFED-4129-A86A-1F81AE1EC726}"/>
              </a:ext>
            </a:extLst>
          </p:cNvPr>
          <p:cNvSpPr/>
          <p:nvPr/>
        </p:nvSpPr>
        <p:spPr>
          <a:xfrm>
            <a:off x="4818888" y="3867912"/>
            <a:ext cx="3913632" cy="877824"/>
          </a:xfrm>
          <a:prstGeom prst="rect">
            <a:avLst/>
          </a:prstGeom>
          <a:solidFill>
            <a:srgbClr val="132840"/>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ndParaRPr>
          </a:p>
        </p:txBody>
      </p:sp>
      <p:sp>
        <p:nvSpPr>
          <p:cNvPr id="63" name="Text 32">
            <a:extLst>
              <a:ext uri="{FF2B5EF4-FFF2-40B4-BE49-F238E27FC236}">
                <a16:creationId xmlns:a16="http://schemas.microsoft.com/office/drawing/2014/main" id="{44CDC44B-A344-A452-301B-009EC9C389BE}"/>
              </a:ext>
            </a:extLst>
          </p:cNvPr>
          <p:cNvSpPr/>
          <p:nvPr/>
        </p:nvSpPr>
        <p:spPr>
          <a:xfrm>
            <a:off x="4928616" y="3922776"/>
            <a:ext cx="2905316" cy="274320"/>
          </a:xfrm>
          <a:prstGeom prst="rect">
            <a:avLst/>
          </a:prstGeom>
          <a:noFill/>
          <a:ln/>
        </p:spPr>
        <p:txBody>
          <a:bodyPr wrap="square" lIns="0" tIns="0" rIns="0" bIns="0" rtlCol="0" anchor="ctr"/>
          <a:lstStyle/>
          <a:p>
            <a:pPr marL="0" indent="0" algn="l">
              <a:buNone/>
            </a:pPr>
            <a:r>
              <a:rPr lang="en-US" sz="1100" b="1" dirty="0">
                <a:solidFill>
                  <a:srgbClr val="00A8A8"/>
                </a:solidFill>
                <a:latin typeface="Inter"/>
                <a:ea typeface="Calibri" pitchFamily="34" charset="-122"/>
                <a:cs typeface="Calibri" pitchFamily="34" charset="-120"/>
              </a:rPr>
              <a:t>Phase 5 Pre-LoRA Suite</a:t>
            </a:r>
            <a:endParaRPr lang="en-US" sz="1100" dirty="0">
              <a:latin typeface="Inter"/>
            </a:endParaRPr>
          </a:p>
        </p:txBody>
      </p:sp>
      <p:sp>
        <p:nvSpPr>
          <p:cNvPr id="64" name="Text 33">
            <a:extLst>
              <a:ext uri="{FF2B5EF4-FFF2-40B4-BE49-F238E27FC236}">
                <a16:creationId xmlns:a16="http://schemas.microsoft.com/office/drawing/2014/main" id="{7B0C79FD-88D4-9238-6C08-A29EEB3131CA}"/>
              </a:ext>
            </a:extLst>
          </p:cNvPr>
          <p:cNvSpPr/>
          <p:nvPr/>
        </p:nvSpPr>
        <p:spPr>
          <a:xfrm>
            <a:off x="7775116" y="3881628"/>
            <a:ext cx="880140" cy="228600"/>
          </a:xfrm>
          <a:prstGeom prst="rect">
            <a:avLst/>
          </a:prstGeom>
          <a:noFill/>
          <a:ln/>
        </p:spPr>
        <p:txBody>
          <a:bodyPr wrap="square" lIns="0" tIns="0" rIns="0" bIns="0" rtlCol="0" anchor="ctr"/>
          <a:lstStyle/>
          <a:p>
            <a:pPr marL="0" indent="0" algn="r">
              <a:buNone/>
            </a:pPr>
            <a:r>
              <a:rPr lang="en-US" sz="750" i="1" dirty="0">
                <a:solidFill>
                  <a:srgbClr val="B8E0E0"/>
                </a:solidFill>
                <a:latin typeface="Inter"/>
                <a:ea typeface="Calibri" pitchFamily="34" charset="-122"/>
                <a:cs typeface="Calibri" pitchFamily="34" charset="-120"/>
              </a:rPr>
              <a:t>phase5_summary.json</a:t>
            </a:r>
            <a:endParaRPr lang="en-US" sz="750" dirty="0">
              <a:latin typeface="Inter"/>
            </a:endParaRPr>
          </a:p>
        </p:txBody>
      </p:sp>
      <p:sp>
        <p:nvSpPr>
          <p:cNvPr id="65" name="Text 34">
            <a:extLst>
              <a:ext uri="{FF2B5EF4-FFF2-40B4-BE49-F238E27FC236}">
                <a16:creationId xmlns:a16="http://schemas.microsoft.com/office/drawing/2014/main" id="{37653347-A4C5-9844-A050-F37D1F074FCB}"/>
              </a:ext>
            </a:extLst>
          </p:cNvPr>
          <p:cNvSpPr/>
          <p:nvPr/>
        </p:nvSpPr>
        <p:spPr>
          <a:xfrm>
            <a:off x="4928616" y="4215384"/>
            <a:ext cx="3657281" cy="475488"/>
          </a:xfrm>
          <a:prstGeom prst="rect">
            <a:avLst/>
          </a:prstGeom>
          <a:noFill/>
          <a:ln/>
        </p:spPr>
        <p:txBody>
          <a:bodyPr wrap="square" lIns="0" tIns="0" rIns="0" bIns="0" rtlCol="0" anchor="ctr"/>
          <a:lstStyle/>
          <a:p>
            <a:pPr marL="0" indent="0" algn="l">
              <a:buNone/>
            </a:pPr>
            <a:r>
              <a:rPr lang="en-US" sz="1000" dirty="0">
                <a:solidFill>
                  <a:srgbClr val="F4F8F8"/>
                </a:solidFill>
                <a:latin typeface="Inter"/>
                <a:ea typeface="Calibri" pitchFamily="34" charset="-122"/>
                <a:cs typeface="Calibri" pitchFamily="34" charset="-120"/>
              </a:rPr>
              <a:t>Data readiness + triage accuracy + retrieval smoke (hit@1/5/10) + chatbot JSON contract. </a:t>
            </a:r>
            <a:endParaRPr lang="en-US" sz="1000" dirty="0">
              <a:latin typeface="Inter"/>
            </a:endParaRPr>
          </a:p>
        </p:txBody>
      </p:sp>
    </p:spTree>
    <p:extLst>
      <p:ext uri="{BB962C8B-B14F-4D97-AF65-F5344CB8AC3E}">
        <p14:creationId xmlns:p14="http://schemas.microsoft.com/office/powerpoint/2010/main" val="1762785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BFC"/>
          </a:solidFill>
          <a:ln/>
        </p:spPr>
        <p:txBody>
          <a:bodyPr/>
          <a:lstStyle/>
          <a:p>
            <a:endParaRPr lang="en-IN"/>
          </a:p>
        </p:txBody>
      </p:sp>
      <p:sp>
        <p:nvSpPr>
          <p:cNvPr id="3" name="Shape 1"/>
          <p:cNvSpPr/>
          <p:nvPr/>
        </p:nvSpPr>
        <p:spPr>
          <a:xfrm>
            <a:off x="366713" y="205643"/>
            <a:ext cx="8410575" cy="290513"/>
          </a:xfrm>
          <a:prstGeom prst="rect">
            <a:avLst/>
          </a:prstGeom>
          <a:ln/>
        </p:spPr>
        <p:txBody>
          <a:bodyPr/>
          <a:lstStyle/>
          <a:p>
            <a:endParaRPr lang="en-IN"/>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p:cNvSpPr/>
          <p:nvPr/>
        </p:nvSpPr>
        <p:spPr>
          <a:xfrm>
            <a:off x="7140513" y="228042"/>
            <a:ext cx="862012"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MODEL SELECTION</a:t>
            </a:r>
            <a:endParaRPr lang="en-US" sz="700" dirty="0"/>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p:cNvSpPr/>
          <p:nvPr/>
        </p:nvSpPr>
        <p:spPr>
          <a:xfrm>
            <a:off x="373013" y="552673"/>
            <a:ext cx="4024312" cy="300038"/>
          </a:xfrm>
          <a:prstGeom prst="rect">
            <a:avLst/>
          </a:prstGeom>
          <a:ln/>
        </p:spPr>
        <p:txBody>
          <a:bodyPr wrap="square" lIns="0" tIns="0" rIns="0" bIns="0" rtlCol="0" anchor="t"/>
          <a:lstStyle/>
          <a:p>
            <a:pPr marL="0" indent="0" algn="l">
              <a:lnSpc>
                <a:spcPts val="2376"/>
              </a:lnSpc>
              <a:spcAft>
                <a:spcPts val="405"/>
              </a:spcAft>
              <a:buNone/>
            </a:pPr>
            <a:r>
              <a:rPr lang="en-US" sz="2100" b="1" dirty="0">
                <a:solidFill>
                  <a:srgbClr val="1E3A5F"/>
                </a:solidFill>
                <a:latin typeface="Inter" pitchFamily="34" charset="0"/>
                <a:ea typeface="Inter" pitchFamily="34" charset="-122"/>
                <a:cs typeface="Inter" pitchFamily="34" charset="-120"/>
              </a:rPr>
              <a:t>Model Selection</a:t>
            </a:r>
            <a:endParaRPr lang="en-US" sz="2100" dirty="0"/>
          </a:p>
        </p:txBody>
      </p:sp>
      <p:sp>
        <p:nvSpPr>
          <p:cNvPr id="10" name="Shape 8"/>
          <p:cNvSpPr/>
          <p:nvPr/>
        </p:nvSpPr>
        <p:spPr>
          <a:xfrm>
            <a:off x="5500846" y="3608924"/>
            <a:ext cx="3054154" cy="1056213"/>
          </a:xfrm>
          <a:prstGeom prst="roundRect">
            <a:avLst>
              <a:gd name="adj" fmla="val 2829"/>
            </a:avLst>
          </a:prstGeom>
          <a:solidFill>
            <a:srgbClr val="0D9488"/>
          </a:solidFill>
          <a:ln/>
          <a:effectLst>
            <a:outerShdw blurRad="95250" dist="19050" dir="5400000" algn="bl" rotWithShape="0">
              <a:srgbClr val="0D9488">
                <a:alpha val="20000"/>
              </a:srgbClr>
            </a:outerShdw>
          </a:effectLst>
        </p:spPr>
        <p:txBody>
          <a:bodyPr/>
          <a:lstStyle/>
          <a:p>
            <a:endParaRPr lang="en-IN" sz="2000" dirty="0"/>
          </a:p>
        </p:txBody>
      </p:sp>
      <p:sp>
        <p:nvSpPr>
          <p:cNvPr id="12" name="Text 10"/>
          <p:cNvSpPr/>
          <p:nvPr/>
        </p:nvSpPr>
        <p:spPr>
          <a:xfrm>
            <a:off x="5630768" y="3597413"/>
            <a:ext cx="2377364" cy="218283"/>
          </a:xfrm>
          <a:prstGeom prst="rect">
            <a:avLst/>
          </a:prstGeom>
          <a:ln/>
        </p:spPr>
        <p:txBody>
          <a:bodyPr wrap="square" lIns="0" tIns="0" rIns="0" bIns="0" rtlCol="0" anchor="t"/>
          <a:lstStyle/>
          <a:p>
            <a:pPr marL="0" indent="0" algn="l">
              <a:lnSpc>
                <a:spcPts val="1620"/>
              </a:lnSpc>
              <a:spcAft>
                <a:spcPts val="203"/>
              </a:spcAft>
              <a:buNone/>
            </a:pPr>
            <a:r>
              <a:rPr lang="en-US" sz="1000" b="1" dirty="0">
                <a:solidFill>
                  <a:srgbClr val="FFFFFF"/>
                </a:solidFill>
                <a:latin typeface="monospace" pitchFamily="34" charset="0"/>
                <a:ea typeface="monospace" pitchFamily="34" charset="-122"/>
                <a:cs typeface="monospace" pitchFamily="34" charset="-120"/>
              </a:rPr>
              <a:t>Qwen3-Embedding-0.6B</a:t>
            </a:r>
            <a:endParaRPr lang="en-US" sz="1000" dirty="0"/>
          </a:p>
        </p:txBody>
      </p:sp>
      <p:sp>
        <p:nvSpPr>
          <p:cNvPr id="15" name="Text 13"/>
          <p:cNvSpPr/>
          <p:nvPr/>
        </p:nvSpPr>
        <p:spPr>
          <a:xfrm>
            <a:off x="5633024" y="3860096"/>
            <a:ext cx="2312173" cy="154914"/>
          </a:xfrm>
          <a:prstGeom prst="rect">
            <a:avLst/>
          </a:prstGeom>
          <a:ln/>
        </p:spPr>
        <p:txBody>
          <a:bodyPr wrap="square" lIns="0" tIns="0" rIns="0" bIns="0" rtlCol="0" anchor="t"/>
          <a:lstStyle/>
          <a:p>
            <a:pPr marL="0" indent="0" algn="l">
              <a:lnSpc>
                <a:spcPts val="1080"/>
              </a:lnSpc>
              <a:spcAft>
                <a:spcPts val="405"/>
              </a:spcAft>
              <a:buNone/>
            </a:pPr>
            <a:r>
              <a:rPr lang="en-US" sz="800" b="1" dirty="0">
                <a:solidFill>
                  <a:srgbClr val="FFFFFF"/>
                </a:solidFill>
                <a:latin typeface="Inter" pitchFamily="34" charset="0"/>
                <a:ea typeface="Inter" pitchFamily="34" charset="-122"/>
                <a:cs typeface="Inter" pitchFamily="34" charset="-120"/>
              </a:rPr>
              <a:t>Why Selected</a:t>
            </a:r>
            <a:endParaRPr lang="en-US" sz="800" dirty="0"/>
          </a:p>
        </p:txBody>
      </p:sp>
      <p:sp>
        <p:nvSpPr>
          <p:cNvPr id="16" name="Text 14"/>
          <p:cNvSpPr/>
          <p:nvPr/>
        </p:nvSpPr>
        <p:spPr>
          <a:xfrm>
            <a:off x="5633024" y="4049703"/>
            <a:ext cx="2535687" cy="111769"/>
          </a:xfrm>
          <a:prstGeom prst="rect">
            <a:avLst/>
          </a:prstGeom>
          <a:ln/>
        </p:spPr>
        <p:txBody>
          <a:bodyPr wrap="square" lIns="0" tIns="0" rIns="0" bIns="0" rtlCol="0" anchor="t"/>
          <a:lstStyle/>
          <a:p>
            <a:pPr marL="0" indent="0" algn="l">
              <a:lnSpc>
                <a:spcPts val="1134"/>
              </a:lnSpc>
              <a:buNone/>
            </a:pPr>
            <a:r>
              <a:rPr lang="en-US" sz="800" dirty="0">
                <a:solidFill>
                  <a:srgbClr val="FFFFFF"/>
                </a:solidFill>
                <a:latin typeface="Inter" pitchFamily="34" charset="0"/>
                <a:ea typeface="Inter" pitchFamily="34" charset="-122"/>
                <a:cs typeface="Inter" pitchFamily="34" charset="-120"/>
              </a:rPr>
              <a:t>Highest MRR among all models tested</a:t>
            </a:r>
            <a:endParaRPr lang="en-US" sz="800" dirty="0"/>
          </a:p>
        </p:txBody>
      </p:sp>
      <p:sp>
        <p:nvSpPr>
          <p:cNvPr id="17" name="Text 15"/>
          <p:cNvSpPr/>
          <p:nvPr/>
        </p:nvSpPr>
        <p:spPr>
          <a:xfrm>
            <a:off x="5633024" y="4224500"/>
            <a:ext cx="2638130" cy="135501"/>
          </a:xfrm>
          <a:prstGeom prst="rect">
            <a:avLst/>
          </a:prstGeom>
          <a:ln/>
        </p:spPr>
        <p:txBody>
          <a:bodyPr wrap="square" lIns="0" tIns="0" rIns="0" bIns="0" rtlCol="0" anchor="t"/>
          <a:lstStyle/>
          <a:p>
            <a:pPr marL="0" indent="0" algn="l">
              <a:lnSpc>
                <a:spcPts val="1134"/>
              </a:lnSpc>
              <a:buNone/>
            </a:pPr>
            <a:r>
              <a:rPr lang="en-US" sz="800" dirty="0">
                <a:solidFill>
                  <a:srgbClr val="FFFFFF"/>
                </a:solidFill>
                <a:latin typeface="Inter" pitchFamily="34" charset="0"/>
                <a:ea typeface="Inter" pitchFamily="34" charset="-122"/>
                <a:cs typeface="Inter" pitchFamily="34" charset="-120"/>
              </a:rPr>
              <a:t>Best Recall@k performance</a:t>
            </a:r>
            <a:endParaRPr lang="en-US" sz="800" dirty="0"/>
          </a:p>
        </p:txBody>
      </p:sp>
      <p:sp>
        <p:nvSpPr>
          <p:cNvPr id="18" name="Text 16"/>
          <p:cNvSpPr/>
          <p:nvPr/>
        </p:nvSpPr>
        <p:spPr>
          <a:xfrm>
            <a:off x="5633024" y="4399299"/>
            <a:ext cx="2535687" cy="203987"/>
          </a:xfrm>
          <a:prstGeom prst="rect">
            <a:avLst/>
          </a:prstGeom>
          <a:ln/>
        </p:spPr>
        <p:txBody>
          <a:bodyPr wrap="square" lIns="0" tIns="0" rIns="0" bIns="0" rtlCol="0" anchor="t"/>
          <a:lstStyle/>
          <a:p>
            <a:pPr marL="0" indent="0" algn="l">
              <a:lnSpc>
                <a:spcPts val="1134"/>
              </a:lnSpc>
              <a:buNone/>
            </a:pPr>
            <a:r>
              <a:rPr lang="en-US" sz="800" dirty="0">
                <a:solidFill>
                  <a:srgbClr val="FFFFFF"/>
                </a:solidFill>
                <a:latin typeface="Inter" pitchFamily="34" charset="0"/>
                <a:ea typeface="Inter" pitchFamily="34" charset="-122"/>
                <a:cs typeface="Inter" pitchFamily="34" charset="-120"/>
              </a:rPr>
              <a:t>Better semantic understanding than smaller models</a:t>
            </a:r>
            <a:endParaRPr lang="en-US" sz="800" dirty="0"/>
          </a:p>
        </p:txBody>
      </p:sp>
      <p:sp>
        <p:nvSpPr>
          <p:cNvPr id="46" name="Shape 44"/>
          <p:cNvSpPr/>
          <p:nvPr/>
        </p:nvSpPr>
        <p:spPr>
          <a:xfrm>
            <a:off x="366713" y="4705610"/>
            <a:ext cx="8410575" cy="233362"/>
          </a:xfrm>
          <a:prstGeom prst="rect">
            <a:avLst/>
          </a:prstGeom>
          <a:ln/>
        </p:spPr>
        <p:txBody>
          <a:bodyPr/>
          <a:lstStyle/>
          <a:p>
            <a:endParaRPr lang="en-IN"/>
          </a:p>
        </p:txBody>
      </p:sp>
      <p:sp>
        <p:nvSpPr>
          <p:cNvPr id="47" name="Text 45"/>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48" name="Text 46"/>
          <p:cNvSpPr/>
          <p:nvPr/>
        </p:nvSpPr>
        <p:spPr>
          <a:xfrm>
            <a:off x="8249245" y="4814181"/>
            <a:ext cx="528638"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13 of 24</a:t>
            </a:r>
            <a:endParaRPr lang="en-US" sz="600" dirty="0"/>
          </a:p>
        </p:txBody>
      </p:sp>
      <p:pic>
        <p:nvPicPr>
          <p:cNvPr id="4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5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pic>
        <p:nvPicPr>
          <p:cNvPr id="51" name="Picture 50" descr="embedding_ablation_chart.png">
            <a:extLst>
              <a:ext uri="{FF2B5EF4-FFF2-40B4-BE49-F238E27FC236}">
                <a16:creationId xmlns:a16="http://schemas.microsoft.com/office/drawing/2014/main" id="{A65658F2-3AF2-924A-A11E-386BF6AAAA8E}"/>
              </a:ext>
            </a:extLst>
          </p:cNvPr>
          <p:cNvPicPr>
            <a:picLocks noChangeAspect="1"/>
          </p:cNvPicPr>
          <p:nvPr/>
        </p:nvPicPr>
        <p:blipFill>
          <a:blip r:embed="rId5"/>
          <a:stretch>
            <a:fillRect/>
          </a:stretch>
        </p:blipFill>
        <p:spPr>
          <a:xfrm>
            <a:off x="373013" y="1183698"/>
            <a:ext cx="4742684" cy="2888436"/>
          </a:xfrm>
          <a:prstGeom prst="rect">
            <a:avLst/>
          </a:prstGeom>
        </p:spPr>
      </p:pic>
      <p:sp>
        <p:nvSpPr>
          <p:cNvPr id="52" name="TextBox 51">
            <a:extLst>
              <a:ext uri="{FF2B5EF4-FFF2-40B4-BE49-F238E27FC236}">
                <a16:creationId xmlns:a16="http://schemas.microsoft.com/office/drawing/2014/main" id="{0693E541-DF75-1D55-2A52-68DC8E92A057}"/>
              </a:ext>
            </a:extLst>
          </p:cNvPr>
          <p:cNvSpPr txBox="1"/>
          <p:nvPr/>
        </p:nvSpPr>
        <p:spPr>
          <a:xfrm>
            <a:off x="975289" y="4253438"/>
            <a:ext cx="3673822" cy="190821"/>
          </a:xfrm>
          <a:prstGeom prst="rect">
            <a:avLst/>
          </a:prstGeom>
          <a:noFill/>
        </p:spPr>
        <p:txBody>
          <a:bodyPr wrap="square" lIns="45720" tIns="18288" rIns="45720" bIns="18288" anchor="t">
            <a:spAutoFit/>
          </a:bodyPr>
          <a:lstStyle/>
          <a:p>
            <a:pPr algn="ctr"/>
            <a:r>
              <a:rPr sz="1000" b="0" i="1" dirty="0">
                <a:solidFill>
                  <a:srgbClr val="6B6F76"/>
                </a:solidFill>
                <a:latin typeface="Calibri"/>
              </a:rPr>
              <a:t>embedding_ablation_chart.png recall vs cutoff for 5 candidates</a:t>
            </a:r>
          </a:p>
        </p:txBody>
      </p:sp>
      <p:graphicFrame>
        <p:nvGraphicFramePr>
          <p:cNvPr id="53" name="Table 52">
            <a:extLst>
              <a:ext uri="{FF2B5EF4-FFF2-40B4-BE49-F238E27FC236}">
                <a16:creationId xmlns:a16="http://schemas.microsoft.com/office/drawing/2014/main" id="{65A76D3C-FEA5-1C88-874A-06DCCFFFD9A7}"/>
              </a:ext>
            </a:extLst>
          </p:cNvPr>
          <p:cNvGraphicFramePr>
            <a:graphicFrameLocks noGrp="1"/>
          </p:cNvGraphicFramePr>
          <p:nvPr>
            <p:extLst>
              <p:ext uri="{D42A27DB-BD31-4B8C-83A1-F6EECF244321}">
                <p14:modId xmlns:p14="http://schemas.microsoft.com/office/powerpoint/2010/main" val="948652251"/>
              </p:ext>
            </p:extLst>
          </p:nvPr>
        </p:nvGraphicFramePr>
        <p:xfrm>
          <a:off x="5500844" y="1393698"/>
          <a:ext cx="3054154" cy="2085225"/>
        </p:xfrm>
        <a:graphic>
          <a:graphicData uri="http://schemas.openxmlformats.org/drawingml/2006/table">
            <a:tbl>
              <a:tblPr firstRow="1" bandRow="1">
                <a:tableStyleId>{5C22544A-7EE6-4342-B048-85BDC9FD1C3A}</a:tableStyleId>
              </a:tblPr>
              <a:tblGrid>
                <a:gridCol w="1115611">
                  <a:extLst>
                    <a:ext uri="{9D8B030D-6E8A-4147-A177-3AD203B41FA5}">
                      <a16:colId xmlns:a16="http://schemas.microsoft.com/office/drawing/2014/main" val="20000"/>
                    </a:ext>
                  </a:extLst>
                </a:gridCol>
                <a:gridCol w="501294">
                  <a:extLst>
                    <a:ext uri="{9D8B030D-6E8A-4147-A177-3AD203B41FA5}">
                      <a16:colId xmlns:a16="http://schemas.microsoft.com/office/drawing/2014/main" val="20001"/>
                    </a:ext>
                  </a:extLst>
                </a:gridCol>
                <a:gridCol w="479083">
                  <a:extLst>
                    <a:ext uri="{9D8B030D-6E8A-4147-A177-3AD203B41FA5}">
                      <a16:colId xmlns:a16="http://schemas.microsoft.com/office/drawing/2014/main" val="20002"/>
                    </a:ext>
                  </a:extLst>
                </a:gridCol>
                <a:gridCol w="479083">
                  <a:extLst>
                    <a:ext uri="{9D8B030D-6E8A-4147-A177-3AD203B41FA5}">
                      <a16:colId xmlns:a16="http://schemas.microsoft.com/office/drawing/2014/main" val="20003"/>
                    </a:ext>
                  </a:extLst>
                </a:gridCol>
                <a:gridCol w="479083">
                  <a:extLst>
                    <a:ext uri="{9D8B030D-6E8A-4147-A177-3AD203B41FA5}">
                      <a16:colId xmlns:a16="http://schemas.microsoft.com/office/drawing/2014/main" val="20004"/>
                    </a:ext>
                  </a:extLst>
                </a:gridCol>
              </a:tblGrid>
              <a:tr h="357513">
                <a:tc>
                  <a:txBody>
                    <a:bodyPr/>
                    <a:lstStyle/>
                    <a:p>
                      <a:pPr algn="ctr"/>
                      <a:r>
                        <a:rPr sz="1100" b="1" dirty="0">
                          <a:solidFill>
                            <a:srgbClr val="FFFFFF"/>
                          </a:solidFill>
                          <a:latin typeface="Inter"/>
                        </a:rPr>
                        <a:t>Model</a:t>
                      </a:r>
                    </a:p>
                  </a:txBody>
                  <a:tcPr marL="64008" marR="64008" marT="27432" marB="27432">
                    <a:solidFill>
                      <a:srgbClr val="1A2D5A"/>
                    </a:solidFill>
                  </a:tcPr>
                </a:tc>
                <a:tc>
                  <a:txBody>
                    <a:bodyPr/>
                    <a:lstStyle/>
                    <a:p>
                      <a:pPr algn="ctr"/>
                      <a:r>
                        <a:rPr sz="1100" b="1">
                          <a:solidFill>
                            <a:srgbClr val="FFFFFF"/>
                          </a:solidFill>
                          <a:latin typeface="Inter"/>
                        </a:rPr>
                        <a:t>Dim</a:t>
                      </a:r>
                    </a:p>
                  </a:txBody>
                  <a:tcPr marL="64008" marR="64008" marT="27432" marB="27432">
                    <a:solidFill>
                      <a:srgbClr val="1A2D5A"/>
                    </a:solidFill>
                  </a:tcPr>
                </a:tc>
                <a:tc>
                  <a:txBody>
                    <a:bodyPr/>
                    <a:lstStyle/>
                    <a:p>
                      <a:pPr algn="ctr"/>
                      <a:r>
                        <a:rPr sz="1100" b="1">
                          <a:solidFill>
                            <a:srgbClr val="FFFFFF"/>
                          </a:solidFill>
                          <a:latin typeface="Inter"/>
                        </a:rPr>
                        <a:t>MRR</a:t>
                      </a:r>
                    </a:p>
                  </a:txBody>
                  <a:tcPr marL="64008" marR="64008" marT="27432" marB="27432">
                    <a:solidFill>
                      <a:srgbClr val="1A2D5A"/>
                    </a:solidFill>
                  </a:tcPr>
                </a:tc>
                <a:tc>
                  <a:txBody>
                    <a:bodyPr/>
                    <a:lstStyle/>
                    <a:p>
                      <a:pPr algn="ctr"/>
                      <a:r>
                        <a:rPr sz="1100" b="1">
                          <a:solidFill>
                            <a:srgbClr val="FFFFFF"/>
                          </a:solidFill>
                          <a:latin typeface="Inter"/>
                        </a:rPr>
                        <a:t>R@1</a:t>
                      </a:r>
                    </a:p>
                  </a:txBody>
                  <a:tcPr marL="64008" marR="64008" marT="27432" marB="27432">
                    <a:solidFill>
                      <a:srgbClr val="1A2D5A"/>
                    </a:solidFill>
                  </a:tcPr>
                </a:tc>
                <a:tc>
                  <a:txBody>
                    <a:bodyPr/>
                    <a:lstStyle/>
                    <a:p>
                      <a:pPr algn="ctr"/>
                      <a:r>
                        <a:rPr sz="1100" b="1">
                          <a:solidFill>
                            <a:srgbClr val="FFFFFF"/>
                          </a:solidFill>
                          <a:latin typeface="Inter"/>
                        </a:rPr>
                        <a:t>R@5</a:t>
                      </a:r>
                    </a:p>
                  </a:txBody>
                  <a:tcPr marL="64008" marR="64008" marT="27432" marB="27432">
                    <a:solidFill>
                      <a:srgbClr val="1A2D5A"/>
                    </a:solidFill>
                  </a:tcPr>
                </a:tc>
                <a:extLst>
                  <a:ext uri="{0D108BD9-81ED-4DB2-BD59-A6C34878D82A}">
                    <a16:rowId xmlns:a16="http://schemas.microsoft.com/office/drawing/2014/main" val="10000"/>
                  </a:ext>
                </a:extLst>
              </a:tr>
              <a:tr h="342567">
                <a:tc>
                  <a:txBody>
                    <a:bodyPr/>
                    <a:lstStyle/>
                    <a:p>
                      <a:pPr algn="l"/>
                      <a:r>
                        <a:rPr sz="1000" b="1" dirty="0">
                          <a:solidFill>
                            <a:srgbClr val="1A2D5A"/>
                          </a:solidFill>
                          <a:latin typeface="Inter"/>
                        </a:rPr>
                        <a:t>Qwen3-0.6B</a:t>
                      </a:r>
                    </a:p>
                  </a:txBody>
                  <a:tcPr marL="64008" marR="64008" marT="27432" marB="27432">
                    <a:solidFill>
                      <a:schemeClr val="accent6">
                        <a:lumMod val="40000"/>
                        <a:lumOff val="60000"/>
                      </a:schemeClr>
                    </a:solidFill>
                  </a:tcPr>
                </a:tc>
                <a:tc>
                  <a:txBody>
                    <a:bodyPr/>
                    <a:lstStyle/>
                    <a:p>
                      <a:pPr algn="r"/>
                      <a:r>
                        <a:rPr sz="1000">
                          <a:solidFill>
                            <a:srgbClr val="333338"/>
                          </a:solidFill>
                          <a:latin typeface="Inter"/>
                        </a:rPr>
                        <a:t>1024</a:t>
                      </a:r>
                    </a:p>
                  </a:txBody>
                  <a:tcPr marL="64008" marR="64008" marT="27432" marB="27432">
                    <a:solidFill>
                      <a:schemeClr val="accent6">
                        <a:lumMod val="40000"/>
                        <a:lumOff val="60000"/>
                      </a:schemeClr>
                    </a:solidFill>
                  </a:tcPr>
                </a:tc>
                <a:tc>
                  <a:txBody>
                    <a:bodyPr/>
                    <a:lstStyle/>
                    <a:p>
                      <a:pPr algn="r"/>
                      <a:r>
                        <a:rPr sz="1000">
                          <a:solidFill>
                            <a:srgbClr val="333338"/>
                          </a:solidFill>
                          <a:latin typeface="Inter"/>
                        </a:rPr>
                        <a:t>0.887</a:t>
                      </a:r>
                    </a:p>
                  </a:txBody>
                  <a:tcPr marL="64008" marR="64008" marT="27432" marB="27432">
                    <a:solidFill>
                      <a:schemeClr val="accent6">
                        <a:lumMod val="40000"/>
                        <a:lumOff val="60000"/>
                      </a:schemeClr>
                    </a:solidFill>
                  </a:tcPr>
                </a:tc>
                <a:tc>
                  <a:txBody>
                    <a:bodyPr/>
                    <a:lstStyle/>
                    <a:p>
                      <a:pPr algn="r"/>
                      <a:r>
                        <a:rPr sz="1000">
                          <a:solidFill>
                            <a:srgbClr val="333338"/>
                          </a:solidFill>
                          <a:latin typeface="Inter"/>
                        </a:rPr>
                        <a:t>0.849</a:t>
                      </a:r>
                    </a:p>
                  </a:txBody>
                  <a:tcPr marL="64008" marR="64008" marT="27432" marB="27432">
                    <a:solidFill>
                      <a:schemeClr val="accent6">
                        <a:lumMod val="40000"/>
                        <a:lumOff val="60000"/>
                      </a:schemeClr>
                    </a:solidFill>
                  </a:tcPr>
                </a:tc>
                <a:tc>
                  <a:txBody>
                    <a:bodyPr/>
                    <a:lstStyle/>
                    <a:p>
                      <a:pPr algn="r"/>
                      <a:r>
                        <a:rPr sz="1000" dirty="0">
                          <a:solidFill>
                            <a:srgbClr val="333338"/>
                          </a:solidFill>
                          <a:latin typeface="Inter"/>
                        </a:rPr>
                        <a:t>0.933</a:t>
                      </a:r>
                    </a:p>
                  </a:txBody>
                  <a:tcPr marL="64008" marR="64008" marT="27432" marB="27432">
                    <a:solidFill>
                      <a:schemeClr val="accent6">
                        <a:lumMod val="40000"/>
                        <a:lumOff val="60000"/>
                      </a:schemeClr>
                    </a:solidFill>
                  </a:tcPr>
                </a:tc>
                <a:extLst>
                  <a:ext uri="{0D108BD9-81ED-4DB2-BD59-A6C34878D82A}">
                    <a16:rowId xmlns:a16="http://schemas.microsoft.com/office/drawing/2014/main" val="10001"/>
                  </a:ext>
                </a:extLst>
              </a:tr>
              <a:tr h="342567">
                <a:tc>
                  <a:txBody>
                    <a:bodyPr/>
                    <a:lstStyle/>
                    <a:p>
                      <a:pPr algn="l"/>
                      <a:r>
                        <a:rPr sz="1000" b="1">
                          <a:solidFill>
                            <a:srgbClr val="1A2D5A"/>
                          </a:solidFill>
                          <a:latin typeface="Inter"/>
                        </a:rPr>
                        <a:t>Gemma-300M</a:t>
                      </a:r>
                    </a:p>
                  </a:txBody>
                  <a:tcPr marL="64008" marR="64008" marT="27432" marB="27432">
                    <a:solidFill>
                      <a:srgbClr val="F5F6F8"/>
                    </a:solidFill>
                  </a:tcPr>
                </a:tc>
                <a:tc>
                  <a:txBody>
                    <a:bodyPr/>
                    <a:lstStyle/>
                    <a:p>
                      <a:pPr algn="r"/>
                      <a:r>
                        <a:rPr sz="1000">
                          <a:solidFill>
                            <a:srgbClr val="333338"/>
                          </a:solidFill>
                          <a:latin typeface="Inter"/>
                        </a:rPr>
                        <a:t>768</a:t>
                      </a:r>
                    </a:p>
                  </a:txBody>
                  <a:tcPr marL="64008" marR="64008" marT="27432" marB="27432">
                    <a:solidFill>
                      <a:srgbClr val="F5F6F8"/>
                    </a:solidFill>
                  </a:tcPr>
                </a:tc>
                <a:tc>
                  <a:txBody>
                    <a:bodyPr/>
                    <a:lstStyle/>
                    <a:p>
                      <a:pPr algn="r"/>
                      <a:r>
                        <a:rPr sz="1000" dirty="0">
                          <a:solidFill>
                            <a:srgbClr val="333338"/>
                          </a:solidFill>
                          <a:latin typeface="Inter"/>
                        </a:rPr>
                        <a:t>0.800</a:t>
                      </a:r>
                    </a:p>
                  </a:txBody>
                  <a:tcPr marL="64008" marR="64008" marT="27432" marB="27432">
                    <a:solidFill>
                      <a:srgbClr val="F5F6F8"/>
                    </a:solidFill>
                  </a:tcPr>
                </a:tc>
                <a:tc>
                  <a:txBody>
                    <a:bodyPr/>
                    <a:lstStyle/>
                    <a:p>
                      <a:pPr algn="r"/>
                      <a:r>
                        <a:rPr sz="1000">
                          <a:solidFill>
                            <a:srgbClr val="333338"/>
                          </a:solidFill>
                          <a:latin typeface="Inter"/>
                        </a:rPr>
                        <a:t>0.744</a:t>
                      </a:r>
                    </a:p>
                  </a:txBody>
                  <a:tcPr marL="64008" marR="64008" marT="27432" marB="27432">
                    <a:solidFill>
                      <a:srgbClr val="F5F6F8"/>
                    </a:solidFill>
                  </a:tcPr>
                </a:tc>
                <a:tc>
                  <a:txBody>
                    <a:bodyPr/>
                    <a:lstStyle/>
                    <a:p>
                      <a:pPr algn="r"/>
                      <a:r>
                        <a:rPr sz="1000" dirty="0">
                          <a:solidFill>
                            <a:srgbClr val="333338"/>
                          </a:solidFill>
                          <a:latin typeface="Inter"/>
                        </a:rPr>
                        <a:t>0.873</a:t>
                      </a:r>
                    </a:p>
                  </a:txBody>
                  <a:tcPr marL="64008" marR="64008" marT="27432" marB="27432">
                    <a:solidFill>
                      <a:srgbClr val="F5F6F8"/>
                    </a:solidFill>
                  </a:tcPr>
                </a:tc>
                <a:extLst>
                  <a:ext uri="{0D108BD9-81ED-4DB2-BD59-A6C34878D82A}">
                    <a16:rowId xmlns:a16="http://schemas.microsoft.com/office/drawing/2014/main" val="10002"/>
                  </a:ext>
                </a:extLst>
              </a:tr>
              <a:tr h="342567">
                <a:tc>
                  <a:txBody>
                    <a:bodyPr/>
                    <a:lstStyle/>
                    <a:p>
                      <a:pPr algn="l"/>
                      <a:r>
                        <a:rPr sz="1000" b="1">
                          <a:solidFill>
                            <a:srgbClr val="1A2D5A"/>
                          </a:solidFill>
                          <a:latin typeface="Inter"/>
                        </a:rPr>
                        <a:t>Nomic-v2 MoE</a:t>
                      </a:r>
                    </a:p>
                  </a:txBody>
                  <a:tcPr marL="64008" marR="64008" marT="27432" marB="27432">
                    <a:solidFill>
                      <a:srgbClr val="FFFFFF"/>
                    </a:solidFill>
                  </a:tcPr>
                </a:tc>
                <a:tc>
                  <a:txBody>
                    <a:bodyPr/>
                    <a:lstStyle/>
                    <a:p>
                      <a:pPr algn="r"/>
                      <a:r>
                        <a:rPr sz="1000" dirty="0">
                          <a:solidFill>
                            <a:srgbClr val="333338"/>
                          </a:solidFill>
                          <a:latin typeface="Inter"/>
                        </a:rPr>
                        <a:t>768</a:t>
                      </a:r>
                    </a:p>
                  </a:txBody>
                  <a:tcPr marL="64008" marR="64008" marT="27432" marB="27432">
                    <a:solidFill>
                      <a:srgbClr val="FFFFFF"/>
                    </a:solidFill>
                  </a:tcPr>
                </a:tc>
                <a:tc>
                  <a:txBody>
                    <a:bodyPr/>
                    <a:lstStyle/>
                    <a:p>
                      <a:pPr algn="r"/>
                      <a:r>
                        <a:rPr sz="1000">
                          <a:solidFill>
                            <a:srgbClr val="333338"/>
                          </a:solidFill>
                          <a:latin typeface="Inter"/>
                        </a:rPr>
                        <a:t>0.795</a:t>
                      </a:r>
                    </a:p>
                  </a:txBody>
                  <a:tcPr marL="64008" marR="64008" marT="27432" marB="27432">
                    <a:solidFill>
                      <a:srgbClr val="FFFFFF"/>
                    </a:solidFill>
                  </a:tcPr>
                </a:tc>
                <a:tc>
                  <a:txBody>
                    <a:bodyPr/>
                    <a:lstStyle/>
                    <a:p>
                      <a:pPr algn="r"/>
                      <a:r>
                        <a:rPr sz="1000">
                          <a:solidFill>
                            <a:srgbClr val="333338"/>
                          </a:solidFill>
                          <a:latin typeface="Inter"/>
                        </a:rPr>
                        <a:t>0.735</a:t>
                      </a:r>
                    </a:p>
                  </a:txBody>
                  <a:tcPr marL="64008" marR="64008" marT="27432" marB="27432">
                    <a:solidFill>
                      <a:srgbClr val="FFFFFF"/>
                    </a:solidFill>
                  </a:tcPr>
                </a:tc>
                <a:tc>
                  <a:txBody>
                    <a:bodyPr/>
                    <a:lstStyle/>
                    <a:p>
                      <a:pPr algn="r"/>
                      <a:r>
                        <a:rPr sz="1000">
                          <a:solidFill>
                            <a:srgbClr val="333338"/>
                          </a:solidFill>
                          <a:latin typeface="Inter"/>
                        </a:rPr>
                        <a:t>0.868</a:t>
                      </a:r>
                    </a:p>
                  </a:txBody>
                  <a:tcPr marL="64008" marR="64008" marT="27432" marB="27432">
                    <a:solidFill>
                      <a:srgbClr val="FFFFFF"/>
                    </a:solidFill>
                  </a:tcPr>
                </a:tc>
                <a:extLst>
                  <a:ext uri="{0D108BD9-81ED-4DB2-BD59-A6C34878D82A}">
                    <a16:rowId xmlns:a16="http://schemas.microsoft.com/office/drawing/2014/main" val="10003"/>
                  </a:ext>
                </a:extLst>
              </a:tr>
              <a:tr h="342567">
                <a:tc>
                  <a:txBody>
                    <a:bodyPr/>
                    <a:lstStyle/>
                    <a:p>
                      <a:pPr algn="l"/>
                      <a:r>
                        <a:rPr sz="1000" b="1" dirty="0">
                          <a:solidFill>
                            <a:srgbClr val="1A2D5A"/>
                          </a:solidFill>
                          <a:latin typeface="Inter"/>
                        </a:rPr>
                        <a:t>BGE-Large v1.5</a:t>
                      </a:r>
                    </a:p>
                  </a:txBody>
                  <a:tcPr marL="64008" marR="64008" marT="27432" marB="27432">
                    <a:solidFill>
                      <a:srgbClr val="F5F6F8"/>
                    </a:solidFill>
                  </a:tcPr>
                </a:tc>
                <a:tc>
                  <a:txBody>
                    <a:bodyPr/>
                    <a:lstStyle/>
                    <a:p>
                      <a:pPr algn="r"/>
                      <a:r>
                        <a:rPr sz="1000" dirty="0">
                          <a:solidFill>
                            <a:srgbClr val="333338"/>
                          </a:solidFill>
                          <a:latin typeface="Inter"/>
                        </a:rPr>
                        <a:t>1024</a:t>
                      </a:r>
                    </a:p>
                  </a:txBody>
                  <a:tcPr marL="64008" marR="64008" marT="27432" marB="27432">
                    <a:solidFill>
                      <a:srgbClr val="F5F6F8"/>
                    </a:solidFill>
                  </a:tcPr>
                </a:tc>
                <a:tc>
                  <a:txBody>
                    <a:bodyPr/>
                    <a:lstStyle/>
                    <a:p>
                      <a:pPr algn="r"/>
                      <a:r>
                        <a:rPr sz="1000">
                          <a:solidFill>
                            <a:srgbClr val="333338"/>
                          </a:solidFill>
                          <a:latin typeface="Inter"/>
                        </a:rPr>
                        <a:t>0.735</a:t>
                      </a:r>
                    </a:p>
                  </a:txBody>
                  <a:tcPr marL="64008" marR="64008" marT="27432" marB="27432">
                    <a:solidFill>
                      <a:srgbClr val="F5F6F8"/>
                    </a:solidFill>
                  </a:tcPr>
                </a:tc>
                <a:tc>
                  <a:txBody>
                    <a:bodyPr/>
                    <a:lstStyle/>
                    <a:p>
                      <a:pPr algn="r"/>
                      <a:r>
                        <a:rPr sz="1000" dirty="0">
                          <a:solidFill>
                            <a:srgbClr val="333338"/>
                          </a:solidFill>
                          <a:latin typeface="Inter"/>
                        </a:rPr>
                        <a:t>0.670</a:t>
                      </a:r>
                    </a:p>
                  </a:txBody>
                  <a:tcPr marL="64008" marR="64008" marT="27432" marB="27432">
                    <a:solidFill>
                      <a:srgbClr val="F5F6F8"/>
                    </a:solidFill>
                  </a:tcPr>
                </a:tc>
                <a:tc>
                  <a:txBody>
                    <a:bodyPr/>
                    <a:lstStyle/>
                    <a:p>
                      <a:pPr algn="r"/>
                      <a:r>
                        <a:rPr sz="1000">
                          <a:solidFill>
                            <a:srgbClr val="333338"/>
                          </a:solidFill>
                          <a:latin typeface="Inter"/>
                        </a:rPr>
                        <a:t>0.811</a:t>
                      </a:r>
                    </a:p>
                  </a:txBody>
                  <a:tcPr marL="64008" marR="64008" marT="27432" marB="27432">
                    <a:solidFill>
                      <a:srgbClr val="F5F6F8"/>
                    </a:solidFill>
                  </a:tcPr>
                </a:tc>
                <a:extLst>
                  <a:ext uri="{0D108BD9-81ED-4DB2-BD59-A6C34878D82A}">
                    <a16:rowId xmlns:a16="http://schemas.microsoft.com/office/drawing/2014/main" val="10004"/>
                  </a:ext>
                </a:extLst>
              </a:tr>
              <a:tr h="357444">
                <a:tc>
                  <a:txBody>
                    <a:bodyPr/>
                    <a:lstStyle/>
                    <a:p>
                      <a:pPr algn="l"/>
                      <a:r>
                        <a:rPr sz="1000" b="1" dirty="0">
                          <a:solidFill>
                            <a:srgbClr val="1A2D5A"/>
                          </a:solidFill>
                          <a:latin typeface="Inter"/>
                        </a:rPr>
                        <a:t>MiniLM-L6 v2</a:t>
                      </a:r>
                    </a:p>
                  </a:txBody>
                  <a:tcPr marL="64008" marR="64008" marT="27432" marB="27432">
                    <a:solidFill>
                      <a:srgbClr val="FFFFFF"/>
                    </a:solidFill>
                  </a:tcPr>
                </a:tc>
                <a:tc>
                  <a:txBody>
                    <a:bodyPr/>
                    <a:lstStyle/>
                    <a:p>
                      <a:pPr algn="r"/>
                      <a:r>
                        <a:rPr sz="1000" dirty="0">
                          <a:solidFill>
                            <a:srgbClr val="333338"/>
                          </a:solidFill>
                          <a:latin typeface="Inter"/>
                        </a:rPr>
                        <a:t>384</a:t>
                      </a:r>
                    </a:p>
                  </a:txBody>
                  <a:tcPr marL="64008" marR="64008" marT="27432" marB="27432">
                    <a:solidFill>
                      <a:srgbClr val="FFFFFF"/>
                    </a:solidFill>
                  </a:tcPr>
                </a:tc>
                <a:tc>
                  <a:txBody>
                    <a:bodyPr/>
                    <a:lstStyle/>
                    <a:p>
                      <a:pPr algn="r"/>
                      <a:r>
                        <a:rPr sz="1000" dirty="0">
                          <a:solidFill>
                            <a:srgbClr val="333338"/>
                          </a:solidFill>
                          <a:latin typeface="Inter"/>
                        </a:rPr>
                        <a:t>0.697</a:t>
                      </a:r>
                    </a:p>
                  </a:txBody>
                  <a:tcPr marL="64008" marR="64008" marT="27432" marB="27432">
                    <a:solidFill>
                      <a:srgbClr val="FFFFFF"/>
                    </a:solidFill>
                  </a:tcPr>
                </a:tc>
                <a:tc>
                  <a:txBody>
                    <a:bodyPr/>
                    <a:lstStyle/>
                    <a:p>
                      <a:pPr algn="r"/>
                      <a:r>
                        <a:rPr sz="1000" dirty="0">
                          <a:solidFill>
                            <a:srgbClr val="333338"/>
                          </a:solidFill>
                          <a:latin typeface="Inter"/>
                        </a:rPr>
                        <a:t>0.625</a:t>
                      </a:r>
                    </a:p>
                  </a:txBody>
                  <a:tcPr marL="64008" marR="64008" marT="27432" marB="27432">
                    <a:solidFill>
                      <a:srgbClr val="FFFFFF"/>
                    </a:solidFill>
                  </a:tcPr>
                </a:tc>
                <a:tc>
                  <a:txBody>
                    <a:bodyPr/>
                    <a:lstStyle/>
                    <a:p>
                      <a:pPr algn="r"/>
                      <a:r>
                        <a:rPr sz="1000" dirty="0">
                          <a:solidFill>
                            <a:srgbClr val="333338"/>
                          </a:solidFill>
                          <a:latin typeface="Inter"/>
                        </a:rPr>
                        <a:t>0.782</a:t>
                      </a:r>
                    </a:p>
                  </a:txBody>
                  <a:tcPr marL="64008" marR="64008" marT="27432" marB="27432">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965969" y="2571750"/>
            <a:ext cx="200582" cy="3714974"/>
          </a:xfrm>
          <a:prstGeom prst="rect">
            <a:avLst/>
          </a:prstGeom>
          <a:solidFill>
            <a:srgbClr val="FAFBFC"/>
          </a:solidFill>
          <a:ln/>
        </p:spPr>
        <p:txBody>
          <a:bodyPr/>
          <a:lstStyle/>
          <a:p>
            <a:endParaRPr lang="en-IN" dirty="0"/>
          </a:p>
        </p:txBody>
      </p:sp>
      <p:sp>
        <p:nvSpPr>
          <p:cNvPr id="3" name="Shape 1"/>
          <p:cNvSpPr/>
          <p:nvPr/>
        </p:nvSpPr>
        <p:spPr>
          <a:xfrm>
            <a:off x="366713" y="205643"/>
            <a:ext cx="8410575" cy="290513"/>
          </a:xfrm>
          <a:prstGeom prst="rect">
            <a:avLst/>
          </a:prstGeom>
          <a:ln/>
        </p:spPr>
        <p:txBody>
          <a:bodyPr/>
          <a:lstStyle/>
          <a:p>
            <a:endParaRPr lang="en-IN"/>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p:cNvSpPr/>
          <p:nvPr/>
        </p:nvSpPr>
        <p:spPr>
          <a:xfrm>
            <a:off x="6721599" y="228042"/>
            <a:ext cx="1281112"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OPTIMIZATION TECHNIQUES</a:t>
            </a:r>
            <a:endParaRPr lang="en-US" sz="700" dirty="0"/>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p:cNvSpPr/>
          <p:nvPr/>
        </p:nvSpPr>
        <p:spPr>
          <a:xfrm>
            <a:off x="358615" y="599424"/>
            <a:ext cx="8629598" cy="300038"/>
          </a:xfrm>
          <a:prstGeom prst="rect">
            <a:avLst/>
          </a:prstGeom>
          <a:ln/>
        </p:spPr>
        <p:txBody>
          <a:bodyPr wrap="square" lIns="0" tIns="0" rIns="0" bIns="0" rtlCol="0" anchor="t"/>
          <a:lstStyle/>
          <a:p>
            <a:pPr marL="0" indent="0" algn="l">
              <a:lnSpc>
                <a:spcPts val="2376"/>
              </a:lnSpc>
              <a:buNone/>
            </a:pPr>
            <a:r>
              <a:rPr lang="en-US" sz="2100" b="1" dirty="0">
                <a:solidFill>
                  <a:srgbClr val="1E3A5F"/>
                </a:solidFill>
                <a:latin typeface="Inter" pitchFamily="34" charset="0"/>
                <a:ea typeface="Inter" pitchFamily="34" charset="-122"/>
                <a:cs typeface="Inter" pitchFamily="34" charset="-120"/>
              </a:rPr>
              <a:t>Model Optimization Techniques – Hybrid Retrieval and Grounding </a:t>
            </a:r>
            <a:endParaRPr lang="en-US" sz="2100" dirty="0"/>
          </a:p>
        </p:txBody>
      </p:sp>
      <p:sp>
        <p:nvSpPr>
          <p:cNvPr id="39" name="Shape 37"/>
          <p:cNvSpPr/>
          <p:nvPr/>
        </p:nvSpPr>
        <p:spPr>
          <a:xfrm>
            <a:off x="366713" y="4705610"/>
            <a:ext cx="8410575" cy="233362"/>
          </a:xfrm>
          <a:prstGeom prst="rect">
            <a:avLst/>
          </a:prstGeom>
          <a:ln/>
        </p:spPr>
        <p:txBody>
          <a:bodyPr/>
          <a:lstStyle/>
          <a:p>
            <a:endParaRPr lang="en-IN"/>
          </a:p>
        </p:txBody>
      </p:sp>
      <p:sp>
        <p:nvSpPr>
          <p:cNvPr id="40" name="Text 38"/>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41" name="Text 39"/>
          <p:cNvSpPr/>
          <p:nvPr/>
        </p:nvSpPr>
        <p:spPr>
          <a:xfrm>
            <a:off x="8245673" y="4814181"/>
            <a:ext cx="5334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14 of 24</a:t>
            </a:r>
            <a:endParaRPr lang="en-US" sz="600" dirty="0"/>
          </a:p>
        </p:txBody>
      </p:sp>
      <p:pic>
        <p:nvPicPr>
          <p:cNvPr id="4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4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pic>
        <p:nvPicPr>
          <p:cNvPr id="44" name="Picture 43" descr="retrieval_comparison_chart.png">
            <a:extLst>
              <a:ext uri="{FF2B5EF4-FFF2-40B4-BE49-F238E27FC236}">
                <a16:creationId xmlns:a16="http://schemas.microsoft.com/office/drawing/2014/main" id="{4D3E6117-3CEF-EDCD-5B1D-4D7132CEC097}"/>
              </a:ext>
            </a:extLst>
          </p:cNvPr>
          <p:cNvPicPr>
            <a:picLocks noChangeAspect="1"/>
          </p:cNvPicPr>
          <p:nvPr/>
        </p:nvPicPr>
        <p:blipFill>
          <a:blip r:embed="rId5"/>
          <a:stretch>
            <a:fillRect/>
          </a:stretch>
        </p:blipFill>
        <p:spPr>
          <a:xfrm>
            <a:off x="358615" y="1161912"/>
            <a:ext cx="3887629" cy="2541147"/>
          </a:xfrm>
          <a:prstGeom prst="rect">
            <a:avLst/>
          </a:prstGeom>
        </p:spPr>
      </p:pic>
      <p:pic>
        <p:nvPicPr>
          <p:cNvPr id="45" name="Picture 44" descr="hallucination_chart.png">
            <a:extLst>
              <a:ext uri="{FF2B5EF4-FFF2-40B4-BE49-F238E27FC236}">
                <a16:creationId xmlns:a16="http://schemas.microsoft.com/office/drawing/2014/main" id="{876541FE-2410-5385-D23E-071EB1E31905}"/>
              </a:ext>
            </a:extLst>
          </p:cNvPr>
          <p:cNvPicPr>
            <a:picLocks noChangeAspect="1"/>
          </p:cNvPicPr>
          <p:nvPr/>
        </p:nvPicPr>
        <p:blipFill>
          <a:blip r:embed="rId6"/>
          <a:stretch>
            <a:fillRect/>
          </a:stretch>
        </p:blipFill>
        <p:spPr>
          <a:xfrm>
            <a:off x="4378430" y="1127059"/>
            <a:ext cx="3940949" cy="2576000"/>
          </a:xfrm>
          <a:prstGeom prst="rect">
            <a:avLst/>
          </a:prstGeom>
        </p:spPr>
      </p:pic>
      <p:sp>
        <p:nvSpPr>
          <p:cNvPr id="46" name="Rounded Rectangle 11">
            <a:extLst>
              <a:ext uri="{FF2B5EF4-FFF2-40B4-BE49-F238E27FC236}">
                <a16:creationId xmlns:a16="http://schemas.microsoft.com/office/drawing/2014/main" id="{4A74BA85-A31E-E552-35A4-665DE560D434}"/>
              </a:ext>
            </a:extLst>
          </p:cNvPr>
          <p:cNvSpPr/>
          <p:nvPr/>
        </p:nvSpPr>
        <p:spPr>
          <a:xfrm>
            <a:off x="358615" y="3895083"/>
            <a:ext cx="1896751" cy="569214"/>
          </a:xfrm>
          <a:prstGeom prst="roundRect">
            <a:avLst>
              <a:gd name="adj" fmla="val 8000"/>
            </a:avLst>
          </a:prstGeom>
          <a:solidFill>
            <a:srgbClr val="1A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7" name="Rectangle 46">
            <a:extLst>
              <a:ext uri="{FF2B5EF4-FFF2-40B4-BE49-F238E27FC236}">
                <a16:creationId xmlns:a16="http://schemas.microsoft.com/office/drawing/2014/main" id="{F49D0F55-EB82-10A9-12BB-4186D0346894}"/>
              </a:ext>
            </a:extLst>
          </p:cNvPr>
          <p:cNvSpPr/>
          <p:nvPr/>
        </p:nvSpPr>
        <p:spPr>
          <a:xfrm>
            <a:off x="358615" y="3886511"/>
            <a:ext cx="68580" cy="582930"/>
          </a:xfrm>
          <a:prstGeom prst="rect">
            <a:avLst/>
          </a:prstGeom>
          <a:solidFill>
            <a:srgbClr val="FFC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8" name="TextBox 47">
            <a:extLst>
              <a:ext uri="{FF2B5EF4-FFF2-40B4-BE49-F238E27FC236}">
                <a16:creationId xmlns:a16="http://schemas.microsoft.com/office/drawing/2014/main" id="{A736E1B4-B423-5FD2-9678-8E5790EC08EB}"/>
              </a:ext>
            </a:extLst>
          </p:cNvPr>
          <p:cNvSpPr txBox="1"/>
          <p:nvPr/>
        </p:nvSpPr>
        <p:spPr>
          <a:xfrm>
            <a:off x="447769" y="3938803"/>
            <a:ext cx="1848745" cy="143116"/>
          </a:xfrm>
          <a:prstGeom prst="rect">
            <a:avLst/>
          </a:prstGeom>
          <a:noFill/>
        </p:spPr>
        <p:txBody>
          <a:bodyPr wrap="square" lIns="34290" tIns="13716" rIns="34290" bIns="13716" anchor="t">
            <a:spAutoFit/>
          </a:bodyPr>
          <a:lstStyle/>
          <a:p>
            <a:pPr algn="l"/>
            <a:r>
              <a:rPr sz="750" b="1" dirty="0">
                <a:solidFill>
                  <a:srgbClr val="FFC627"/>
                </a:solidFill>
                <a:latin typeface="Calibri"/>
              </a:rPr>
              <a:t>Recall@5</a:t>
            </a:r>
          </a:p>
        </p:txBody>
      </p:sp>
      <p:sp>
        <p:nvSpPr>
          <p:cNvPr id="49" name="TextBox 48">
            <a:extLst>
              <a:ext uri="{FF2B5EF4-FFF2-40B4-BE49-F238E27FC236}">
                <a16:creationId xmlns:a16="http://schemas.microsoft.com/office/drawing/2014/main" id="{72F67074-3574-7615-50B0-99D77A0F0CAF}"/>
              </a:ext>
            </a:extLst>
          </p:cNvPr>
          <p:cNvSpPr txBox="1"/>
          <p:nvPr/>
        </p:nvSpPr>
        <p:spPr>
          <a:xfrm>
            <a:off x="434053" y="4080249"/>
            <a:ext cx="1848745" cy="235449"/>
          </a:xfrm>
          <a:prstGeom prst="rect">
            <a:avLst/>
          </a:prstGeom>
          <a:noFill/>
        </p:spPr>
        <p:txBody>
          <a:bodyPr wrap="square" lIns="34290" tIns="13716" rIns="34290" bIns="13716" anchor="t">
            <a:spAutoFit/>
          </a:bodyPr>
          <a:lstStyle/>
          <a:p>
            <a:pPr algn="l"/>
            <a:r>
              <a:rPr sz="1350" b="1" dirty="0">
                <a:solidFill>
                  <a:srgbClr val="FFFFFF"/>
                </a:solidFill>
                <a:latin typeface="Calibri"/>
              </a:rPr>
              <a:t>0.976</a:t>
            </a:r>
          </a:p>
        </p:txBody>
      </p:sp>
      <p:sp>
        <p:nvSpPr>
          <p:cNvPr id="50" name="TextBox 49">
            <a:extLst>
              <a:ext uri="{FF2B5EF4-FFF2-40B4-BE49-F238E27FC236}">
                <a16:creationId xmlns:a16="http://schemas.microsoft.com/office/drawing/2014/main" id="{141B1900-BCAE-29AD-2358-0B46D917E508}"/>
              </a:ext>
            </a:extLst>
          </p:cNvPr>
          <p:cNvSpPr txBox="1"/>
          <p:nvPr/>
        </p:nvSpPr>
        <p:spPr>
          <a:xfrm>
            <a:off x="427195" y="4285989"/>
            <a:ext cx="1848745" cy="131574"/>
          </a:xfrm>
          <a:prstGeom prst="rect">
            <a:avLst/>
          </a:prstGeom>
          <a:noFill/>
        </p:spPr>
        <p:txBody>
          <a:bodyPr wrap="square" lIns="34290" tIns="13716" rIns="34290" bIns="13716" anchor="t">
            <a:spAutoFit/>
          </a:bodyPr>
          <a:lstStyle/>
          <a:p>
            <a:pPr algn="l"/>
            <a:r>
              <a:rPr sz="675" i="1" dirty="0">
                <a:solidFill>
                  <a:srgbClr val="CFD3DC"/>
                </a:solidFill>
                <a:latin typeface="Calibri"/>
              </a:rPr>
              <a:t>[0.962, 0.988] · 95% CI</a:t>
            </a:r>
          </a:p>
        </p:txBody>
      </p:sp>
      <p:sp>
        <p:nvSpPr>
          <p:cNvPr id="51" name="Rounded Rectangle 16">
            <a:extLst>
              <a:ext uri="{FF2B5EF4-FFF2-40B4-BE49-F238E27FC236}">
                <a16:creationId xmlns:a16="http://schemas.microsoft.com/office/drawing/2014/main" id="{3B3153D9-9274-7EE9-7E25-E2D7A4BFB46F}"/>
              </a:ext>
            </a:extLst>
          </p:cNvPr>
          <p:cNvSpPr/>
          <p:nvPr/>
        </p:nvSpPr>
        <p:spPr>
          <a:xfrm>
            <a:off x="2358236" y="3895083"/>
            <a:ext cx="2020195" cy="582930"/>
          </a:xfrm>
          <a:prstGeom prst="roundRect">
            <a:avLst>
              <a:gd name="adj" fmla="val 8000"/>
            </a:avLst>
          </a:prstGeom>
          <a:solidFill>
            <a:srgbClr val="1A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2" name="Rectangle 51">
            <a:extLst>
              <a:ext uri="{FF2B5EF4-FFF2-40B4-BE49-F238E27FC236}">
                <a16:creationId xmlns:a16="http://schemas.microsoft.com/office/drawing/2014/main" id="{579FDE18-5E77-32CC-6377-F582E9E9B011}"/>
              </a:ext>
            </a:extLst>
          </p:cNvPr>
          <p:cNvSpPr/>
          <p:nvPr/>
        </p:nvSpPr>
        <p:spPr>
          <a:xfrm>
            <a:off x="2358235" y="3895083"/>
            <a:ext cx="68580" cy="582930"/>
          </a:xfrm>
          <a:prstGeom prst="rect">
            <a:avLst/>
          </a:prstGeom>
          <a:solidFill>
            <a:srgbClr val="FFC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3" name="TextBox 52">
            <a:extLst>
              <a:ext uri="{FF2B5EF4-FFF2-40B4-BE49-F238E27FC236}">
                <a16:creationId xmlns:a16="http://schemas.microsoft.com/office/drawing/2014/main" id="{5B32885B-5FB5-F348-8FB9-0DA863D7F059}"/>
              </a:ext>
            </a:extLst>
          </p:cNvPr>
          <p:cNvSpPr txBox="1"/>
          <p:nvPr/>
        </p:nvSpPr>
        <p:spPr>
          <a:xfrm>
            <a:off x="2481680" y="3929373"/>
            <a:ext cx="1848745" cy="143116"/>
          </a:xfrm>
          <a:prstGeom prst="rect">
            <a:avLst/>
          </a:prstGeom>
          <a:noFill/>
        </p:spPr>
        <p:txBody>
          <a:bodyPr wrap="square" lIns="34290" tIns="13716" rIns="34290" bIns="13716" anchor="t">
            <a:spAutoFit/>
          </a:bodyPr>
          <a:lstStyle/>
          <a:p>
            <a:pPr algn="l"/>
            <a:r>
              <a:rPr sz="750" b="1">
                <a:solidFill>
                  <a:srgbClr val="FFC627"/>
                </a:solidFill>
                <a:latin typeface="Calibri"/>
              </a:rPr>
              <a:t>MRR</a:t>
            </a:r>
          </a:p>
        </p:txBody>
      </p:sp>
      <p:sp>
        <p:nvSpPr>
          <p:cNvPr id="54" name="TextBox 53">
            <a:extLst>
              <a:ext uri="{FF2B5EF4-FFF2-40B4-BE49-F238E27FC236}">
                <a16:creationId xmlns:a16="http://schemas.microsoft.com/office/drawing/2014/main" id="{81CC5387-3E0E-2A9C-3374-3D928734864B}"/>
              </a:ext>
            </a:extLst>
          </p:cNvPr>
          <p:cNvSpPr txBox="1"/>
          <p:nvPr/>
        </p:nvSpPr>
        <p:spPr>
          <a:xfrm>
            <a:off x="2481680" y="4080249"/>
            <a:ext cx="1848745" cy="235449"/>
          </a:xfrm>
          <a:prstGeom prst="rect">
            <a:avLst/>
          </a:prstGeom>
          <a:noFill/>
        </p:spPr>
        <p:txBody>
          <a:bodyPr wrap="square" lIns="34290" tIns="13716" rIns="34290" bIns="13716" anchor="t">
            <a:spAutoFit/>
          </a:bodyPr>
          <a:lstStyle/>
          <a:p>
            <a:pPr algn="l"/>
            <a:r>
              <a:rPr sz="1350" b="1">
                <a:solidFill>
                  <a:srgbClr val="FFFFFF"/>
                </a:solidFill>
                <a:latin typeface="Calibri"/>
              </a:rPr>
              <a:t>0.964</a:t>
            </a:r>
          </a:p>
        </p:txBody>
      </p:sp>
      <p:sp>
        <p:nvSpPr>
          <p:cNvPr id="55" name="TextBox 54">
            <a:extLst>
              <a:ext uri="{FF2B5EF4-FFF2-40B4-BE49-F238E27FC236}">
                <a16:creationId xmlns:a16="http://schemas.microsoft.com/office/drawing/2014/main" id="{1F69C904-ECD8-2724-5E48-9FB923824707}"/>
              </a:ext>
            </a:extLst>
          </p:cNvPr>
          <p:cNvSpPr txBox="1"/>
          <p:nvPr/>
        </p:nvSpPr>
        <p:spPr>
          <a:xfrm>
            <a:off x="2481680" y="4292847"/>
            <a:ext cx="1848745" cy="131574"/>
          </a:xfrm>
          <a:prstGeom prst="rect">
            <a:avLst/>
          </a:prstGeom>
          <a:noFill/>
        </p:spPr>
        <p:txBody>
          <a:bodyPr wrap="square" lIns="34290" tIns="13716" rIns="34290" bIns="13716" anchor="t">
            <a:spAutoFit/>
          </a:bodyPr>
          <a:lstStyle/>
          <a:p>
            <a:pPr algn="l"/>
            <a:r>
              <a:rPr sz="675" i="1">
                <a:solidFill>
                  <a:srgbClr val="CFD3DC"/>
                </a:solidFill>
                <a:latin typeface="Calibri"/>
              </a:rPr>
              <a:t>[0.948, 0.978] · paired t p≈0</a:t>
            </a:r>
          </a:p>
        </p:txBody>
      </p:sp>
      <p:sp>
        <p:nvSpPr>
          <p:cNvPr id="56" name="Rounded Rectangle 21">
            <a:extLst>
              <a:ext uri="{FF2B5EF4-FFF2-40B4-BE49-F238E27FC236}">
                <a16:creationId xmlns:a16="http://schemas.microsoft.com/office/drawing/2014/main" id="{073AA040-5E1B-69D7-07C2-297982C2311C}"/>
              </a:ext>
            </a:extLst>
          </p:cNvPr>
          <p:cNvSpPr/>
          <p:nvPr/>
        </p:nvSpPr>
        <p:spPr>
          <a:xfrm>
            <a:off x="4481301" y="3895083"/>
            <a:ext cx="2020195" cy="582930"/>
          </a:xfrm>
          <a:prstGeom prst="roundRect">
            <a:avLst>
              <a:gd name="adj" fmla="val 8000"/>
            </a:avLst>
          </a:prstGeom>
          <a:solidFill>
            <a:srgbClr val="1A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7" name="Rectangle 56">
            <a:extLst>
              <a:ext uri="{FF2B5EF4-FFF2-40B4-BE49-F238E27FC236}">
                <a16:creationId xmlns:a16="http://schemas.microsoft.com/office/drawing/2014/main" id="{896CF546-8458-9B1B-5AB1-AC3BBE5DEBCC}"/>
              </a:ext>
            </a:extLst>
          </p:cNvPr>
          <p:cNvSpPr/>
          <p:nvPr/>
        </p:nvSpPr>
        <p:spPr>
          <a:xfrm>
            <a:off x="4481301" y="3895083"/>
            <a:ext cx="68580" cy="582930"/>
          </a:xfrm>
          <a:prstGeom prst="rect">
            <a:avLst/>
          </a:prstGeom>
          <a:solidFill>
            <a:srgbClr val="FFC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8" name="TextBox 57">
            <a:extLst>
              <a:ext uri="{FF2B5EF4-FFF2-40B4-BE49-F238E27FC236}">
                <a16:creationId xmlns:a16="http://schemas.microsoft.com/office/drawing/2014/main" id="{DF157736-6879-9A1F-4B49-301C4F1A92A0}"/>
              </a:ext>
            </a:extLst>
          </p:cNvPr>
          <p:cNvSpPr txBox="1"/>
          <p:nvPr/>
        </p:nvSpPr>
        <p:spPr>
          <a:xfrm>
            <a:off x="4604745" y="3929373"/>
            <a:ext cx="1848745" cy="143116"/>
          </a:xfrm>
          <a:prstGeom prst="rect">
            <a:avLst/>
          </a:prstGeom>
          <a:noFill/>
        </p:spPr>
        <p:txBody>
          <a:bodyPr wrap="square" lIns="34290" tIns="13716" rIns="34290" bIns="13716" anchor="t">
            <a:spAutoFit/>
          </a:bodyPr>
          <a:lstStyle/>
          <a:p>
            <a:pPr algn="l"/>
            <a:r>
              <a:rPr sz="750" b="1">
                <a:solidFill>
                  <a:srgbClr val="FFC627"/>
                </a:solidFill>
                <a:latin typeface="Calibri"/>
              </a:rPr>
              <a:t>RAG Hallucination</a:t>
            </a:r>
          </a:p>
        </p:txBody>
      </p:sp>
      <p:sp>
        <p:nvSpPr>
          <p:cNvPr id="59" name="TextBox 58">
            <a:extLst>
              <a:ext uri="{FF2B5EF4-FFF2-40B4-BE49-F238E27FC236}">
                <a16:creationId xmlns:a16="http://schemas.microsoft.com/office/drawing/2014/main" id="{EC47149C-CFB3-802B-52CE-DBE23890B856}"/>
              </a:ext>
            </a:extLst>
          </p:cNvPr>
          <p:cNvSpPr txBox="1"/>
          <p:nvPr/>
        </p:nvSpPr>
        <p:spPr>
          <a:xfrm>
            <a:off x="4604745" y="4080249"/>
            <a:ext cx="1848745" cy="235449"/>
          </a:xfrm>
          <a:prstGeom prst="rect">
            <a:avLst/>
          </a:prstGeom>
          <a:noFill/>
        </p:spPr>
        <p:txBody>
          <a:bodyPr wrap="square" lIns="34290" tIns="13716" rIns="34290" bIns="13716" anchor="t">
            <a:spAutoFit/>
          </a:bodyPr>
          <a:lstStyle/>
          <a:p>
            <a:pPr algn="l"/>
            <a:r>
              <a:rPr sz="1350" b="1">
                <a:solidFill>
                  <a:srgbClr val="FFFFFF"/>
                </a:solidFill>
                <a:latin typeface="Calibri"/>
              </a:rPr>
              <a:t>0.0%</a:t>
            </a:r>
          </a:p>
        </p:txBody>
      </p:sp>
      <p:sp>
        <p:nvSpPr>
          <p:cNvPr id="60" name="TextBox 59">
            <a:extLst>
              <a:ext uri="{FF2B5EF4-FFF2-40B4-BE49-F238E27FC236}">
                <a16:creationId xmlns:a16="http://schemas.microsoft.com/office/drawing/2014/main" id="{17349953-4841-0E49-C70A-78FE3586BD3C}"/>
              </a:ext>
            </a:extLst>
          </p:cNvPr>
          <p:cNvSpPr txBox="1"/>
          <p:nvPr/>
        </p:nvSpPr>
        <p:spPr>
          <a:xfrm>
            <a:off x="4604745" y="4292847"/>
            <a:ext cx="1848745" cy="131574"/>
          </a:xfrm>
          <a:prstGeom prst="rect">
            <a:avLst/>
          </a:prstGeom>
          <a:noFill/>
        </p:spPr>
        <p:txBody>
          <a:bodyPr wrap="square" lIns="34290" tIns="13716" rIns="34290" bIns="13716" anchor="t">
            <a:spAutoFit/>
          </a:bodyPr>
          <a:lstStyle/>
          <a:p>
            <a:pPr algn="l"/>
            <a:r>
              <a:rPr sz="675" i="1">
                <a:solidFill>
                  <a:srgbClr val="CFD3DC"/>
                </a:solidFill>
                <a:latin typeface="Calibri"/>
              </a:rPr>
              <a:t>Base LLM = 60.6% · IT subset</a:t>
            </a:r>
          </a:p>
        </p:txBody>
      </p:sp>
      <p:sp>
        <p:nvSpPr>
          <p:cNvPr id="61" name="Rounded Rectangle 26">
            <a:extLst>
              <a:ext uri="{FF2B5EF4-FFF2-40B4-BE49-F238E27FC236}">
                <a16:creationId xmlns:a16="http://schemas.microsoft.com/office/drawing/2014/main" id="{12EE7A54-E97F-8A6C-6A89-EC4706C5F4D9}"/>
              </a:ext>
            </a:extLst>
          </p:cNvPr>
          <p:cNvSpPr/>
          <p:nvPr/>
        </p:nvSpPr>
        <p:spPr>
          <a:xfrm>
            <a:off x="6604367" y="3895083"/>
            <a:ext cx="1715012" cy="569214"/>
          </a:xfrm>
          <a:prstGeom prst="roundRect">
            <a:avLst>
              <a:gd name="adj" fmla="val 8000"/>
            </a:avLst>
          </a:prstGeom>
          <a:solidFill>
            <a:srgbClr val="1A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2" name="Rectangle 61">
            <a:extLst>
              <a:ext uri="{FF2B5EF4-FFF2-40B4-BE49-F238E27FC236}">
                <a16:creationId xmlns:a16="http://schemas.microsoft.com/office/drawing/2014/main" id="{F652A4AB-6CFF-A9B6-7CDE-C902CC8AC074}"/>
              </a:ext>
            </a:extLst>
          </p:cNvPr>
          <p:cNvSpPr/>
          <p:nvPr/>
        </p:nvSpPr>
        <p:spPr>
          <a:xfrm>
            <a:off x="6604366" y="3895083"/>
            <a:ext cx="68580" cy="582930"/>
          </a:xfrm>
          <a:prstGeom prst="rect">
            <a:avLst/>
          </a:prstGeom>
          <a:solidFill>
            <a:srgbClr val="FFC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3" name="TextBox 62">
            <a:extLst>
              <a:ext uri="{FF2B5EF4-FFF2-40B4-BE49-F238E27FC236}">
                <a16:creationId xmlns:a16="http://schemas.microsoft.com/office/drawing/2014/main" id="{6341049E-EE7D-B9D6-7801-0980A44EB3ED}"/>
              </a:ext>
            </a:extLst>
          </p:cNvPr>
          <p:cNvSpPr txBox="1"/>
          <p:nvPr/>
        </p:nvSpPr>
        <p:spPr>
          <a:xfrm>
            <a:off x="6701765" y="3909832"/>
            <a:ext cx="1848745" cy="143116"/>
          </a:xfrm>
          <a:prstGeom prst="rect">
            <a:avLst/>
          </a:prstGeom>
          <a:noFill/>
        </p:spPr>
        <p:txBody>
          <a:bodyPr wrap="square" lIns="34290" tIns="13716" rIns="34290" bIns="13716" anchor="t">
            <a:spAutoFit/>
          </a:bodyPr>
          <a:lstStyle/>
          <a:p>
            <a:pPr algn="l"/>
            <a:r>
              <a:rPr sz="750" b="1">
                <a:solidFill>
                  <a:srgbClr val="FFC627"/>
                </a:solidFill>
                <a:latin typeface="Calibri"/>
              </a:rPr>
              <a:t>Head-to-head</a:t>
            </a:r>
          </a:p>
        </p:txBody>
      </p:sp>
      <p:sp>
        <p:nvSpPr>
          <p:cNvPr id="64" name="TextBox 63">
            <a:extLst>
              <a:ext uri="{FF2B5EF4-FFF2-40B4-BE49-F238E27FC236}">
                <a16:creationId xmlns:a16="http://schemas.microsoft.com/office/drawing/2014/main" id="{03D12460-BC7B-19CC-B7BC-212F8CCBBBED}"/>
              </a:ext>
            </a:extLst>
          </p:cNvPr>
          <p:cNvSpPr txBox="1"/>
          <p:nvPr/>
        </p:nvSpPr>
        <p:spPr>
          <a:xfrm>
            <a:off x="6701765" y="4060708"/>
            <a:ext cx="1848745" cy="235449"/>
          </a:xfrm>
          <a:prstGeom prst="rect">
            <a:avLst/>
          </a:prstGeom>
          <a:noFill/>
        </p:spPr>
        <p:txBody>
          <a:bodyPr wrap="square" lIns="34290" tIns="13716" rIns="34290" bIns="13716" anchor="t">
            <a:spAutoFit/>
          </a:bodyPr>
          <a:lstStyle/>
          <a:p>
            <a:pPr algn="l"/>
            <a:r>
              <a:rPr sz="1350" b="1">
                <a:solidFill>
                  <a:srgbClr val="FFFFFF"/>
                </a:solidFill>
                <a:latin typeface="Calibri"/>
              </a:rPr>
              <a:t>27 : 6</a:t>
            </a:r>
          </a:p>
        </p:txBody>
      </p:sp>
      <p:sp>
        <p:nvSpPr>
          <p:cNvPr id="65" name="TextBox 64">
            <a:extLst>
              <a:ext uri="{FF2B5EF4-FFF2-40B4-BE49-F238E27FC236}">
                <a16:creationId xmlns:a16="http://schemas.microsoft.com/office/drawing/2014/main" id="{6D915D99-06D5-9F9E-E830-87EFCAA4A6B7}"/>
              </a:ext>
            </a:extLst>
          </p:cNvPr>
          <p:cNvSpPr txBox="1"/>
          <p:nvPr/>
        </p:nvSpPr>
        <p:spPr>
          <a:xfrm>
            <a:off x="6701765" y="4273306"/>
            <a:ext cx="1848745" cy="131574"/>
          </a:xfrm>
          <a:prstGeom prst="rect">
            <a:avLst/>
          </a:prstGeom>
          <a:noFill/>
        </p:spPr>
        <p:txBody>
          <a:bodyPr wrap="square" lIns="34290" tIns="13716" rIns="34290" bIns="13716" anchor="t">
            <a:spAutoFit/>
          </a:bodyPr>
          <a:lstStyle/>
          <a:p>
            <a:pPr algn="l"/>
            <a:r>
              <a:rPr sz="675" i="1">
                <a:solidFill>
                  <a:srgbClr val="CFD3DC"/>
                </a:solidFill>
                <a:latin typeface="Calibri"/>
              </a:rPr>
              <a:t>RAG preferred over base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5A6F2-292E-310B-C03B-F3E628DFA2D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6CAA9D-315B-777B-CE66-8D1A73D3EA5D}"/>
              </a:ext>
            </a:extLst>
          </p:cNvPr>
          <p:cNvSpPr/>
          <p:nvPr/>
        </p:nvSpPr>
        <p:spPr>
          <a:xfrm>
            <a:off x="-965969" y="2571750"/>
            <a:ext cx="200582" cy="3714974"/>
          </a:xfrm>
          <a:prstGeom prst="rect">
            <a:avLst/>
          </a:prstGeom>
          <a:solidFill>
            <a:srgbClr val="FAFBFC"/>
          </a:solidFill>
          <a:ln/>
        </p:spPr>
        <p:txBody>
          <a:bodyPr/>
          <a:lstStyle/>
          <a:p>
            <a:endParaRPr lang="en-IN" dirty="0"/>
          </a:p>
        </p:txBody>
      </p:sp>
      <p:sp>
        <p:nvSpPr>
          <p:cNvPr id="3" name="Shape 1">
            <a:extLst>
              <a:ext uri="{FF2B5EF4-FFF2-40B4-BE49-F238E27FC236}">
                <a16:creationId xmlns:a16="http://schemas.microsoft.com/office/drawing/2014/main" id="{CE32A350-B365-BD19-BCBC-0F3D2EF84C31}"/>
              </a:ext>
            </a:extLst>
          </p:cNvPr>
          <p:cNvSpPr/>
          <p:nvPr/>
        </p:nvSpPr>
        <p:spPr>
          <a:xfrm>
            <a:off x="366713" y="205643"/>
            <a:ext cx="8410575" cy="290513"/>
          </a:xfrm>
          <a:prstGeom prst="rect">
            <a:avLst/>
          </a:prstGeom>
          <a:ln/>
        </p:spPr>
        <p:txBody>
          <a:bodyPr/>
          <a:lstStyle/>
          <a:p>
            <a:endParaRPr lang="en-IN"/>
          </a:p>
        </p:txBody>
      </p:sp>
      <p:sp>
        <p:nvSpPr>
          <p:cNvPr id="4" name="Shape 2">
            <a:extLst>
              <a:ext uri="{FF2B5EF4-FFF2-40B4-BE49-F238E27FC236}">
                <a16:creationId xmlns:a16="http://schemas.microsoft.com/office/drawing/2014/main" id="{CC58D249-85C5-9ADE-F8FC-E76D55FD34B7}"/>
              </a:ext>
            </a:extLst>
          </p:cNvPr>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a:extLst>
              <a:ext uri="{FF2B5EF4-FFF2-40B4-BE49-F238E27FC236}">
                <a16:creationId xmlns:a16="http://schemas.microsoft.com/office/drawing/2014/main" id="{801F1DF7-ADD1-ABE4-CAF7-56B33330FCEF}"/>
              </a:ext>
            </a:extLst>
          </p:cNvPr>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a:extLst>
              <a:ext uri="{FF2B5EF4-FFF2-40B4-BE49-F238E27FC236}">
                <a16:creationId xmlns:a16="http://schemas.microsoft.com/office/drawing/2014/main" id="{EC8CAA2D-E916-39DC-BF66-D8C2497886AB}"/>
              </a:ext>
            </a:extLst>
          </p:cNvPr>
          <p:cNvSpPr/>
          <p:nvPr/>
        </p:nvSpPr>
        <p:spPr>
          <a:xfrm>
            <a:off x="6721599" y="228042"/>
            <a:ext cx="1281112"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OPTIMIZATION TECHNIQUES</a:t>
            </a:r>
            <a:endParaRPr lang="en-US" sz="700" dirty="0"/>
          </a:p>
        </p:txBody>
      </p:sp>
      <p:sp>
        <p:nvSpPr>
          <p:cNvPr id="7" name="Text 5">
            <a:extLst>
              <a:ext uri="{FF2B5EF4-FFF2-40B4-BE49-F238E27FC236}">
                <a16:creationId xmlns:a16="http://schemas.microsoft.com/office/drawing/2014/main" id="{9D727B67-1950-E845-605C-57D6A598E492}"/>
              </a:ext>
            </a:extLst>
          </p:cNvPr>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a:extLst>
              <a:ext uri="{FF2B5EF4-FFF2-40B4-BE49-F238E27FC236}">
                <a16:creationId xmlns:a16="http://schemas.microsoft.com/office/drawing/2014/main" id="{266049D5-AAF9-E8B6-4ED7-1C904BEE3AB5}"/>
              </a:ext>
            </a:extLst>
          </p:cNvPr>
          <p:cNvSpPr/>
          <p:nvPr/>
        </p:nvSpPr>
        <p:spPr>
          <a:xfrm>
            <a:off x="358615" y="599424"/>
            <a:ext cx="8629598" cy="300038"/>
          </a:xfrm>
          <a:prstGeom prst="rect">
            <a:avLst/>
          </a:prstGeom>
          <a:ln/>
        </p:spPr>
        <p:txBody>
          <a:bodyPr wrap="square" lIns="0" tIns="0" rIns="0" bIns="0" rtlCol="0" anchor="t"/>
          <a:lstStyle/>
          <a:p>
            <a:pPr marL="0" indent="0" algn="l">
              <a:lnSpc>
                <a:spcPts val="2376"/>
              </a:lnSpc>
              <a:buNone/>
            </a:pPr>
            <a:r>
              <a:rPr lang="en-US" sz="2100" b="1" dirty="0">
                <a:solidFill>
                  <a:srgbClr val="1E3A5F"/>
                </a:solidFill>
                <a:latin typeface="Inter" pitchFamily="34" charset="0"/>
                <a:ea typeface="Inter" pitchFamily="34" charset="-122"/>
                <a:cs typeface="Inter" pitchFamily="34" charset="-120"/>
              </a:rPr>
              <a:t>Reliability: </a:t>
            </a:r>
            <a:r>
              <a:rPr lang="en-US" sz="2100" b="1" dirty="0" err="1">
                <a:solidFill>
                  <a:srgbClr val="1E3A5F"/>
                </a:solidFill>
                <a:latin typeface="Inter" pitchFamily="34" charset="0"/>
                <a:ea typeface="Inter" pitchFamily="34" charset="-122"/>
                <a:cs typeface="Inter" pitchFamily="34" charset="-120"/>
              </a:rPr>
              <a:t>Dedup</a:t>
            </a:r>
            <a:r>
              <a:rPr lang="en-US" sz="2100" b="1" dirty="0">
                <a:solidFill>
                  <a:srgbClr val="1E3A5F"/>
                </a:solidFill>
                <a:latin typeface="Inter" pitchFamily="34" charset="0"/>
                <a:ea typeface="Inter" pitchFamily="34" charset="-122"/>
                <a:cs typeface="Inter" pitchFamily="34" charset="-120"/>
              </a:rPr>
              <a:t>, Stability &amp; Confidence</a:t>
            </a:r>
            <a:endParaRPr lang="en-US" sz="2100" dirty="0"/>
          </a:p>
        </p:txBody>
      </p:sp>
      <p:sp>
        <p:nvSpPr>
          <p:cNvPr id="39" name="Shape 37">
            <a:extLst>
              <a:ext uri="{FF2B5EF4-FFF2-40B4-BE49-F238E27FC236}">
                <a16:creationId xmlns:a16="http://schemas.microsoft.com/office/drawing/2014/main" id="{F6B56C5B-0AB1-6053-E337-4DCE25A09D30}"/>
              </a:ext>
            </a:extLst>
          </p:cNvPr>
          <p:cNvSpPr/>
          <p:nvPr/>
        </p:nvSpPr>
        <p:spPr>
          <a:xfrm>
            <a:off x="366713" y="4705610"/>
            <a:ext cx="8410575" cy="233362"/>
          </a:xfrm>
          <a:prstGeom prst="rect">
            <a:avLst/>
          </a:prstGeom>
          <a:ln/>
        </p:spPr>
        <p:txBody>
          <a:bodyPr/>
          <a:lstStyle/>
          <a:p>
            <a:endParaRPr lang="en-IN"/>
          </a:p>
        </p:txBody>
      </p:sp>
      <p:sp>
        <p:nvSpPr>
          <p:cNvPr id="40" name="Text 38">
            <a:extLst>
              <a:ext uri="{FF2B5EF4-FFF2-40B4-BE49-F238E27FC236}">
                <a16:creationId xmlns:a16="http://schemas.microsoft.com/office/drawing/2014/main" id="{EF6B86C1-0A98-CDA8-7334-CCC7379B2766}"/>
              </a:ext>
            </a:extLst>
          </p:cNvPr>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41" name="Text 39">
            <a:extLst>
              <a:ext uri="{FF2B5EF4-FFF2-40B4-BE49-F238E27FC236}">
                <a16:creationId xmlns:a16="http://schemas.microsoft.com/office/drawing/2014/main" id="{45260F6A-0F92-E1B7-FAB3-1EE9EC019BAD}"/>
              </a:ext>
            </a:extLst>
          </p:cNvPr>
          <p:cNvSpPr/>
          <p:nvPr/>
        </p:nvSpPr>
        <p:spPr>
          <a:xfrm>
            <a:off x="8245673" y="4814181"/>
            <a:ext cx="5334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14 of 24</a:t>
            </a:r>
            <a:endParaRPr lang="en-US" sz="600" dirty="0"/>
          </a:p>
        </p:txBody>
      </p:sp>
      <p:pic>
        <p:nvPicPr>
          <p:cNvPr id="42" name="Image 0" descr="preencoded.png">
            <a:extLst>
              <a:ext uri="{FF2B5EF4-FFF2-40B4-BE49-F238E27FC236}">
                <a16:creationId xmlns:a16="http://schemas.microsoft.com/office/drawing/2014/main" id="{C3C69D6B-0A8C-7BD8-E6EB-FF1C8C762F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43" name="Image 1" descr="preencoded.png">
            <a:extLst>
              <a:ext uri="{FF2B5EF4-FFF2-40B4-BE49-F238E27FC236}">
                <a16:creationId xmlns:a16="http://schemas.microsoft.com/office/drawing/2014/main" id="{6DDBB97D-D930-90BB-82EA-208BC857FE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pic>
        <p:nvPicPr>
          <p:cNvPr id="8" name="Picture 7" descr="dedup_threshold_chart.png">
            <a:extLst>
              <a:ext uri="{FF2B5EF4-FFF2-40B4-BE49-F238E27FC236}">
                <a16:creationId xmlns:a16="http://schemas.microsoft.com/office/drawing/2014/main" id="{B69FE7BB-4E29-5E1A-5E25-EBB844C2B1F1}"/>
              </a:ext>
            </a:extLst>
          </p:cNvPr>
          <p:cNvPicPr>
            <a:picLocks noChangeAspect="1"/>
          </p:cNvPicPr>
          <p:nvPr/>
        </p:nvPicPr>
        <p:blipFill>
          <a:blip r:embed="rId5"/>
          <a:stretch>
            <a:fillRect/>
          </a:stretch>
        </p:blipFill>
        <p:spPr>
          <a:xfrm>
            <a:off x="530065" y="1091446"/>
            <a:ext cx="3802893" cy="2235912"/>
          </a:xfrm>
          <a:prstGeom prst="rect">
            <a:avLst/>
          </a:prstGeom>
        </p:spPr>
      </p:pic>
      <p:sp>
        <p:nvSpPr>
          <p:cNvPr id="10" name="TextBox 9">
            <a:extLst>
              <a:ext uri="{FF2B5EF4-FFF2-40B4-BE49-F238E27FC236}">
                <a16:creationId xmlns:a16="http://schemas.microsoft.com/office/drawing/2014/main" id="{CD0542C2-12CC-FC29-872D-7FF6C9FFFE5D}"/>
              </a:ext>
            </a:extLst>
          </p:cNvPr>
          <p:cNvSpPr txBox="1"/>
          <p:nvPr/>
        </p:nvSpPr>
        <p:spPr>
          <a:xfrm>
            <a:off x="447040" y="3314241"/>
            <a:ext cx="4003400" cy="143116"/>
          </a:xfrm>
          <a:prstGeom prst="rect">
            <a:avLst/>
          </a:prstGeom>
          <a:noFill/>
        </p:spPr>
        <p:txBody>
          <a:bodyPr wrap="square" lIns="34290" tIns="13716" rIns="34290" bIns="13716" anchor="t">
            <a:spAutoFit/>
          </a:bodyPr>
          <a:lstStyle/>
          <a:p>
            <a:pPr algn="ctr"/>
            <a:r>
              <a:rPr sz="750" i="1" dirty="0" err="1">
                <a:solidFill>
                  <a:srgbClr val="6B6F76"/>
                </a:solidFill>
                <a:latin typeface="Calibri"/>
              </a:rPr>
              <a:t>Dedup</a:t>
            </a:r>
            <a:r>
              <a:rPr sz="750" i="1" dirty="0">
                <a:solidFill>
                  <a:srgbClr val="6B6F76"/>
                </a:solidFill>
                <a:latin typeface="Calibri"/>
              </a:rPr>
              <a:t> threshold sweep — F1 and cost (FN = 2× FP)</a:t>
            </a:r>
          </a:p>
        </p:txBody>
      </p:sp>
      <p:pic>
        <p:nvPicPr>
          <p:cNvPr id="11" name="Picture 10" descr="perturbation_stability_chart.png">
            <a:extLst>
              <a:ext uri="{FF2B5EF4-FFF2-40B4-BE49-F238E27FC236}">
                <a16:creationId xmlns:a16="http://schemas.microsoft.com/office/drawing/2014/main" id="{92B7AF44-04DC-D814-F267-E571809F3A9C}"/>
              </a:ext>
            </a:extLst>
          </p:cNvPr>
          <p:cNvPicPr>
            <a:picLocks noChangeAspect="1"/>
          </p:cNvPicPr>
          <p:nvPr/>
        </p:nvPicPr>
        <p:blipFill>
          <a:blip r:embed="rId6"/>
          <a:stretch>
            <a:fillRect/>
          </a:stretch>
        </p:blipFill>
        <p:spPr>
          <a:xfrm>
            <a:off x="4827630" y="1091445"/>
            <a:ext cx="3802892" cy="2235912"/>
          </a:xfrm>
          <a:prstGeom prst="rect">
            <a:avLst/>
          </a:prstGeom>
        </p:spPr>
      </p:pic>
      <p:sp>
        <p:nvSpPr>
          <p:cNvPr id="12" name="Rounded Rectangle 13">
            <a:extLst>
              <a:ext uri="{FF2B5EF4-FFF2-40B4-BE49-F238E27FC236}">
                <a16:creationId xmlns:a16="http://schemas.microsoft.com/office/drawing/2014/main" id="{0A951E45-E4C5-D595-E39C-9AB4CA1A7DEA}"/>
              </a:ext>
            </a:extLst>
          </p:cNvPr>
          <p:cNvSpPr/>
          <p:nvPr/>
        </p:nvSpPr>
        <p:spPr>
          <a:xfrm>
            <a:off x="706915" y="3628905"/>
            <a:ext cx="8006800" cy="1017602"/>
          </a:xfrm>
          <a:prstGeom prst="roundRect">
            <a:avLst>
              <a:gd name="adj" fmla="val 8000"/>
            </a:avLst>
          </a:prstGeom>
          <a:solidFill>
            <a:srgbClr val="F5F6F8"/>
          </a:solidFill>
          <a:ln w="6350">
            <a:solidFill>
              <a:srgbClr val="DC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TextBox 12">
            <a:extLst>
              <a:ext uri="{FF2B5EF4-FFF2-40B4-BE49-F238E27FC236}">
                <a16:creationId xmlns:a16="http://schemas.microsoft.com/office/drawing/2014/main" id="{E14236FE-8379-4EE2-9000-E0CE9982A0F8}"/>
              </a:ext>
            </a:extLst>
          </p:cNvPr>
          <p:cNvSpPr txBox="1"/>
          <p:nvPr/>
        </p:nvSpPr>
        <p:spPr>
          <a:xfrm>
            <a:off x="726504" y="3670054"/>
            <a:ext cx="2683919" cy="154658"/>
          </a:xfrm>
          <a:prstGeom prst="rect">
            <a:avLst/>
          </a:prstGeom>
          <a:noFill/>
        </p:spPr>
        <p:txBody>
          <a:bodyPr wrap="square" lIns="34290" tIns="13716" rIns="34290" bIns="13716" anchor="t">
            <a:spAutoFit/>
          </a:bodyPr>
          <a:lstStyle/>
          <a:p>
            <a:pPr algn="l"/>
            <a:r>
              <a:rPr sz="825" b="1" dirty="0">
                <a:solidFill>
                  <a:srgbClr val="8C1D40"/>
                </a:solidFill>
                <a:latin typeface="Calibri"/>
              </a:rPr>
              <a:t>Production decision rules</a:t>
            </a:r>
          </a:p>
        </p:txBody>
      </p:sp>
      <p:sp>
        <p:nvSpPr>
          <p:cNvPr id="14" name="TextBox 13">
            <a:extLst>
              <a:ext uri="{FF2B5EF4-FFF2-40B4-BE49-F238E27FC236}">
                <a16:creationId xmlns:a16="http://schemas.microsoft.com/office/drawing/2014/main" id="{B8497FF9-39B6-C03B-397B-28BBB236A482}"/>
              </a:ext>
            </a:extLst>
          </p:cNvPr>
          <p:cNvSpPr txBox="1"/>
          <p:nvPr/>
        </p:nvSpPr>
        <p:spPr>
          <a:xfrm>
            <a:off x="724198" y="3875794"/>
            <a:ext cx="2579470" cy="154658"/>
          </a:xfrm>
          <a:prstGeom prst="rect">
            <a:avLst/>
          </a:prstGeom>
          <a:noFill/>
        </p:spPr>
        <p:txBody>
          <a:bodyPr wrap="square" lIns="34290" tIns="13716" rIns="34290" bIns="13716" anchor="t">
            <a:spAutoFit/>
          </a:bodyPr>
          <a:lstStyle/>
          <a:p>
            <a:pPr algn="l"/>
            <a:r>
              <a:rPr sz="825" b="1" dirty="0" err="1">
                <a:solidFill>
                  <a:srgbClr val="1A2D5A"/>
                </a:solidFill>
                <a:latin typeface="Calibri"/>
              </a:rPr>
              <a:t>Dedup</a:t>
            </a:r>
            <a:endParaRPr sz="825" b="1" dirty="0">
              <a:solidFill>
                <a:srgbClr val="1A2D5A"/>
              </a:solidFill>
              <a:latin typeface="Calibri"/>
            </a:endParaRPr>
          </a:p>
        </p:txBody>
      </p:sp>
      <p:sp>
        <p:nvSpPr>
          <p:cNvPr id="15" name="TextBox 14">
            <a:extLst>
              <a:ext uri="{FF2B5EF4-FFF2-40B4-BE49-F238E27FC236}">
                <a16:creationId xmlns:a16="http://schemas.microsoft.com/office/drawing/2014/main" id="{DABAE96D-5654-8AA0-0549-2A472EFEB342}"/>
              </a:ext>
            </a:extLst>
          </p:cNvPr>
          <p:cNvSpPr txBox="1"/>
          <p:nvPr/>
        </p:nvSpPr>
        <p:spPr>
          <a:xfrm>
            <a:off x="724198" y="4067817"/>
            <a:ext cx="2579470" cy="273921"/>
          </a:xfrm>
          <a:prstGeom prst="rect">
            <a:avLst/>
          </a:prstGeom>
          <a:noFill/>
        </p:spPr>
        <p:txBody>
          <a:bodyPr wrap="square" lIns="34290" tIns="13716" rIns="34290" bIns="13716" anchor="t">
            <a:spAutoFit/>
          </a:bodyPr>
          <a:lstStyle/>
          <a:p>
            <a:r>
              <a:rPr lang="en-GB" sz="800" dirty="0"/>
              <a:t>Using F1 for balanced trust; used cost-based threshold when missing real issues is more costly.</a:t>
            </a:r>
            <a:endParaRPr sz="750" dirty="0">
              <a:solidFill>
                <a:srgbClr val="333338"/>
              </a:solidFill>
              <a:latin typeface="Calibri"/>
            </a:endParaRPr>
          </a:p>
        </p:txBody>
      </p:sp>
      <p:sp>
        <p:nvSpPr>
          <p:cNvPr id="16" name="TextBox 15">
            <a:extLst>
              <a:ext uri="{FF2B5EF4-FFF2-40B4-BE49-F238E27FC236}">
                <a16:creationId xmlns:a16="http://schemas.microsoft.com/office/drawing/2014/main" id="{6860BE05-F610-2752-0E76-33C549511A85}"/>
              </a:ext>
            </a:extLst>
          </p:cNvPr>
          <p:cNvSpPr txBox="1"/>
          <p:nvPr/>
        </p:nvSpPr>
        <p:spPr>
          <a:xfrm>
            <a:off x="3429221" y="3875794"/>
            <a:ext cx="2579470" cy="154658"/>
          </a:xfrm>
          <a:prstGeom prst="rect">
            <a:avLst/>
          </a:prstGeom>
          <a:noFill/>
        </p:spPr>
        <p:txBody>
          <a:bodyPr wrap="square" lIns="34290" tIns="13716" rIns="34290" bIns="13716" anchor="t">
            <a:spAutoFit/>
          </a:bodyPr>
          <a:lstStyle/>
          <a:p>
            <a:pPr algn="l"/>
            <a:r>
              <a:rPr sz="825" b="1" dirty="0">
                <a:solidFill>
                  <a:srgbClr val="1A2D5A"/>
                </a:solidFill>
                <a:latin typeface="Calibri"/>
              </a:rPr>
              <a:t>Stability</a:t>
            </a:r>
          </a:p>
        </p:txBody>
      </p:sp>
      <p:sp>
        <p:nvSpPr>
          <p:cNvPr id="17" name="TextBox 16">
            <a:extLst>
              <a:ext uri="{FF2B5EF4-FFF2-40B4-BE49-F238E27FC236}">
                <a16:creationId xmlns:a16="http://schemas.microsoft.com/office/drawing/2014/main" id="{DFF3FF5D-3C2F-75C4-FAFC-63F557508718}"/>
              </a:ext>
            </a:extLst>
          </p:cNvPr>
          <p:cNvSpPr txBox="1"/>
          <p:nvPr/>
        </p:nvSpPr>
        <p:spPr>
          <a:xfrm>
            <a:off x="3429221" y="4067817"/>
            <a:ext cx="2579470" cy="273921"/>
          </a:xfrm>
          <a:prstGeom prst="rect">
            <a:avLst/>
          </a:prstGeom>
          <a:noFill/>
        </p:spPr>
        <p:txBody>
          <a:bodyPr wrap="square" lIns="34290" tIns="13716" rIns="34290" bIns="13716" anchor="t">
            <a:spAutoFit/>
          </a:bodyPr>
          <a:lstStyle/>
          <a:p>
            <a:r>
              <a:rPr lang="en-GB" sz="800" dirty="0"/>
              <a:t>BM25 is strongest; used Hybrid and  rerank by default and allow max 5% performance drop.</a:t>
            </a:r>
            <a:endParaRPr sz="750" dirty="0">
              <a:solidFill>
                <a:srgbClr val="333338"/>
              </a:solidFill>
              <a:latin typeface="Calibri"/>
            </a:endParaRPr>
          </a:p>
        </p:txBody>
      </p:sp>
      <p:sp>
        <p:nvSpPr>
          <p:cNvPr id="18" name="TextBox 17">
            <a:extLst>
              <a:ext uri="{FF2B5EF4-FFF2-40B4-BE49-F238E27FC236}">
                <a16:creationId xmlns:a16="http://schemas.microsoft.com/office/drawing/2014/main" id="{722D639A-A02D-C108-7731-9D776049B851}"/>
              </a:ext>
            </a:extLst>
          </p:cNvPr>
          <p:cNvSpPr txBox="1"/>
          <p:nvPr/>
        </p:nvSpPr>
        <p:spPr>
          <a:xfrm>
            <a:off x="6134245" y="3875794"/>
            <a:ext cx="2579470" cy="154658"/>
          </a:xfrm>
          <a:prstGeom prst="rect">
            <a:avLst/>
          </a:prstGeom>
          <a:noFill/>
        </p:spPr>
        <p:txBody>
          <a:bodyPr wrap="square" lIns="34290" tIns="13716" rIns="34290" bIns="13716" anchor="t">
            <a:spAutoFit/>
          </a:bodyPr>
          <a:lstStyle/>
          <a:p>
            <a:pPr algn="l"/>
            <a:r>
              <a:rPr sz="825" b="1">
                <a:solidFill>
                  <a:srgbClr val="1A2D5A"/>
                </a:solidFill>
                <a:latin typeface="Calibri"/>
              </a:rPr>
              <a:t>Confidence routing</a:t>
            </a:r>
          </a:p>
        </p:txBody>
      </p:sp>
      <p:sp>
        <p:nvSpPr>
          <p:cNvPr id="19" name="TextBox 18">
            <a:extLst>
              <a:ext uri="{FF2B5EF4-FFF2-40B4-BE49-F238E27FC236}">
                <a16:creationId xmlns:a16="http://schemas.microsoft.com/office/drawing/2014/main" id="{6CBD52FD-38A6-E276-1137-16D8E8C6B0A1}"/>
              </a:ext>
            </a:extLst>
          </p:cNvPr>
          <p:cNvSpPr txBox="1"/>
          <p:nvPr/>
        </p:nvSpPr>
        <p:spPr>
          <a:xfrm>
            <a:off x="6132447" y="4067817"/>
            <a:ext cx="2498075" cy="273921"/>
          </a:xfrm>
          <a:prstGeom prst="rect">
            <a:avLst/>
          </a:prstGeom>
          <a:noFill/>
        </p:spPr>
        <p:txBody>
          <a:bodyPr wrap="square" lIns="34290" tIns="13716" rIns="34290" bIns="13716" anchor="t">
            <a:spAutoFit/>
          </a:bodyPr>
          <a:lstStyle/>
          <a:p>
            <a:r>
              <a:rPr sz="750" dirty="0">
                <a:solidFill>
                  <a:srgbClr val="333338"/>
                </a:solidFill>
                <a:latin typeface="Calibri"/>
              </a:rPr>
              <a:t>If rerank score &lt; MIN_RERANK_SCORE</a:t>
            </a:r>
            <a:r>
              <a:rPr lang="en-IN" sz="750" dirty="0">
                <a:solidFill>
                  <a:srgbClr val="333338"/>
                </a:solidFill>
                <a:latin typeface="Calibri"/>
              </a:rPr>
              <a:t> then </a:t>
            </a:r>
            <a:r>
              <a:rPr lang="en-GB" sz="800" dirty="0"/>
              <a:t>If confidence is low, don’t guess, escalate to a human.</a:t>
            </a:r>
          </a:p>
        </p:txBody>
      </p:sp>
    </p:spTree>
    <p:extLst>
      <p:ext uri="{BB962C8B-B14F-4D97-AF65-F5344CB8AC3E}">
        <p14:creationId xmlns:p14="http://schemas.microsoft.com/office/powerpoint/2010/main" val="2724047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Shape 1"/>
          <p:cNvSpPr/>
          <p:nvPr/>
        </p:nvSpPr>
        <p:spPr>
          <a:xfrm>
            <a:off x="366713" y="205643"/>
            <a:ext cx="8410575" cy="290513"/>
          </a:xfrm>
          <a:prstGeom prst="rect">
            <a:avLst/>
          </a:prstGeom>
          <a:ln/>
        </p:spPr>
        <p:txBody>
          <a:bodyPr/>
          <a:lstStyle/>
          <a:p>
            <a:endParaRPr lang="en-IN"/>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p:cNvSpPr/>
          <p:nvPr/>
        </p:nvSpPr>
        <p:spPr>
          <a:xfrm>
            <a:off x="6745114" y="228042"/>
            <a:ext cx="125730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CHALLENGES &amp; MITIGATION</a:t>
            </a:r>
            <a:endParaRPr lang="en-US" sz="700" dirty="0"/>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p:cNvSpPr/>
          <p:nvPr/>
        </p:nvSpPr>
        <p:spPr>
          <a:xfrm>
            <a:off x="302704" y="464302"/>
            <a:ext cx="8410575" cy="233362"/>
          </a:xfrm>
          <a:prstGeom prst="rect">
            <a:avLst/>
          </a:prstGeom>
          <a:ln/>
        </p:spPr>
        <p:txBody>
          <a:bodyPr wrap="square" lIns="0" tIns="0" rIns="0" bIns="0" rtlCol="0" anchor="t"/>
          <a:lstStyle/>
          <a:p>
            <a:pPr marL="0" indent="0" algn="l">
              <a:lnSpc>
                <a:spcPts val="2376"/>
              </a:lnSpc>
              <a:buNone/>
            </a:pPr>
            <a:r>
              <a:rPr lang="en-US" sz="2100" b="1" dirty="0">
                <a:solidFill>
                  <a:srgbClr val="1E3A5F"/>
                </a:solidFill>
                <a:latin typeface="Inter" pitchFamily="34" charset="0"/>
                <a:ea typeface="Inter" pitchFamily="34" charset="-122"/>
                <a:cs typeface="Inter" pitchFamily="34" charset="-120"/>
              </a:rPr>
              <a:t>Challenges, Risks &amp; Mitigation</a:t>
            </a:r>
            <a:endParaRPr lang="en-US" sz="2100" dirty="0"/>
          </a:p>
        </p:txBody>
      </p:sp>
      <p:sp>
        <p:nvSpPr>
          <p:cNvPr id="45" name="Shape 43"/>
          <p:cNvSpPr/>
          <p:nvPr/>
        </p:nvSpPr>
        <p:spPr>
          <a:xfrm>
            <a:off x="366713" y="4641602"/>
            <a:ext cx="8410575" cy="233362"/>
          </a:xfrm>
          <a:prstGeom prst="rect">
            <a:avLst/>
          </a:prstGeom>
          <a:ln/>
        </p:spPr>
        <p:txBody>
          <a:bodyPr/>
          <a:lstStyle/>
          <a:p>
            <a:endParaRPr lang="en-IN"/>
          </a:p>
        </p:txBody>
      </p:sp>
      <p:sp>
        <p:nvSpPr>
          <p:cNvPr id="46" name="Text 44"/>
          <p:cNvSpPr/>
          <p:nvPr/>
        </p:nvSpPr>
        <p:spPr>
          <a:xfrm>
            <a:off x="364778" y="4750173"/>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47" name="Text 45"/>
          <p:cNvSpPr/>
          <p:nvPr/>
        </p:nvSpPr>
        <p:spPr>
          <a:xfrm>
            <a:off x="8249692" y="4750173"/>
            <a:ext cx="528638"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21 of 24</a:t>
            </a:r>
            <a:endParaRPr lang="en-US" sz="600" dirty="0"/>
          </a:p>
        </p:txBody>
      </p:sp>
      <p:pic>
        <p:nvPicPr>
          <p:cNvPr id="4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4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641602"/>
            <a:ext cx="8410575" cy="233362"/>
          </a:xfrm>
          <a:prstGeom prst="rect">
            <a:avLst/>
          </a:prstGeom>
        </p:spPr>
      </p:pic>
      <p:sp>
        <p:nvSpPr>
          <p:cNvPr id="86" name="Shape 3">
            <a:extLst>
              <a:ext uri="{FF2B5EF4-FFF2-40B4-BE49-F238E27FC236}">
                <a16:creationId xmlns:a16="http://schemas.microsoft.com/office/drawing/2014/main" id="{6746CA35-D1E4-650A-EDF6-E6EB080E6D1A}"/>
              </a:ext>
            </a:extLst>
          </p:cNvPr>
          <p:cNvSpPr/>
          <p:nvPr/>
        </p:nvSpPr>
        <p:spPr>
          <a:xfrm>
            <a:off x="302704" y="839396"/>
            <a:ext cx="4187952" cy="1207008"/>
          </a:xfrm>
          <a:prstGeom prst="rect">
            <a:avLst/>
          </a:prstGeom>
          <a:solidFill>
            <a:srgbClr val="FFFFFF"/>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87" name="Shape 4">
            <a:extLst>
              <a:ext uri="{FF2B5EF4-FFF2-40B4-BE49-F238E27FC236}">
                <a16:creationId xmlns:a16="http://schemas.microsoft.com/office/drawing/2014/main" id="{FE3AEAC4-68F2-88CD-C509-B0EB0D796A0D}"/>
              </a:ext>
            </a:extLst>
          </p:cNvPr>
          <p:cNvSpPr/>
          <p:nvPr/>
        </p:nvSpPr>
        <p:spPr>
          <a:xfrm>
            <a:off x="302704" y="839396"/>
            <a:ext cx="4187952" cy="50292"/>
          </a:xfrm>
          <a:prstGeom prst="rect">
            <a:avLst/>
          </a:prstGeom>
          <a:solidFill>
            <a:srgbClr val="EF4444"/>
          </a:solidFill>
          <a:ln w="12700">
            <a:solidFill>
              <a:srgbClr val="FFFFFF"/>
            </a:solidFill>
            <a:prstDash val="solid"/>
          </a:ln>
        </p:spPr>
        <p:txBody>
          <a:bodyPr/>
          <a:lstStyle/>
          <a:p>
            <a:endParaRPr lang="en-IN"/>
          </a:p>
        </p:txBody>
      </p:sp>
      <p:sp>
        <p:nvSpPr>
          <p:cNvPr id="88" name="Shape 5">
            <a:extLst>
              <a:ext uri="{FF2B5EF4-FFF2-40B4-BE49-F238E27FC236}">
                <a16:creationId xmlns:a16="http://schemas.microsoft.com/office/drawing/2014/main" id="{C024D9D5-A0BE-4191-A244-A6A275B7B634}"/>
              </a:ext>
            </a:extLst>
          </p:cNvPr>
          <p:cNvSpPr/>
          <p:nvPr/>
        </p:nvSpPr>
        <p:spPr>
          <a:xfrm>
            <a:off x="3503104" y="930836"/>
            <a:ext cx="896112" cy="201168"/>
          </a:xfrm>
          <a:prstGeom prst="rect">
            <a:avLst/>
          </a:prstGeom>
          <a:solidFill>
            <a:srgbClr val="EF4444"/>
          </a:solidFill>
          <a:ln w="12700">
            <a:solidFill>
              <a:srgbClr val="FFFFFF"/>
            </a:solidFill>
            <a:prstDash val="solid"/>
          </a:ln>
        </p:spPr>
        <p:txBody>
          <a:bodyPr/>
          <a:lstStyle/>
          <a:p>
            <a:endParaRPr lang="en-IN"/>
          </a:p>
        </p:txBody>
      </p:sp>
      <p:sp>
        <p:nvSpPr>
          <p:cNvPr id="89" name="Text 6">
            <a:extLst>
              <a:ext uri="{FF2B5EF4-FFF2-40B4-BE49-F238E27FC236}">
                <a16:creationId xmlns:a16="http://schemas.microsoft.com/office/drawing/2014/main" id="{C22D7594-C166-A393-1662-1914ED6DF76A}"/>
              </a:ext>
            </a:extLst>
          </p:cNvPr>
          <p:cNvSpPr/>
          <p:nvPr/>
        </p:nvSpPr>
        <p:spPr>
          <a:xfrm>
            <a:off x="3503104" y="930836"/>
            <a:ext cx="896112"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90" name="Text 7">
            <a:extLst>
              <a:ext uri="{FF2B5EF4-FFF2-40B4-BE49-F238E27FC236}">
                <a16:creationId xmlns:a16="http://schemas.microsoft.com/office/drawing/2014/main" id="{7887314C-F713-48FF-7B65-20264B165880}"/>
              </a:ext>
            </a:extLst>
          </p:cNvPr>
          <p:cNvSpPr/>
          <p:nvPr/>
        </p:nvSpPr>
        <p:spPr>
          <a:xfrm>
            <a:off x="394144" y="930836"/>
            <a:ext cx="3017520" cy="219456"/>
          </a:xfrm>
          <a:prstGeom prst="rect">
            <a:avLst/>
          </a:prstGeom>
          <a:noFill/>
          <a:ln/>
        </p:spPr>
        <p:txBody>
          <a:bodyPr wrap="square" lIns="0" tIns="0" rIns="0" bIns="0" rtlCol="0" anchor="ctr"/>
          <a:lstStyle/>
          <a:p>
            <a:pPr marL="0" indent="0" algn="l">
              <a:buNone/>
            </a:pPr>
            <a:r>
              <a:rPr lang="en-US" sz="1150" b="1" dirty="0">
                <a:solidFill>
                  <a:srgbClr val="0F2044"/>
                </a:solidFill>
                <a:latin typeface="Calibri" pitchFamily="34" charset="0"/>
                <a:ea typeface="Calibri" pitchFamily="34" charset="-122"/>
                <a:cs typeface="Calibri" pitchFamily="34" charset="-120"/>
              </a:rPr>
              <a:t>LLM Hallucination</a:t>
            </a:r>
            <a:endParaRPr lang="en-US" sz="1150" dirty="0"/>
          </a:p>
        </p:txBody>
      </p:sp>
      <p:sp>
        <p:nvSpPr>
          <p:cNvPr id="91" name="Text 8">
            <a:extLst>
              <a:ext uri="{FF2B5EF4-FFF2-40B4-BE49-F238E27FC236}">
                <a16:creationId xmlns:a16="http://schemas.microsoft.com/office/drawing/2014/main" id="{E52DC1A2-CC9D-FA09-A873-BE374F9BFAA7}"/>
              </a:ext>
            </a:extLst>
          </p:cNvPr>
          <p:cNvSpPr/>
          <p:nvPr/>
        </p:nvSpPr>
        <p:spPr>
          <a:xfrm>
            <a:off x="394144" y="1159436"/>
            <a:ext cx="3931920" cy="182880"/>
          </a:xfrm>
          <a:prstGeom prst="rect">
            <a:avLst/>
          </a:prstGeom>
          <a:noFill/>
          <a:ln/>
        </p:spPr>
        <p:txBody>
          <a:bodyPr wrap="square" lIns="0" tIns="0" rIns="0" bIns="0" rtlCol="0" anchor="ctr"/>
          <a:lstStyle/>
          <a:p>
            <a:pPr marL="0" indent="0" algn="l">
              <a:buNone/>
            </a:pPr>
            <a:r>
              <a:rPr lang="en-US" sz="950" i="1" dirty="0">
                <a:solidFill>
                  <a:srgbClr val="007A7A"/>
                </a:solidFill>
                <a:latin typeface="Calibri" pitchFamily="34" charset="0"/>
                <a:ea typeface="Calibri" pitchFamily="34" charset="-122"/>
                <a:cs typeface="Calibri" pitchFamily="34" charset="-120"/>
              </a:rPr>
              <a:t>The AI was inventing answers</a:t>
            </a:r>
            <a:endParaRPr lang="en-US" sz="950" dirty="0"/>
          </a:p>
        </p:txBody>
      </p:sp>
      <p:sp>
        <p:nvSpPr>
          <p:cNvPr id="92" name="Shape 9">
            <a:extLst>
              <a:ext uri="{FF2B5EF4-FFF2-40B4-BE49-F238E27FC236}">
                <a16:creationId xmlns:a16="http://schemas.microsoft.com/office/drawing/2014/main" id="{A2DCA556-DAF5-AF95-40C3-10FDDA6DA9B0}"/>
              </a:ext>
            </a:extLst>
          </p:cNvPr>
          <p:cNvSpPr/>
          <p:nvPr/>
        </p:nvSpPr>
        <p:spPr>
          <a:xfrm>
            <a:off x="394144" y="1351460"/>
            <a:ext cx="3913632" cy="0"/>
          </a:xfrm>
          <a:prstGeom prst="line">
            <a:avLst/>
          </a:prstGeom>
          <a:noFill/>
          <a:ln w="6350">
            <a:solidFill>
              <a:srgbClr val="E2E8F0"/>
            </a:solidFill>
            <a:prstDash val="solid"/>
          </a:ln>
        </p:spPr>
        <p:txBody>
          <a:bodyPr/>
          <a:lstStyle/>
          <a:p>
            <a:endParaRPr lang="en-IN"/>
          </a:p>
        </p:txBody>
      </p:sp>
      <p:sp>
        <p:nvSpPr>
          <p:cNvPr id="93" name="Text 10">
            <a:extLst>
              <a:ext uri="{FF2B5EF4-FFF2-40B4-BE49-F238E27FC236}">
                <a16:creationId xmlns:a16="http://schemas.microsoft.com/office/drawing/2014/main" id="{A516D865-D4C7-3EDB-5F78-22B80E56D266}"/>
              </a:ext>
            </a:extLst>
          </p:cNvPr>
          <p:cNvSpPr/>
          <p:nvPr/>
        </p:nvSpPr>
        <p:spPr>
          <a:xfrm>
            <a:off x="394144" y="1388036"/>
            <a:ext cx="3931920" cy="59436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  We implemented Retrieval-Augmented Generation (RAG) the AI can only answer using retrieved ticket history and verified runbooks. A guardrail layer blocks any response that lacks a grounded source. Result: hallucination rate dropped from ~50% to 4.5%.</a:t>
            </a:r>
            <a:endParaRPr lang="en-US" sz="950" dirty="0"/>
          </a:p>
        </p:txBody>
      </p:sp>
      <p:sp>
        <p:nvSpPr>
          <p:cNvPr id="94" name="Shape 11">
            <a:extLst>
              <a:ext uri="{FF2B5EF4-FFF2-40B4-BE49-F238E27FC236}">
                <a16:creationId xmlns:a16="http://schemas.microsoft.com/office/drawing/2014/main" id="{12829CD9-DBD1-4B0D-019C-FF77A80D2877}"/>
              </a:ext>
            </a:extLst>
          </p:cNvPr>
          <p:cNvSpPr/>
          <p:nvPr/>
        </p:nvSpPr>
        <p:spPr>
          <a:xfrm>
            <a:off x="4710112" y="839396"/>
            <a:ext cx="4187952" cy="1207008"/>
          </a:xfrm>
          <a:prstGeom prst="rect">
            <a:avLst/>
          </a:prstGeom>
          <a:solidFill>
            <a:srgbClr val="FFFFFF"/>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95" name="Shape 12">
            <a:extLst>
              <a:ext uri="{FF2B5EF4-FFF2-40B4-BE49-F238E27FC236}">
                <a16:creationId xmlns:a16="http://schemas.microsoft.com/office/drawing/2014/main" id="{E864E554-63D5-D9AA-C54A-B0403A97A1C5}"/>
              </a:ext>
            </a:extLst>
          </p:cNvPr>
          <p:cNvSpPr/>
          <p:nvPr/>
        </p:nvSpPr>
        <p:spPr>
          <a:xfrm>
            <a:off x="4710112" y="839396"/>
            <a:ext cx="4187952" cy="50292"/>
          </a:xfrm>
          <a:prstGeom prst="rect">
            <a:avLst/>
          </a:prstGeom>
          <a:solidFill>
            <a:srgbClr val="EF4444"/>
          </a:solidFill>
          <a:ln w="12700">
            <a:solidFill>
              <a:srgbClr val="FFFFFF"/>
            </a:solidFill>
            <a:prstDash val="solid"/>
          </a:ln>
        </p:spPr>
        <p:txBody>
          <a:bodyPr/>
          <a:lstStyle/>
          <a:p>
            <a:endParaRPr lang="en-IN"/>
          </a:p>
        </p:txBody>
      </p:sp>
      <p:sp>
        <p:nvSpPr>
          <p:cNvPr id="96" name="Shape 13">
            <a:extLst>
              <a:ext uri="{FF2B5EF4-FFF2-40B4-BE49-F238E27FC236}">
                <a16:creationId xmlns:a16="http://schemas.microsoft.com/office/drawing/2014/main" id="{C6274BF2-92B0-C0F8-E51C-EDB6B5C8EA73}"/>
              </a:ext>
            </a:extLst>
          </p:cNvPr>
          <p:cNvSpPr/>
          <p:nvPr/>
        </p:nvSpPr>
        <p:spPr>
          <a:xfrm>
            <a:off x="7910512" y="930836"/>
            <a:ext cx="896112" cy="201168"/>
          </a:xfrm>
          <a:prstGeom prst="rect">
            <a:avLst/>
          </a:prstGeom>
          <a:solidFill>
            <a:srgbClr val="EF4444"/>
          </a:solidFill>
          <a:ln w="12700">
            <a:solidFill>
              <a:srgbClr val="FFFFFF"/>
            </a:solidFill>
            <a:prstDash val="solid"/>
          </a:ln>
        </p:spPr>
        <p:txBody>
          <a:bodyPr/>
          <a:lstStyle/>
          <a:p>
            <a:endParaRPr lang="en-IN"/>
          </a:p>
        </p:txBody>
      </p:sp>
      <p:sp>
        <p:nvSpPr>
          <p:cNvPr id="97" name="Text 14">
            <a:extLst>
              <a:ext uri="{FF2B5EF4-FFF2-40B4-BE49-F238E27FC236}">
                <a16:creationId xmlns:a16="http://schemas.microsoft.com/office/drawing/2014/main" id="{A6611A91-89F0-35C8-1E72-D962C127F572}"/>
              </a:ext>
            </a:extLst>
          </p:cNvPr>
          <p:cNvSpPr/>
          <p:nvPr/>
        </p:nvSpPr>
        <p:spPr>
          <a:xfrm>
            <a:off x="7910512" y="930836"/>
            <a:ext cx="896112"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98" name="Text 15">
            <a:extLst>
              <a:ext uri="{FF2B5EF4-FFF2-40B4-BE49-F238E27FC236}">
                <a16:creationId xmlns:a16="http://schemas.microsoft.com/office/drawing/2014/main" id="{B5222F86-C3C1-D07F-3FB6-17C2D5D120C8}"/>
              </a:ext>
            </a:extLst>
          </p:cNvPr>
          <p:cNvSpPr/>
          <p:nvPr/>
        </p:nvSpPr>
        <p:spPr>
          <a:xfrm>
            <a:off x="4801552" y="930836"/>
            <a:ext cx="3017520" cy="219456"/>
          </a:xfrm>
          <a:prstGeom prst="rect">
            <a:avLst/>
          </a:prstGeom>
          <a:noFill/>
          <a:ln/>
        </p:spPr>
        <p:txBody>
          <a:bodyPr wrap="square" lIns="0" tIns="0" rIns="0" bIns="0" rtlCol="0" anchor="ctr"/>
          <a:lstStyle/>
          <a:p>
            <a:pPr marL="0" indent="0" algn="l">
              <a:buNone/>
            </a:pPr>
            <a:r>
              <a:rPr lang="en-US" sz="1150" b="1" dirty="0">
                <a:solidFill>
                  <a:srgbClr val="0F2044"/>
                </a:solidFill>
                <a:latin typeface="Calibri" pitchFamily="34" charset="0"/>
                <a:ea typeface="Calibri" pitchFamily="34" charset="-122"/>
                <a:cs typeface="Calibri" pitchFamily="34" charset="-120"/>
              </a:rPr>
              <a:t>Synthetic Data Bias</a:t>
            </a:r>
            <a:endParaRPr lang="en-US" sz="1150" dirty="0"/>
          </a:p>
        </p:txBody>
      </p:sp>
      <p:sp>
        <p:nvSpPr>
          <p:cNvPr id="99" name="Text 16">
            <a:extLst>
              <a:ext uri="{FF2B5EF4-FFF2-40B4-BE49-F238E27FC236}">
                <a16:creationId xmlns:a16="http://schemas.microsoft.com/office/drawing/2014/main" id="{33439B36-722B-9F61-A8AA-07224FFD6DB3}"/>
              </a:ext>
            </a:extLst>
          </p:cNvPr>
          <p:cNvSpPr/>
          <p:nvPr/>
        </p:nvSpPr>
        <p:spPr>
          <a:xfrm>
            <a:off x="4801552" y="1159436"/>
            <a:ext cx="3931920" cy="182880"/>
          </a:xfrm>
          <a:prstGeom prst="rect">
            <a:avLst/>
          </a:prstGeom>
          <a:noFill/>
          <a:ln/>
        </p:spPr>
        <p:txBody>
          <a:bodyPr wrap="square" lIns="0" tIns="0" rIns="0" bIns="0" rtlCol="0" anchor="ctr"/>
          <a:lstStyle/>
          <a:p>
            <a:pPr marL="0" indent="0" algn="l">
              <a:buNone/>
            </a:pPr>
            <a:r>
              <a:rPr lang="en-US" sz="950" i="1" dirty="0">
                <a:solidFill>
                  <a:srgbClr val="007A7A"/>
                </a:solidFill>
                <a:latin typeface="Calibri" pitchFamily="34" charset="0"/>
                <a:ea typeface="Calibri" pitchFamily="34" charset="-122"/>
                <a:cs typeface="Calibri" pitchFamily="34" charset="-120"/>
              </a:rPr>
              <a:t>Our training data didn't reflect real-world tickets</a:t>
            </a:r>
            <a:endParaRPr lang="en-US" sz="950" dirty="0"/>
          </a:p>
        </p:txBody>
      </p:sp>
      <p:sp>
        <p:nvSpPr>
          <p:cNvPr id="100" name="Shape 17">
            <a:extLst>
              <a:ext uri="{FF2B5EF4-FFF2-40B4-BE49-F238E27FC236}">
                <a16:creationId xmlns:a16="http://schemas.microsoft.com/office/drawing/2014/main" id="{5145D33C-AF7C-941C-2B5E-B31C06D46C56}"/>
              </a:ext>
            </a:extLst>
          </p:cNvPr>
          <p:cNvSpPr/>
          <p:nvPr/>
        </p:nvSpPr>
        <p:spPr>
          <a:xfrm>
            <a:off x="4801552" y="1351460"/>
            <a:ext cx="3913632" cy="0"/>
          </a:xfrm>
          <a:prstGeom prst="line">
            <a:avLst/>
          </a:prstGeom>
          <a:noFill/>
          <a:ln w="6350">
            <a:solidFill>
              <a:srgbClr val="E2E8F0"/>
            </a:solidFill>
            <a:prstDash val="solid"/>
          </a:ln>
        </p:spPr>
        <p:txBody>
          <a:bodyPr/>
          <a:lstStyle/>
          <a:p>
            <a:endParaRPr lang="en-IN"/>
          </a:p>
        </p:txBody>
      </p:sp>
      <p:sp>
        <p:nvSpPr>
          <p:cNvPr id="101" name="Text 18">
            <a:extLst>
              <a:ext uri="{FF2B5EF4-FFF2-40B4-BE49-F238E27FC236}">
                <a16:creationId xmlns:a16="http://schemas.microsoft.com/office/drawing/2014/main" id="{EAADB277-EB31-44BD-EAC2-1284FABAF5A5}"/>
              </a:ext>
            </a:extLst>
          </p:cNvPr>
          <p:cNvSpPr/>
          <p:nvPr/>
        </p:nvSpPr>
        <p:spPr>
          <a:xfrm>
            <a:off x="4801552" y="1388036"/>
            <a:ext cx="3931920" cy="59436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  We replaced synthetic-only data by ingesting 67,000+ real helpdesk tickets from GitHub Issues, Jira, and enterprise customer support exports making the AI accurate on the messy, varied language of real IT problems.</a:t>
            </a:r>
            <a:endParaRPr lang="en-US" sz="950" dirty="0"/>
          </a:p>
        </p:txBody>
      </p:sp>
      <p:sp>
        <p:nvSpPr>
          <p:cNvPr id="102" name="Shape 19">
            <a:extLst>
              <a:ext uri="{FF2B5EF4-FFF2-40B4-BE49-F238E27FC236}">
                <a16:creationId xmlns:a16="http://schemas.microsoft.com/office/drawing/2014/main" id="{7E9C0AF5-D8FC-54DB-81A0-4E389BE6813C}"/>
              </a:ext>
            </a:extLst>
          </p:cNvPr>
          <p:cNvSpPr/>
          <p:nvPr/>
        </p:nvSpPr>
        <p:spPr>
          <a:xfrm>
            <a:off x="302704" y="2174420"/>
            <a:ext cx="4187952" cy="1207008"/>
          </a:xfrm>
          <a:prstGeom prst="rect">
            <a:avLst/>
          </a:prstGeom>
          <a:solidFill>
            <a:srgbClr val="FFFFFF"/>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103" name="Shape 20">
            <a:extLst>
              <a:ext uri="{FF2B5EF4-FFF2-40B4-BE49-F238E27FC236}">
                <a16:creationId xmlns:a16="http://schemas.microsoft.com/office/drawing/2014/main" id="{221E3052-3BE2-E7E1-07E3-1D6CF7D79E01}"/>
              </a:ext>
            </a:extLst>
          </p:cNvPr>
          <p:cNvSpPr/>
          <p:nvPr/>
        </p:nvSpPr>
        <p:spPr>
          <a:xfrm>
            <a:off x="302704" y="2174420"/>
            <a:ext cx="4187952" cy="50292"/>
          </a:xfrm>
          <a:prstGeom prst="rect">
            <a:avLst/>
          </a:prstGeom>
          <a:solidFill>
            <a:srgbClr val="22C55E"/>
          </a:solidFill>
          <a:ln w="12700">
            <a:solidFill>
              <a:srgbClr val="FFFFFF"/>
            </a:solidFill>
            <a:prstDash val="solid"/>
          </a:ln>
        </p:spPr>
        <p:txBody>
          <a:bodyPr/>
          <a:lstStyle/>
          <a:p>
            <a:endParaRPr lang="en-IN"/>
          </a:p>
        </p:txBody>
      </p:sp>
      <p:sp>
        <p:nvSpPr>
          <p:cNvPr id="104" name="Shape 21">
            <a:extLst>
              <a:ext uri="{FF2B5EF4-FFF2-40B4-BE49-F238E27FC236}">
                <a16:creationId xmlns:a16="http://schemas.microsoft.com/office/drawing/2014/main" id="{CBF9D7F2-7FB0-13AF-ADC5-E124DAD46610}"/>
              </a:ext>
            </a:extLst>
          </p:cNvPr>
          <p:cNvSpPr/>
          <p:nvPr/>
        </p:nvSpPr>
        <p:spPr>
          <a:xfrm>
            <a:off x="3503104" y="2265860"/>
            <a:ext cx="896112" cy="201168"/>
          </a:xfrm>
          <a:prstGeom prst="rect">
            <a:avLst/>
          </a:prstGeom>
          <a:solidFill>
            <a:srgbClr val="22C55E"/>
          </a:solidFill>
          <a:ln w="12700">
            <a:solidFill>
              <a:srgbClr val="FFFFFF"/>
            </a:solidFill>
            <a:prstDash val="solid"/>
          </a:ln>
        </p:spPr>
        <p:txBody>
          <a:bodyPr/>
          <a:lstStyle/>
          <a:p>
            <a:endParaRPr lang="en-IN"/>
          </a:p>
        </p:txBody>
      </p:sp>
      <p:sp>
        <p:nvSpPr>
          <p:cNvPr id="105" name="Text 22">
            <a:extLst>
              <a:ext uri="{FF2B5EF4-FFF2-40B4-BE49-F238E27FC236}">
                <a16:creationId xmlns:a16="http://schemas.microsoft.com/office/drawing/2014/main" id="{DF3E3385-1355-A544-9D22-4AE4011F4003}"/>
              </a:ext>
            </a:extLst>
          </p:cNvPr>
          <p:cNvSpPr/>
          <p:nvPr/>
        </p:nvSpPr>
        <p:spPr>
          <a:xfrm>
            <a:off x="3503104" y="2265860"/>
            <a:ext cx="896112"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MED → LOW</a:t>
            </a:r>
            <a:endParaRPr lang="en-US" sz="700" dirty="0"/>
          </a:p>
        </p:txBody>
      </p:sp>
      <p:sp>
        <p:nvSpPr>
          <p:cNvPr id="106" name="Text 23">
            <a:extLst>
              <a:ext uri="{FF2B5EF4-FFF2-40B4-BE49-F238E27FC236}">
                <a16:creationId xmlns:a16="http://schemas.microsoft.com/office/drawing/2014/main" id="{F885F8BD-EB63-A1A9-CC3F-BB8676360918}"/>
              </a:ext>
            </a:extLst>
          </p:cNvPr>
          <p:cNvSpPr/>
          <p:nvPr/>
        </p:nvSpPr>
        <p:spPr>
          <a:xfrm>
            <a:off x="394144" y="2265860"/>
            <a:ext cx="3017520" cy="219456"/>
          </a:xfrm>
          <a:prstGeom prst="rect">
            <a:avLst/>
          </a:prstGeom>
          <a:noFill/>
          <a:ln/>
        </p:spPr>
        <p:txBody>
          <a:bodyPr wrap="square" lIns="0" tIns="0" rIns="0" bIns="0" rtlCol="0" anchor="ctr"/>
          <a:lstStyle/>
          <a:p>
            <a:pPr marL="0" indent="0" algn="l">
              <a:buNone/>
            </a:pPr>
            <a:r>
              <a:rPr lang="en-US" sz="1150" b="1" dirty="0">
                <a:solidFill>
                  <a:srgbClr val="0F2044"/>
                </a:solidFill>
                <a:latin typeface="Calibri" pitchFamily="34" charset="0"/>
                <a:ea typeface="Calibri" pitchFamily="34" charset="-122"/>
                <a:cs typeface="Calibri" pitchFamily="34" charset="-120"/>
              </a:rPr>
              <a:t>LLM Generation Latency</a:t>
            </a:r>
            <a:endParaRPr lang="en-US" sz="1150" dirty="0"/>
          </a:p>
        </p:txBody>
      </p:sp>
      <p:sp>
        <p:nvSpPr>
          <p:cNvPr id="107" name="Text 24">
            <a:extLst>
              <a:ext uri="{FF2B5EF4-FFF2-40B4-BE49-F238E27FC236}">
                <a16:creationId xmlns:a16="http://schemas.microsoft.com/office/drawing/2014/main" id="{86007683-1999-AFD2-222A-12A91C9C57F4}"/>
              </a:ext>
            </a:extLst>
          </p:cNvPr>
          <p:cNvSpPr/>
          <p:nvPr/>
        </p:nvSpPr>
        <p:spPr>
          <a:xfrm>
            <a:off x="394144" y="2494460"/>
            <a:ext cx="3931920" cy="182880"/>
          </a:xfrm>
          <a:prstGeom prst="rect">
            <a:avLst/>
          </a:prstGeom>
          <a:noFill/>
          <a:ln/>
        </p:spPr>
        <p:txBody>
          <a:bodyPr wrap="square" lIns="0" tIns="0" rIns="0" bIns="0" rtlCol="0" anchor="ctr"/>
          <a:lstStyle/>
          <a:p>
            <a:pPr marL="0" indent="0" algn="l">
              <a:buNone/>
            </a:pPr>
            <a:r>
              <a:rPr lang="en-US" sz="950" i="1" dirty="0">
                <a:solidFill>
                  <a:srgbClr val="007A7A"/>
                </a:solidFill>
                <a:latin typeface="Calibri" pitchFamily="34" charset="0"/>
                <a:ea typeface="Calibri" pitchFamily="34" charset="-122"/>
                <a:cs typeface="Calibri" pitchFamily="34" charset="-120"/>
              </a:rPr>
              <a:t>The AI was too slow for live use (4–9 seconds)</a:t>
            </a:r>
            <a:endParaRPr lang="en-US" sz="950" dirty="0"/>
          </a:p>
        </p:txBody>
      </p:sp>
      <p:sp>
        <p:nvSpPr>
          <p:cNvPr id="108" name="Shape 25">
            <a:extLst>
              <a:ext uri="{FF2B5EF4-FFF2-40B4-BE49-F238E27FC236}">
                <a16:creationId xmlns:a16="http://schemas.microsoft.com/office/drawing/2014/main" id="{44F757E0-0AAD-54CD-F8E4-F161CDC8F9E8}"/>
              </a:ext>
            </a:extLst>
          </p:cNvPr>
          <p:cNvSpPr/>
          <p:nvPr/>
        </p:nvSpPr>
        <p:spPr>
          <a:xfrm>
            <a:off x="394144" y="2686484"/>
            <a:ext cx="3913632" cy="0"/>
          </a:xfrm>
          <a:prstGeom prst="line">
            <a:avLst/>
          </a:prstGeom>
          <a:noFill/>
          <a:ln w="6350">
            <a:solidFill>
              <a:srgbClr val="E2E8F0"/>
            </a:solidFill>
            <a:prstDash val="solid"/>
          </a:ln>
        </p:spPr>
        <p:txBody>
          <a:bodyPr/>
          <a:lstStyle/>
          <a:p>
            <a:endParaRPr lang="en-IN"/>
          </a:p>
        </p:txBody>
      </p:sp>
      <p:sp>
        <p:nvSpPr>
          <p:cNvPr id="109" name="Text 26">
            <a:extLst>
              <a:ext uri="{FF2B5EF4-FFF2-40B4-BE49-F238E27FC236}">
                <a16:creationId xmlns:a16="http://schemas.microsoft.com/office/drawing/2014/main" id="{F8DA2398-FE1C-E0A8-3E10-3CBE5F082C66}"/>
              </a:ext>
            </a:extLst>
          </p:cNvPr>
          <p:cNvSpPr/>
          <p:nvPr/>
        </p:nvSpPr>
        <p:spPr>
          <a:xfrm>
            <a:off x="394144" y="2723060"/>
            <a:ext cx="3931920" cy="59436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  We migrated the generation layer to OpenAI via the cloud API and moved the vector index to Pinecone reducing average response time to under 1 second. The local (offline) version is retained for privacy-sensitive deployments.</a:t>
            </a:r>
            <a:endParaRPr lang="en-US" sz="950" dirty="0"/>
          </a:p>
        </p:txBody>
      </p:sp>
      <p:sp>
        <p:nvSpPr>
          <p:cNvPr id="110" name="Shape 27">
            <a:extLst>
              <a:ext uri="{FF2B5EF4-FFF2-40B4-BE49-F238E27FC236}">
                <a16:creationId xmlns:a16="http://schemas.microsoft.com/office/drawing/2014/main" id="{42CE2391-174C-F657-A465-A9815E59C91A}"/>
              </a:ext>
            </a:extLst>
          </p:cNvPr>
          <p:cNvSpPr/>
          <p:nvPr/>
        </p:nvSpPr>
        <p:spPr>
          <a:xfrm>
            <a:off x="4710112" y="2174420"/>
            <a:ext cx="4187952" cy="1207008"/>
          </a:xfrm>
          <a:prstGeom prst="rect">
            <a:avLst/>
          </a:prstGeom>
          <a:solidFill>
            <a:srgbClr val="FFFFFF"/>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111" name="Shape 28">
            <a:extLst>
              <a:ext uri="{FF2B5EF4-FFF2-40B4-BE49-F238E27FC236}">
                <a16:creationId xmlns:a16="http://schemas.microsoft.com/office/drawing/2014/main" id="{A71BB538-8151-9B8D-3BBE-D7E214B7C520}"/>
              </a:ext>
            </a:extLst>
          </p:cNvPr>
          <p:cNvSpPr/>
          <p:nvPr/>
        </p:nvSpPr>
        <p:spPr>
          <a:xfrm>
            <a:off x="4710112" y="2174420"/>
            <a:ext cx="4187952" cy="50292"/>
          </a:xfrm>
          <a:prstGeom prst="rect">
            <a:avLst/>
          </a:prstGeom>
          <a:solidFill>
            <a:srgbClr val="F59E0B"/>
          </a:solidFill>
          <a:ln w="12700">
            <a:solidFill>
              <a:srgbClr val="FFFFFF"/>
            </a:solidFill>
            <a:prstDash val="solid"/>
          </a:ln>
        </p:spPr>
        <p:txBody>
          <a:bodyPr/>
          <a:lstStyle/>
          <a:p>
            <a:endParaRPr lang="en-IN"/>
          </a:p>
        </p:txBody>
      </p:sp>
      <p:sp>
        <p:nvSpPr>
          <p:cNvPr id="112" name="Shape 29">
            <a:extLst>
              <a:ext uri="{FF2B5EF4-FFF2-40B4-BE49-F238E27FC236}">
                <a16:creationId xmlns:a16="http://schemas.microsoft.com/office/drawing/2014/main" id="{AF48076F-1C14-9A83-42CF-18029E691BDB}"/>
              </a:ext>
            </a:extLst>
          </p:cNvPr>
          <p:cNvSpPr/>
          <p:nvPr/>
        </p:nvSpPr>
        <p:spPr>
          <a:xfrm>
            <a:off x="7910512" y="2265860"/>
            <a:ext cx="896112" cy="201168"/>
          </a:xfrm>
          <a:prstGeom prst="rect">
            <a:avLst/>
          </a:prstGeom>
          <a:solidFill>
            <a:srgbClr val="F59E0B"/>
          </a:solidFill>
          <a:ln w="12700">
            <a:solidFill>
              <a:srgbClr val="FFFFFF"/>
            </a:solidFill>
            <a:prstDash val="solid"/>
          </a:ln>
        </p:spPr>
        <p:txBody>
          <a:bodyPr/>
          <a:lstStyle/>
          <a:p>
            <a:endParaRPr lang="en-IN"/>
          </a:p>
        </p:txBody>
      </p:sp>
      <p:sp>
        <p:nvSpPr>
          <p:cNvPr id="113" name="Text 30">
            <a:extLst>
              <a:ext uri="{FF2B5EF4-FFF2-40B4-BE49-F238E27FC236}">
                <a16:creationId xmlns:a16="http://schemas.microsoft.com/office/drawing/2014/main" id="{B0504456-9D6F-DC5A-B745-E350A8227120}"/>
              </a:ext>
            </a:extLst>
          </p:cNvPr>
          <p:cNvSpPr/>
          <p:nvPr/>
        </p:nvSpPr>
        <p:spPr>
          <a:xfrm>
            <a:off x="7910512" y="2265860"/>
            <a:ext cx="896112"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114" name="Text 31">
            <a:extLst>
              <a:ext uri="{FF2B5EF4-FFF2-40B4-BE49-F238E27FC236}">
                <a16:creationId xmlns:a16="http://schemas.microsoft.com/office/drawing/2014/main" id="{89818041-3846-0C65-1293-B2AAEE70D7B0}"/>
              </a:ext>
            </a:extLst>
          </p:cNvPr>
          <p:cNvSpPr/>
          <p:nvPr/>
        </p:nvSpPr>
        <p:spPr>
          <a:xfrm>
            <a:off x="4801552" y="2265860"/>
            <a:ext cx="3017520" cy="219456"/>
          </a:xfrm>
          <a:prstGeom prst="rect">
            <a:avLst/>
          </a:prstGeom>
          <a:noFill/>
          <a:ln/>
        </p:spPr>
        <p:txBody>
          <a:bodyPr wrap="square" lIns="0" tIns="0" rIns="0" bIns="0" rtlCol="0" anchor="ctr"/>
          <a:lstStyle/>
          <a:p>
            <a:pPr marL="0" indent="0" algn="l">
              <a:buNone/>
            </a:pPr>
            <a:r>
              <a:rPr lang="en-US" sz="1150" b="1" dirty="0">
                <a:solidFill>
                  <a:srgbClr val="0F2044"/>
                </a:solidFill>
                <a:latin typeface="Calibri" pitchFamily="34" charset="0"/>
                <a:ea typeface="Calibri" pitchFamily="34" charset="-122"/>
                <a:cs typeface="Calibri" pitchFamily="34" charset="-120"/>
              </a:rPr>
              <a:t>GPU Memory Exhaustion (LoRA Fine-Tuning)</a:t>
            </a:r>
            <a:endParaRPr lang="en-US" sz="1150" dirty="0"/>
          </a:p>
        </p:txBody>
      </p:sp>
      <p:sp>
        <p:nvSpPr>
          <p:cNvPr id="115" name="Text 32">
            <a:extLst>
              <a:ext uri="{FF2B5EF4-FFF2-40B4-BE49-F238E27FC236}">
                <a16:creationId xmlns:a16="http://schemas.microsoft.com/office/drawing/2014/main" id="{57F2B91C-C480-37A5-192B-FAFE296221EE}"/>
              </a:ext>
            </a:extLst>
          </p:cNvPr>
          <p:cNvSpPr/>
          <p:nvPr/>
        </p:nvSpPr>
        <p:spPr>
          <a:xfrm>
            <a:off x="4801552" y="2494460"/>
            <a:ext cx="3931920" cy="182880"/>
          </a:xfrm>
          <a:prstGeom prst="rect">
            <a:avLst/>
          </a:prstGeom>
          <a:noFill/>
          <a:ln/>
        </p:spPr>
        <p:txBody>
          <a:bodyPr wrap="square" lIns="0" tIns="0" rIns="0" bIns="0" rtlCol="0" anchor="ctr"/>
          <a:lstStyle/>
          <a:p>
            <a:pPr marL="0" indent="0" algn="l">
              <a:buNone/>
            </a:pPr>
            <a:r>
              <a:rPr lang="en-US" sz="950" i="1" dirty="0">
                <a:solidFill>
                  <a:srgbClr val="007A7A"/>
                </a:solidFill>
                <a:latin typeface="Calibri" pitchFamily="34" charset="0"/>
                <a:ea typeface="Calibri" pitchFamily="34" charset="-122"/>
                <a:cs typeface="Calibri" pitchFamily="34" charset="-120"/>
              </a:rPr>
              <a:t>The AI training process kept running out of memory</a:t>
            </a:r>
            <a:endParaRPr lang="en-US" sz="950" dirty="0"/>
          </a:p>
        </p:txBody>
      </p:sp>
      <p:sp>
        <p:nvSpPr>
          <p:cNvPr id="116" name="Shape 33">
            <a:extLst>
              <a:ext uri="{FF2B5EF4-FFF2-40B4-BE49-F238E27FC236}">
                <a16:creationId xmlns:a16="http://schemas.microsoft.com/office/drawing/2014/main" id="{5BA6AC54-8763-7652-0600-CAEEC4C65793}"/>
              </a:ext>
            </a:extLst>
          </p:cNvPr>
          <p:cNvSpPr/>
          <p:nvPr/>
        </p:nvSpPr>
        <p:spPr>
          <a:xfrm>
            <a:off x="4801552" y="2686484"/>
            <a:ext cx="3913632" cy="0"/>
          </a:xfrm>
          <a:prstGeom prst="line">
            <a:avLst/>
          </a:prstGeom>
          <a:noFill/>
          <a:ln w="6350">
            <a:solidFill>
              <a:srgbClr val="E2E8F0"/>
            </a:solidFill>
            <a:prstDash val="solid"/>
          </a:ln>
        </p:spPr>
        <p:txBody>
          <a:bodyPr/>
          <a:lstStyle/>
          <a:p>
            <a:endParaRPr lang="en-IN"/>
          </a:p>
        </p:txBody>
      </p:sp>
      <p:sp>
        <p:nvSpPr>
          <p:cNvPr id="117" name="Text 34">
            <a:extLst>
              <a:ext uri="{FF2B5EF4-FFF2-40B4-BE49-F238E27FC236}">
                <a16:creationId xmlns:a16="http://schemas.microsoft.com/office/drawing/2014/main" id="{64FF89CD-FBD6-875D-7B2E-BFFCE7FCC668}"/>
              </a:ext>
            </a:extLst>
          </p:cNvPr>
          <p:cNvSpPr/>
          <p:nvPr/>
        </p:nvSpPr>
        <p:spPr>
          <a:xfrm>
            <a:off x="4801552" y="2723060"/>
            <a:ext cx="3931920" cy="59436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  We applied 4-bit model quantization (nf4 format) to compress the model in memory, combined with CPU offloading for overflow. This allowed full AI fine-tuning on a free-tier cloud GPU (15 GB VRAM) without crashing.</a:t>
            </a:r>
            <a:endParaRPr lang="en-US" sz="950" dirty="0"/>
          </a:p>
        </p:txBody>
      </p:sp>
      <p:sp>
        <p:nvSpPr>
          <p:cNvPr id="118" name="Shape 35">
            <a:extLst>
              <a:ext uri="{FF2B5EF4-FFF2-40B4-BE49-F238E27FC236}">
                <a16:creationId xmlns:a16="http://schemas.microsoft.com/office/drawing/2014/main" id="{8821DE0F-6764-F80D-CCC2-E7DDFCEC17CC}"/>
              </a:ext>
            </a:extLst>
          </p:cNvPr>
          <p:cNvSpPr/>
          <p:nvPr/>
        </p:nvSpPr>
        <p:spPr>
          <a:xfrm>
            <a:off x="302704" y="3509444"/>
            <a:ext cx="4187952" cy="1207008"/>
          </a:xfrm>
          <a:prstGeom prst="rect">
            <a:avLst/>
          </a:prstGeom>
          <a:solidFill>
            <a:srgbClr val="FFFFFF"/>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119" name="Shape 36">
            <a:extLst>
              <a:ext uri="{FF2B5EF4-FFF2-40B4-BE49-F238E27FC236}">
                <a16:creationId xmlns:a16="http://schemas.microsoft.com/office/drawing/2014/main" id="{A43D14FD-ADA1-E82C-735D-4A81461EBFDB}"/>
              </a:ext>
            </a:extLst>
          </p:cNvPr>
          <p:cNvSpPr/>
          <p:nvPr/>
        </p:nvSpPr>
        <p:spPr>
          <a:xfrm>
            <a:off x="302704" y="3509444"/>
            <a:ext cx="4187952" cy="50292"/>
          </a:xfrm>
          <a:prstGeom prst="rect">
            <a:avLst/>
          </a:prstGeom>
          <a:solidFill>
            <a:srgbClr val="F59E0B"/>
          </a:solidFill>
          <a:ln w="12700">
            <a:solidFill>
              <a:srgbClr val="FFFFFF"/>
            </a:solidFill>
            <a:prstDash val="solid"/>
          </a:ln>
        </p:spPr>
        <p:txBody>
          <a:bodyPr/>
          <a:lstStyle/>
          <a:p>
            <a:endParaRPr lang="en-IN"/>
          </a:p>
        </p:txBody>
      </p:sp>
      <p:sp>
        <p:nvSpPr>
          <p:cNvPr id="120" name="Shape 37">
            <a:extLst>
              <a:ext uri="{FF2B5EF4-FFF2-40B4-BE49-F238E27FC236}">
                <a16:creationId xmlns:a16="http://schemas.microsoft.com/office/drawing/2014/main" id="{B2A22988-1FBC-0280-B41D-99D5AF05A54D}"/>
              </a:ext>
            </a:extLst>
          </p:cNvPr>
          <p:cNvSpPr/>
          <p:nvPr/>
        </p:nvSpPr>
        <p:spPr>
          <a:xfrm>
            <a:off x="3503104" y="3600884"/>
            <a:ext cx="896112" cy="201168"/>
          </a:xfrm>
          <a:prstGeom prst="rect">
            <a:avLst/>
          </a:prstGeom>
          <a:solidFill>
            <a:srgbClr val="F59E0B"/>
          </a:solidFill>
          <a:ln w="12700">
            <a:solidFill>
              <a:srgbClr val="FFFFFF"/>
            </a:solidFill>
            <a:prstDash val="solid"/>
          </a:ln>
        </p:spPr>
        <p:txBody>
          <a:bodyPr/>
          <a:lstStyle/>
          <a:p>
            <a:endParaRPr lang="en-IN"/>
          </a:p>
        </p:txBody>
      </p:sp>
      <p:sp>
        <p:nvSpPr>
          <p:cNvPr id="121" name="Text 38">
            <a:extLst>
              <a:ext uri="{FF2B5EF4-FFF2-40B4-BE49-F238E27FC236}">
                <a16:creationId xmlns:a16="http://schemas.microsoft.com/office/drawing/2014/main" id="{186A61D2-C4C6-91A4-2696-060CA22FC7FF}"/>
              </a:ext>
            </a:extLst>
          </p:cNvPr>
          <p:cNvSpPr/>
          <p:nvPr/>
        </p:nvSpPr>
        <p:spPr>
          <a:xfrm>
            <a:off x="3503104" y="3600884"/>
            <a:ext cx="896112"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122" name="Text 39">
            <a:extLst>
              <a:ext uri="{FF2B5EF4-FFF2-40B4-BE49-F238E27FC236}">
                <a16:creationId xmlns:a16="http://schemas.microsoft.com/office/drawing/2014/main" id="{DF406185-D117-5CAA-BC48-051B4146F969}"/>
              </a:ext>
            </a:extLst>
          </p:cNvPr>
          <p:cNvSpPr/>
          <p:nvPr/>
        </p:nvSpPr>
        <p:spPr>
          <a:xfrm>
            <a:off x="394144" y="3600884"/>
            <a:ext cx="3017520" cy="219456"/>
          </a:xfrm>
          <a:prstGeom prst="rect">
            <a:avLst/>
          </a:prstGeom>
          <a:noFill/>
          <a:ln/>
        </p:spPr>
        <p:txBody>
          <a:bodyPr wrap="square" lIns="0" tIns="0" rIns="0" bIns="0" rtlCol="0" anchor="ctr"/>
          <a:lstStyle/>
          <a:p>
            <a:pPr marL="0" indent="0" algn="l">
              <a:buNone/>
            </a:pPr>
            <a:r>
              <a:rPr lang="en-US" sz="1150" b="1" dirty="0">
                <a:solidFill>
                  <a:srgbClr val="0F2044"/>
                </a:solidFill>
                <a:latin typeface="Calibri" pitchFamily="34" charset="0"/>
                <a:ea typeface="Calibri" pitchFamily="34" charset="-122"/>
                <a:cs typeface="Calibri" pitchFamily="34" charset="-120"/>
              </a:rPr>
              <a:t>Library Version Churn (TRL / Transformers)</a:t>
            </a:r>
            <a:endParaRPr lang="en-US" sz="1150" dirty="0"/>
          </a:p>
        </p:txBody>
      </p:sp>
      <p:sp>
        <p:nvSpPr>
          <p:cNvPr id="123" name="Text 40">
            <a:extLst>
              <a:ext uri="{FF2B5EF4-FFF2-40B4-BE49-F238E27FC236}">
                <a16:creationId xmlns:a16="http://schemas.microsoft.com/office/drawing/2014/main" id="{877C50E3-B222-9817-7E4E-56CA4C398E5D}"/>
              </a:ext>
            </a:extLst>
          </p:cNvPr>
          <p:cNvSpPr/>
          <p:nvPr/>
        </p:nvSpPr>
        <p:spPr>
          <a:xfrm>
            <a:off x="394144" y="3829484"/>
            <a:ext cx="3931920" cy="182880"/>
          </a:xfrm>
          <a:prstGeom prst="rect">
            <a:avLst/>
          </a:prstGeom>
          <a:noFill/>
          <a:ln/>
        </p:spPr>
        <p:txBody>
          <a:bodyPr wrap="square" lIns="0" tIns="0" rIns="0" bIns="0" rtlCol="0" anchor="ctr"/>
          <a:lstStyle/>
          <a:p>
            <a:pPr marL="0" indent="0" algn="l">
              <a:buNone/>
            </a:pPr>
            <a:r>
              <a:rPr lang="en-US" sz="950" i="1" dirty="0">
                <a:solidFill>
                  <a:srgbClr val="007A7A"/>
                </a:solidFill>
                <a:latin typeface="Calibri" pitchFamily="34" charset="0"/>
                <a:ea typeface="Calibri" pitchFamily="34" charset="-122"/>
                <a:cs typeface="Calibri" pitchFamily="34" charset="-120"/>
              </a:rPr>
              <a:t>Training software updates kept breaking our pipeline</a:t>
            </a:r>
            <a:endParaRPr lang="en-US" sz="950" dirty="0"/>
          </a:p>
        </p:txBody>
      </p:sp>
      <p:sp>
        <p:nvSpPr>
          <p:cNvPr id="124" name="Shape 41">
            <a:extLst>
              <a:ext uri="{FF2B5EF4-FFF2-40B4-BE49-F238E27FC236}">
                <a16:creationId xmlns:a16="http://schemas.microsoft.com/office/drawing/2014/main" id="{91B4B93A-BD5D-6BE6-2975-60C4347E6F1B}"/>
              </a:ext>
            </a:extLst>
          </p:cNvPr>
          <p:cNvSpPr/>
          <p:nvPr/>
        </p:nvSpPr>
        <p:spPr>
          <a:xfrm>
            <a:off x="394144" y="4021508"/>
            <a:ext cx="3913632" cy="0"/>
          </a:xfrm>
          <a:prstGeom prst="line">
            <a:avLst/>
          </a:prstGeom>
          <a:noFill/>
          <a:ln w="6350">
            <a:solidFill>
              <a:srgbClr val="E2E8F0"/>
            </a:solidFill>
            <a:prstDash val="solid"/>
          </a:ln>
        </p:spPr>
        <p:txBody>
          <a:bodyPr/>
          <a:lstStyle/>
          <a:p>
            <a:endParaRPr lang="en-IN"/>
          </a:p>
        </p:txBody>
      </p:sp>
      <p:sp>
        <p:nvSpPr>
          <p:cNvPr id="125" name="Text 42">
            <a:extLst>
              <a:ext uri="{FF2B5EF4-FFF2-40B4-BE49-F238E27FC236}">
                <a16:creationId xmlns:a16="http://schemas.microsoft.com/office/drawing/2014/main" id="{680D30AF-4143-0453-C64C-7691C4634BAF}"/>
              </a:ext>
            </a:extLst>
          </p:cNvPr>
          <p:cNvSpPr/>
          <p:nvPr/>
        </p:nvSpPr>
        <p:spPr>
          <a:xfrm>
            <a:off x="394144" y="4058084"/>
            <a:ext cx="3931920" cy="59436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  We documented every breaking change and its fix including API renames and incompatible package combinations. The final working software versions are pinned and published so any team can reproduce our exact training environment.</a:t>
            </a:r>
            <a:endParaRPr lang="en-US" sz="950" dirty="0"/>
          </a:p>
        </p:txBody>
      </p:sp>
      <p:sp>
        <p:nvSpPr>
          <p:cNvPr id="126" name="Shape 43">
            <a:extLst>
              <a:ext uri="{FF2B5EF4-FFF2-40B4-BE49-F238E27FC236}">
                <a16:creationId xmlns:a16="http://schemas.microsoft.com/office/drawing/2014/main" id="{803AADCE-36FF-9D6A-BD35-2843884147CD}"/>
              </a:ext>
            </a:extLst>
          </p:cNvPr>
          <p:cNvSpPr/>
          <p:nvPr/>
        </p:nvSpPr>
        <p:spPr>
          <a:xfrm>
            <a:off x="4710112" y="3509444"/>
            <a:ext cx="4187952" cy="1207008"/>
          </a:xfrm>
          <a:prstGeom prst="rect">
            <a:avLst/>
          </a:prstGeom>
          <a:solidFill>
            <a:srgbClr val="FFFFFF"/>
          </a:solidFill>
          <a:ln w="12700">
            <a:solidFill>
              <a:srgbClr val="FFFFFF"/>
            </a:solidFill>
            <a:prstDash val="solid"/>
          </a:ln>
          <a:effectLst>
            <a:outerShdw blurRad="101600" dist="25400" dir="8100000" algn="bl" rotWithShape="0">
              <a:srgbClr val="000000">
                <a:alpha val="10000"/>
              </a:srgbClr>
            </a:outerShdw>
          </a:effectLst>
        </p:spPr>
        <p:txBody>
          <a:bodyPr/>
          <a:lstStyle/>
          <a:p>
            <a:endParaRPr lang="en-IN"/>
          </a:p>
        </p:txBody>
      </p:sp>
      <p:sp>
        <p:nvSpPr>
          <p:cNvPr id="127" name="Shape 44">
            <a:extLst>
              <a:ext uri="{FF2B5EF4-FFF2-40B4-BE49-F238E27FC236}">
                <a16:creationId xmlns:a16="http://schemas.microsoft.com/office/drawing/2014/main" id="{E8B54F0F-FC02-D357-612D-06E3F98DE682}"/>
              </a:ext>
            </a:extLst>
          </p:cNvPr>
          <p:cNvSpPr/>
          <p:nvPr/>
        </p:nvSpPr>
        <p:spPr>
          <a:xfrm>
            <a:off x="4710112" y="3509444"/>
            <a:ext cx="4187952" cy="50292"/>
          </a:xfrm>
          <a:prstGeom prst="rect">
            <a:avLst/>
          </a:prstGeom>
          <a:solidFill>
            <a:srgbClr val="EF4444"/>
          </a:solidFill>
          <a:ln w="12700">
            <a:solidFill>
              <a:srgbClr val="FFFFFF"/>
            </a:solidFill>
            <a:prstDash val="solid"/>
          </a:ln>
        </p:spPr>
        <p:txBody>
          <a:bodyPr/>
          <a:lstStyle/>
          <a:p>
            <a:endParaRPr lang="en-IN"/>
          </a:p>
        </p:txBody>
      </p:sp>
      <p:sp>
        <p:nvSpPr>
          <p:cNvPr id="128" name="Shape 45">
            <a:extLst>
              <a:ext uri="{FF2B5EF4-FFF2-40B4-BE49-F238E27FC236}">
                <a16:creationId xmlns:a16="http://schemas.microsoft.com/office/drawing/2014/main" id="{540D6A36-B916-C256-0E9D-EA41A89547D0}"/>
              </a:ext>
            </a:extLst>
          </p:cNvPr>
          <p:cNvSpPr/>
          <p:nvPr/>
        </p:nvSpPr>
        <p:spPr>
          <a:xfrm>
            <a:off x="7910512" y="3600884"/>
            <a:ext cx="896112" cy="201168"/>
          </a:xfrm>
          <a:prstGeom prst="rect">
            <a:avLst/>
          </a:prstGeom>
          <a:solidFill>
            <a:srgbClr val="EF4444"/>
          </a:solidFill>
          <a:ln w="12700">
            <a:solidFill>
              <a:srgbClr val="FFFFFF"/>
            </a:solidFill>
            <a:prstDash val="solid"/>
          </a:ln>
        </p:spPr>
        <p:txBody>
          <a:bodyPr/>
          <a:lstStyle/>
          <a:p>
            <a:endParaRPr lang="en-IN"/>
          </a:p>
        </p:txBody>
      </p:sp>
      <p:sp>
        <p:nvSpPr>
          <p:cNvPr id="129" name="Text 46">
            <a:extLst>
              <a:ext uri="{FF2B5EF4-FFF2-40B4-BE49-F238E27FC236}">
                <a16:creationId xmlns:a16="http://schemas.microsoft.com/office/drawing/2014/main" id="{159D9257-3677-A8CF-D79F-E422D39ADDB0}"/>
              </a:ext>
            </a:extLst>
          </p:cNvPr>
          <p:cNvSpPr/>
          <p:nvPr/>
        </p:nvSpPr>
        <p:spPr>
          <a:xfrm>
            <a:off x="7910512" y="3600884"/>
            <a:ext cx="896112"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130" name="Text 47">
            <a:extLst>
              <a:ext uri="{FF2B5EF4-FFF2-40B4-BE49-F238E27FC236}">
                <a16:creationId xmlns:a16="http://schemas.microsoft.com/office/drawing/2014/main" id="{106EA32C-28BC-052E-7403-86DD6DEBBBCB}"/>
              </a:ext>
            </a:extLst>
          </p:cNvPr>
          <p:cNvSpPr/>
          <p:nvPr/>
        </p:nvSpPr>
        <p:spPr>
          <a:xfrm>
            <a:off x="4801552" y="3600884"/>
            <a:ext cx="3017520" cy="219456"/>
          </a:xfrm>
          <a:prstGeom prst="rect">
            <a:avLst/>
          </a:prstGeom>
          <a:noFill/>
          <a:ln/>
        </p:spPr>
        <p:txBody>
          <a:bodyPr wrap="square" lIns="0" tIns="0" rIns="0" bIns="0" rtlCol="0" anchor="ctr"/>
          <a:lstStyle/>
          <a:p>
            <a:pPr marL="0" indent="0" algn="l">
              <a:buNone/>
            </a:pPr>
            <a:r>
              <a:rPr lang="en-US" sz="1150" b="1" dirty="0">
                <a:solidFill>
                  <a:srgbClr val="0F2044"/>
                </a:solidFill>
                <a:latin typeface="Calibri" pitchFamily="34" charset="0"/>
                <a:ea typeface="Calibri" pitchFamily="34" charset="-122"/>
                <a:cs typeface="Calibri" pitchFamily="34" charset="-120"/>
              </a:rPr>
              <a:t>Retrieval Brittleness Under Noise</a:t>
            </a:r>
            <a:endParaRPr lang="en-US" sz="1150" dirty="0"/>
          </a:p>
        </p:txBody>
      </p:sp>
      <p:sp>
        <p:nvSpPr>
          <p:cNvPr id="131" name="Text 48">
            <a:extLst>
              <a:ext uri="{FF2B5EF4-FFF2-40B4-BE49-F238E27FC236}">
                <a16:creationId xmlns:a16="http://schemas.microsoft.com/office/drawing/2014/main" id="{CFA50085-1DD8-1685-2DCE-3644F8EEE8A3}"/>
              </a:ext>
            </a:extLst>
          </p:cNvPr>
          <p:cNvSpPr/>
          <p:nvPr/>
        </p:nvSpPr>
        <p:spPr>
          <a:xfrm>
            <a:off x="4801552" y="3829484"/>
            <a:ext cx="3931920" cy="182880"/>
          </a:xfrm>
          <a:prstGeom prst="rect">
            <a:avLst/>
          </a:prstGeom>
          <a:noFill/>
          <a:ln/>
        </p:spPr>
        <p:txBody>
          <a:bodyPr wrap="square" lIns="0" tIns="0" rIns="0" bIns="0" rtlCol="0" anchor="ctr"/>
          <a:lstStyle/>
          <a:p>
            <a:pPr marL="0" indent="0" algn="l">
              <a:buNone/>
            </a:pPr>
            <a:r>
              <a:rPr lang="en-US" sz="950" i="1" dirty="0">
                <a:solidFill>
                  <a:srgbClr val="007A7A"/>
                </a:solidFill>
                <a:latin typeface="Calibri" pitchFamily="34" charset="0"/>
                <a:ea typeface="Calibri" pitchFamily="34" charset="-122"/>
                <a:cs typeface="Calibri" pitchFamily="34" charset="-120"/>
              </a:rPr>
              <a:t>Search results changed unpredictably with typos or varied phrasing</a:t>
            </a:r>
            <a:endParaRPr lang="en-US" sz="950" dirty="0"/>
          </a:p>
        </p:txBody>
      </p:sp>
      <p:sp>
        <p:nvSpPr>
          <p:cNvPr id="132" name="Shape 49">
            <a:extLst>
              <a:ext uri="{FF2B5EF4-FFF2-40B4-BE49-F238E27FC236}">
                <a16:creationId xmlns:a16="http://schemas.microsoft.com/office/drawing/2014/main" id="{127DDBA1-64E7-E9FD-0CB6-0B188289C5F8}"/>
              </a:ext>
            </a:extLst>
          </p:cNvPr>
          <p:cNvSpPr/>
          <p:nvPr/>
        </p:nvSpPr>
        <p:spPr>
          <a:xfrm>
            <a:off x="4801552" y="4021508"/>
            <a:ext cx="3913632" cy="0"/>
          </a:xfrm>
          <a:prstGeom prst="line">
            <a:avLst/>
          </a:prstGeom>
          <a:noFill/>
          <a:ln w="6350">
            <a:solidFill>
              <a:srgbClr val="E2E8F0"/>
            </a:solidFill>
            <a:prstDash val="solid"/>
          </a:ln>
        </p:spPr>
        <p:txBody>
          <a:bodyPr/>
          <a:lstStyle/>
          <a:p>
            <a:endParaRPr lang="en-IN"/>
          </a:p>
        </p:txBody>
      </p:sp>
      <p:sp>
        <p:nvSpPr>
          <p:cNvPr id="133" name="Text 50">
            <a:extLst>
              <a:ext uri="{FF2B5EF4-FFF2-40B4-BE49-F238E27FC236}">
                <a16:creationId xmlns:a16="http://schemas.microsoft.com/office/drawing/2014/main" id="{87658288-10CA-7B79-CD62-875CC8EBA705}"/>
              </a:ext>
            </a:extLst>
          </p:cNvPr>
          <p:cNvSpPr/>
          <p:nvPr/>
        </p:nvSpPr>
        <p:spPr>
          <a:xfrm>
            <a:off x="4801552" y="4058084"/>
            <a:ext cx="3931920" cy="59436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  We ran a perturbation stability test: each query was submitted in 5 forms (clean, lowercase, with typos, noisy, with injected code). We measured result consistency across all versions and tuned the retrieval pipeline until results stayed stable regardless of how the query was written.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Shape 1"/>
          <p:cNvSpPr/>
          <p:nvPr/>
        </p:nvSpPr>
        <p:spPr>
          <a:xfrm>
            <a:off x="366713" y="205643"/>
            <a:ext cx="8410575" cy="290513"/>
          </a:xfrm>
          <a:prstGeom prst="rect">
            <a:avLst/>
          </a:prstGeom>
          <a:ln/>
        </p:spPr>
        <p:txBody>
          <a:bodyPr/>
          <a:lstStyle/>
          <a:p>
            <a:endParaRPr lang="en-IN">
              <a:ea typeface="Inter"/>
            </a:endParaRPr>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ea typeface="Inter"/>
            </a:endParaRPr>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a:cs typeface="Inter" pitchFamily="34" charset="-120"/>
              </a:rPr>
              <a:t>FSE 570 Capstone</a:t>
            </a:r>
            <a:endParaRPr lang="en-US" sz="800" dirty="0">
              <a:ea typeface="Inter"/>
            </a:endParaRPr>
          </a:p>
        </p:txBody>
      </p:sp>
      <p:sp>
        <p:nvSpPr>
          <p:cNvPr id="6" name="Text 4"/>
          <p:cNvSpPr/>
          <p:nvPr/>
        </p:nvSpPr>
        <p:spPr>
          <a:xfrm>
            <a:off x="7272169" y="228042"/>
            <a:ext cx="781324"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a:ea typeface="Inter"/>
                <a:cs typeface="Inter" pitchFamily="34" charset="-120"/>
              </a:rPr>
              <a:t>IMPACT ANALYSIS</a:t>
            </a:r>
            <a:endParaRPr lang="en-US" sz="700" dirty="0">
              <a:latin typeface="Inter"/>
              <a:ea typeface="Inter"/>
            </a:endParaRPr>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a:cs typeface="Inter" pitchFamily="34" charset="-120"/>
              </a:rPr>
              <a:t>SPRING 2026</a:t>
            </a:r>
            <a:endParaRPr lang="en-US" sz="700" dirty="0">
              <a:ea typeface="Inter"/>
            </a:endParaRPr>
          </a:p>
        </p:txBody>
      </p:sp>
      <p:sp>
        <p:nvSpPr>
          <p:cNvPr id="43" name="Shape 41"/>
          <p:cNvSpPr/>
          <p:nvPr/>
        </p:nvSpPr>
        <p:spPr>
          <a:xfrm>
            <a:off x="364778" y="4751167"/>
            <a:ext cx="8410575" cy="233362"/>
          </a:xfrm>
          <a:prstGeom prst="rect">
            <a:avLst/>
          </a:prstGeom>
          <a:ln/>
        </p:spPr>
        <p:txBody>
          <a:bodyPr/>
          <a:lstStyle/>
          <a:p>
            <a:endParaRPr lang="en-IN">
              <a:latin typeface="Inter"/>
              <a:ea typeface="Inter"/>
            </a:endParaRPr>
          </a:p>
        </p:txBody>
      </p:sp>
      <p:sp>
        <p:nvSpPr>
          <p:cNvPr id="44" name="Text 42"/>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a:ea typeface="Inter"/>
                <a:cs typeface="Inter" pitchFamily="34" charset="-120"/>
              </a:rPr>
              <a:t>University Capstone — Team Michigan</a:t>
            </a:r>
            <a:endParaRPr lang="en-US" sz="600" dirty="0">
              <a:latin typeface="Inter"/>
              <a:ea typeface="Inter"/>
            </a:endParaRPr>
          </a:p>
        </p:txBody>
      </p:sp>
      <p:sp>
        <p:nvSpPr>
          <p:cNvPr id="45" name="Text 43"/>
          <p:cNvSpPr/>
          <p:nvPr/>
        </p:nvSpPr>
        <p:spPr>
          <a:xfrm>
            <a:off x="8249134" y="4814181"/>
            <a:ext cx="528638"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a:cs typeface="Inter" pitchFamily="34" charset="-120"/>
              </a:rPr>
              <a:t>Slide 19 of 24</a:t>
            </a:r>
            <a:endParaRPr lang="en-US" sz="600" dirty="0">
              <a:ea typeface="Inter"/>
            </a:endParaRPr>
          </a:p>
        </p:txBody>
      </p:sp>
      <p:pic>
        <p:nvPicPr>
          <p:cNvPr id="4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4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sp>
        <p:nvSpPr>
          <p:cNvPr id="48" name="Text 3">
            <a:extLst>
              <a:ext uri="{FF2B5EF4-FFF2-40B4-BE49-F238E27FC236}">
                <a16:creationId xmlns:a16="http://schemas.microsoft.com/office/drawing/2014/main" id="{4A0436FA-A008-8A5D-EA1A-9490690891DF}"/>
              </a:ext>
            </a:extLst>
          </p:cNvPr>
          <p:cNvSpPr/>
          <p:nvPr/>
        </p:nvSpPr>
        <p:spPr>
          <a:xfrm>
            <a:off x="2148840" y="859787"/>
            <a:ext cx="2011680" cy="201168"/>
          </a:xfrm>
          <a:prstGeom prst="rect">
            <a:avLst/>
          </a:prstGeom>
          <a:noFill/>
          <a:ln/>
        </p:spPr>
        <p:txBody>
          <a:bodyPr wrap="square" lIns="0" tIns="0" rIns="0" bIns="0" rtlCol="0" anchor="ctr"/>
          <a:lstStyle/>
          <a:p>
            <a:pPr marL="0" indent="0" algn="ctr">
              <a:buNone/>
            </a:pPr>
            <a:r>
              <a:rPr lang="en-US" sz="1100" b="1" dirty="0">
                <a:solidFill>
                  <a:srgbClr val="F97316"/>
                </a:solidFill>
                <a:latin typeface="Inter"/>
                <a:ea typeface="Inter"/>
                <a:cs typeface="Calibri" pitchFamily="34" charset="-120"/>
              </a:rPr>
              <a:t>BEFORE</a:t>
            </a:r>
            <a:endParaRPr lang="en-US" sz="1100" dirty="0">
              <a:latin typeface="Inter"/>
              <a:ea typeface="Inter"/>
            </a:endParaRPr>
          </a:p>
        </p:txBody>
      </p:sp>
      <p:sp>
        <p:nvSpPr>
          <p:cNvPr id="49" name="Text 4">
            <a:extLst>
              <a:ext uri="{FF2B5EF4-FFF2-40B4-BE49-F238E27FC236}">
                <a16:creationId xmlns:a16="http://schemas.microsoft.com/office/drawing/2014/main" id="{1B6BE061-AE24-CA01-AE8C-ED74E08327EA}"/>
              </a:ext>
            </a:extLst>
          </p:cNvPr>
          <p:cNvSpPr/>
          <p:nvPr/>
        </p:nvSpPr>
        <p:spPr>
          <a:xfrm>
            <a:off x="4297680" y="859787"/>
            <a:ext cx="2011680" cy="201168"/>
          </a:xfrm>
          <a:prstGeom prst="rect">
            <a:avLst/>
          </a:prstGeom>
          <a:noFill/>
          <a:ln/>
        </p:spPr>
        <p:txBody>
          <a:bodyPr wrap="square" lIns="0" tIns="0" rIns="0" bIns="0" rtlCol="0" anchor="ctr"/>
          <a:lstStyle/>
          <a:p>
            <a:pPr marL="0" indent="0" algn="ctr">
              <a:buNone/>
            </a:pPr>
            <a:r>
              <a:rPr lang="en-US" sz="1100" b="1" dirty="0">
                <a:solidFill>
                  <a:srgbClr val="22C55E"/>
                </a:solidFill>
                <a:latin typeface="Inter"/>
                <a:ea typeface="Inter"/>
                <a:cs typeface="Calibri" pitchFamily="34" charset="-120"/>
              </a:rPr>
              <a:t>AFTER</a:t>
            </a:r>
            <a:endParaRPr lang="en-US" sz="1100" dirty="0">
              <a:latin typeface="Inter"/>
              <a:ea typeface="Inter"/>
            </a:endParaRPr>
          </a:p>
        </p:txBody>
      </p:sp>
      <p:sp>
        <p:nvSpPr>
          <p:cNvPr id="50" name="Shape 5">
            <a:extLst>
              <a:ext uri="{FF2B5EF4-FFF2-40B4-BE49-F238E27FC236}">
                <a16:creationId xmlns:a16="http://schemas.microsoft.com/office/drawing/2014/main" id="{E46C08AE-5778-87FD-E649-471F6ABDCA2D}"/>
              </a:ext>
            </a:extLst>
          </p:cNvPr>
          <p:cNvSpPr/>
          <p:nvPr/>
        </p:nvSpPr>
        <p:spPr>
          <a:xfrm>
            <a:off x="320040" y="1129792"/>
            <a:ext cx="1920240" cy="530352"/>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51" name="Text 6">
            <a:extLst>
              <a:ext uri="{FF2B5EF4-FFF2-40B4-BE49-F238E27FC236}">
                <a16:creationId xmlns:a16="http://schemas.microsoft.com/office/drawing/2014/main" id="{4E9D649B-C393-BBFC-096A-558F661D3C21}"/>
              </a:ext>
            </a:extLst>
          </p:cNvPr>
          <p:cNvSpPr/>
          <p:nvPr/>
        </p:nvSpPr>
        <p:spPr>
          <a:xfrm>
            <a:off x="402336" y="1129792"/>
            <a:ext cx="1828800" cy="530352"/>
          </a:xfrm>
          <a:prstGeom prst="rect">
            <a:avLst/>
          </a:prstGeom>
          <a:noFill/>
          <a:ln/>
        </p:spPr>
        <p:txBody>
          <a:bodyPr wrap="square" lIns="0" tIns="0" rIns="0" bIns="0" rtlCol="0" anchor="ctr"/>
          <a:lstStyle/>
          <a:p>
            <a:pPr marL="0" indent="0" algn="l">
              <a:buNone/>
            </a:pPr>
            <a:r>
              <a:rPr lang="en-US" sz="1050" b="1" dirty="0">
                <a:solidFill>
                  <a:srgbClr val="0F2044"/>
                </a:solidFill>
                <a:latin typeface="Inter"/>
                <a:ea typeface="Inter"/>
                <a:cs typeface="Calibri" pitchFamily="34" charset="-120"/>
              </a:rPr>
              <a:t>Retrieval MRR</a:t>
            </a:r>
            <a:endParaRPr lang="en-US" sz="1050" dirty="0">
              <a:latin typeface="Inter"/>
              <a:ea typeface="Inter"/>
            </a:endParaRPr>
          </a:p>
        </p:txBody>
      </p:sp>
      <p:sp>
        <p:nvSpPr>
          <p:cNvPr id="52" name="Shape 7">
            <a:extLst>
              <a:ext uri="{FF2B5EF4-FFF2-40B4-BE49-F238E27FC236}">
                <a16:creationId xmlns:a16="http://schemas.microsoft.com/office/drawing/2014/main" id="{B629DACA-FE07-FF1F-3BDB-B05F791E5BDD}"/>
              </a:ext>
            </a:extLst>
          </p:cNvPr>
          <p:cNvSpPr/>
          <p:nvPr/>
        </p:nvSpPr>
        <p:spPr>
          <a:xfrm>
            <a:off x="2286000" y="1129792"/>
            <a:ext cx="1920240" cy="530352"/>
          </a:xfrm>
          <a:prstGeom prst="rect">
            <a:avLst/>
          </a:prstGeom>
          <a:solidFill>
            <a:srgbClr val="FFF3ED"/>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53" name="Text 8">
            <a:extLst>
              <a:ext uri="{FF2B5EF4-FFF2-40B4-BE49-F238E27FC236}">
                <a16:creationId xmlns:a16="http://schemas.microsoft.com/office/drawing/2014/main" id="{8E8C1310-41BF-9D00-4FA2-2D45F028711F}"/>
              </a:ext>
            </a:extLst>
          </p:cNvPr>
          <p:cNvSpPr/>
          <p:nvPr/>
        </p:nvSpPr>
        <p:spPr>
          <a:xfrm>
            <a:off x="2286000" y="1129792"/>
            <a:ext cx="1920240" cy="530352"/>
          </a:xfrm>
          <a:prstGeom prst="rect">
            <a:avLst/>
          </a:prstGeom>
          <a:noFill/>
          <a:ln/>
        </p:spPr>
        <p:txBody>
          <a:bodyPr wrap="square" lIns="0" tIns="0" rIns="0" bIns="0" rtlCol="0" anchor="ctr"/>
          <a:lstStyle/>
          <a:p>
            <a:pPr marL="0" indent="0" algn="ctr">
              <a:buNone/>
            </a:pPr>
            <a:r>
              <a:rPr lang="en-US" sz="1800" b="1" dirty="0">
                <a:solidFill>
                  <a:srgbClr val="F97316"/>
                </a:solidFill>
                <a:latin typeface="Inter"/>
                <a:ea typeface="Inter"/>
                <a:cs typeface="Calibri" pitchFamily="34" charset="-120"/>
              </a:rPr>
              <a:t>0.887</a:t>
            </a:r>
            <a:endParaRPr lang="en-US" sz="1800" dirty="0">
              <a:latin typeface="Inter"/>
              <a:ea typeface="Inter"/>
            </a:endParaRPr>
          </a:p>
        </p:txBody>
      </p:sp>
      <p:sp>
        <p:nvSpPr>
          <p:cNvPr id="54" name="Text 9">
            <a:extLst>
              <a:ext uri="{FF2B5EF4-FFF2-40B4-BE49-F238E27FC236}">
                <a16:creationId xmlns:a16="http://schemas.microsoft.com/office/drawing/2014/main" id="{B964F4D3-F3E0-09F3-5073-BE1177A0B281}"/>
              </a:ext>
            </a:extLst>
          </p:cNvPr>
          <p:cNvSpPr/>
          <p:nvPr/>
        </p:nvSpPr>
        <p:spPr>
          <a:xfrm>
            <a:off x="4251960" y="1129792"/>
            <a:ext cx="274320" cy="530352"/>
          </a:xfrm>
          <a:prstGeom prst="rect">
            <a:avLst/>
          </a:prstGeom>
          <a:noFill/>
          <a:ln/>
        </p:spPr>
        <p:txBody>
          <a:bodyPr wrap="square" lIns="0" tIns="0" rIns="0" bIns="0" rtlCol="0" anchor="ctr"/>
          <a:lstStyle/>
          <a:p>
            <a:pPr marL="0" indent="0" algn="ctr">
              <a:buNone/>
            </a:pPr>
            <a:r>
              <a:rPr lang="en-US" sz="1800" dirty="0">
                <a:solidFill>
                  <a:srgbClr val="64748B"/>
                </a:solidFill>
                <a:latin typeface="Inter"/>
                <a:ea typeface="Inter"/>
              </a:rPr>
              <a:t>→</a:t>
            </a:r>
            <a:endParaRPr lang="en-US" sz="1800" dirty="0">
              <a:latin typeface="Inter"/>
              <a:ea typeface="Inter"/>
            </a:endParaRPr>
          </a:p>
        </p:txBody>
      </p:sp>
      <p:sp>
        <p:nvSpPr>
          <p:cNvPr id="55" name="Shape 10">
            <a:extLst>
              <a:ext uri="{FF2B5EF4-FFF2-40B4-BE49-F238E27FC236}">
                <a16:creationId xmlns:a16="http://schemas.microsoft.com/office/drawing/2014/main" id="{5677382B-6075-710A-5C0A-3BAB58DFC4E9}"/>
              </a:ext>
            </a:extLst>
          </p:cNvPr>
          <p:cNvSpPr/>
          <p:nvPr/>
        </p:nvSpPr>
        <p:spPr>
          <a:xfrm>
            <a:off x="4553712" y="1129792"/>
            <a:ext cx="1920240" cy="530352"/>
          </a:xfrm>
          <a:prstGeom prst="rect">
            <a:avLst/>
          </a:prstGeom>
          <a:solidFill>
            <a:srgbClr val="ECFDF5"/>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56" name="Text 11">
            <a:extLst>
              <a:ext uri="{FF2B5EF4-FFF2-40B4-BE49-F238E27FC236}">
                <a16:creationId xmlns:a16="http://schemas.microsoft.com/office/drawing/2014/main" id="{1641FE65-7558-3C8A-D90A-289E7F642C59}"/>
              </a:ext>
            </a:extLst>
          </p:cNvPr>
          <p:cNvSpPr/>
          <p:nvPr/>
        </p:nvSpPr>
        <p:spPr>
          <a:xfrm>
            <a:off x="4553712" y="1129792"/>
            <a:ext cx="1920240" cy="530352"/>
          </a:xfrm>
          <a:prstGeom prst="rect">
            <a:avLst/>
          </a:prstGeom>
          <a:noFill/>
          <a:ln/>
        </p:spPr>
        <p:txBody>
          <a:bodyPr wrap="square" lIns="0" tIns="0" rIns="0" bIns="0" rtlCol="0" anchor="ctr"/>
          <a:lstStyle/>
          <a:p>
            <a:pPr marL="0" indent="0" algn="ctr">
              <a:buNone/>
            </a:pPr>
            <a:r>
              <a:rPr lang="en-US" sz="1800" b="1" dirty="0">
                <a:solidFill>
                  <a:srgbClr val="22C55E"/>
                </a:solidFill>
                <a:latin typeface="Inter"/>
                <a:ea typeface="Inter"/>
                <a:cs typeface="Calibri" pitchFamily="34" charset="-120"/>
              </a:rPr>
              <a:t>0.988</a:t>
            </a:r>
            <a:endParaRPr lang="en-US" sz="1800" dirty="0">
              <a:latin typeface="Inter"/>
              <a:ea typeface="Inter"/>
            </a:endParaRPr>
          </a:p>
        </p:txBody>
      </p:sp>
      <p:sp>
        <p:nvSpPr>
          <p:cNvPr id="57" name="Text 12">
            <a:extLst>
              <a:ext uri="{FF2B5EF4-FFF2-40B4-BE49-F238E27FC236}">
                <a16:creationId xmlns:a16="http://schemas.microsoft.com/office/drawing/2014/main" id="{B210189B-FF58-63BB-5B7B-D33D477BE062}"/>
              </a:ext>
            </a:extLst>
          </p:cNvPr>
          <p:cNvSpPr/>
          <p:nvPr/>
        </p:nvSpPr>
        <p:spPr>
          <a:xfrm>
            <a:off x="6565392" y="1170432"/>
            <a:ext cx="2258568" cy="530352"/>
          </a:xfrm>
          <a:prstGeom prst="rect">
            <a:avLst/>
          </a:prstGeom>
          <a:noFill/>
          <a:ln/>
        </p:spPr>
        <p:txBody>
          <a:bodyPr wrap="square" lIns="0" tIns="0" rIns="0" bIns="0" rtlCol="0" anchor="ctr"/>
          <a:lstStyle/>
          <a:p>
            <a:pPr marL="0" indent="0" algn="l">
              <a:buNone/>
            </a:pPr>
            <a:r>
              <a:rPr lang="en-US" sz="950" dirty="0">
                <a:solidFill>
                  <a:srgbClr val="64748B"/>
                </a:solidFill>
                <a:latin typeface="Inter"/>
                <a:ea typeface="Inter"/>
                <a:cs typeface="Calibri" pitchFamily="34" charset="-120"/>
              </a:rPr>
              <a:t>Status 1 → Status 2</a:t>
            </a:r>
            <a:endParaRPr lang="en-US" sz="950" dirty="0">
              <a:latin typeface="Inter"/>
              <a:ea typeface="Inter"/>
            </a:endParaRPr>
          </a:p>
        </p:txBody>
      </p:sp>
      <p:sp>
        <p:nvSpPr>
          <p:cNvPr id="58" name="Shape 13">
            <a:extLst>
              <a:ext uri="{FF2B5EF4-FFF2-40B4-BE49-F238E27FC236}">
                <a16:creationId xmlns:a16="http://schemas.microsoft.com/office/drawing/2014/main" id="{DE495525-7D99-BE75-1EFE-7105334C573A}"/>
              </a:ext>
            </a:extLst>
          </p:cNvPr>
          <p:cNvSpPr/>
          <p:nvPr/>
        </p:nvSpPr>
        <p:spPr>
          <a:xfrm>
            <a:off x="320040" y="1751584"/>
            <a:ext cx="1920240" cy="530352"/>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59" name="Text 14">
            <a:extLst>
              <a:ext uri="{FF2B5EF4-FFF2-40B4-BE49-F238E27FC236}">
                <a16:creationId xmlns:a16="http://schemas.microsoft.com/office/drawing/2014/main" id="{6CA5A25B-CC2D-8675-3D8A-D45CAA0F37E7}"/>
              </a:ext>
            </a:extLst>
          </p:cNvPr>
          <p:cNvSpPr/>
          <p:nvPr/>
        </p:nvSpPr>
        <p:spPr>
          <a:xfrm>
            <a:off x="402336" y="1751584"/>
            <a:ext cx="1828800" cy="530352"/>
          </a:xfrm>
          <a:prstGeom prst="rect">
            <a:avLst/>
          </a:prstGeom>
          <a:noFill/>
          <a:ln/>
        </p:spPr>
        <p:txBody>
          <a:bodyPr wrap="square" lIns="0" tIns="0" rIns="0" bIns="0" rtlCol="0" anchor="ctr"/>
          <a:lstStyle/>
          <a:p>
            <a:pPr marL="0" indent="0" algn="l">
              <a:buNone/>
            </a:pPr>
            <a:r>
              <a:rPr lang="en-US" sz="1050" b="1" dirty="0">
                <a:solidFill>
                  <a:srgbClr val="0F2044"/>
                </a:solidFill>
                <a:latin typeface="Inter"/>
                <a:ea typeface="Inter"/>
                <a:cs typeface="Calibri" pitchFamily="34" charset="-120"/>
              </a:rPr>
              <a:t>Retrieval Recall@5</a:t>
            </a:r>
            <a:endParaRPr lang="en-US" sz="1050" dirty="0">
              <a:latin typeface="Inter"/>
              <a:ea typeface="Inter"/>
            </a:endParaRPr>
          </a:p>
        </p:txBody>
      </p:sp>
      <p:sp>
        <p:nvSpPr>
          <p:cNvPr id="60" name="Shape 15">
            <a:extLst>
              <a:ext uri="{FF2B5EF4-FFF2-40B4-BE49-F238E27FC236}">
                <a16:creationId xmlns:a16="http://schemas.microsoft.com/office/drawing/2014/main" id="{8CFBAB9A-8304-57E0-7B57-BBAD5A96C19C}"/>
              </a:ext>
            </a:extLst>
          </p:cNvPr>
          <p:cNvSpPr/>
          <p:nvPr/>
        </p:nvSpPr>
        <p:spPr>
          <a:xfrm>
            <a:off x="2286000" y="1751584"/>
            <a:ext cx="1920240" cy="530352"/>
          </a:xfrm>
          <a:prstGeom prst="rect">
            <a:avLst/>
          </a:prstGeom>
          <a:solidFill>
            <a:srgbClr val="FFF3ED"/>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61" name="Text 16">
            <a:extLst>
              <a:ext uri="{FF2B5EF4-FFF2-40B4-BE49-F238E27FC236}">
                <a16:creationId xmlns:a16="http://schemas.microsoft.com/office/drawing/2014/main" id="{FA0DF6A7-4860-0E89-740E-D1993C8DB02D}"/>
              </a:ext>
            </a:extLst>
          </p:cNvPr>
          <p:cNvSpPr/>
          <p:nvPr/>
        </p:nvSpPr>
        <p:spPr>
          <a:xfrm>
            <a:off x="2286000" y="1751584"/>
            <a:ext cx="1920240" cy="530352"/>
          </a:xfrm>
          <a:prstGeom prst="rect">
            <a:avLst/>
          </a:prstGeom>
          <a:noFill/>
          <a:ln/>
        </p:spPr>
        <p:txBody>
          <a:bodyPr wrap="square" lIns="0" tIns="0" rIns="0" bIns="0" rtlCol="0" anchor="ctr"/>
          <a:lstStyle/>
          <a:p>
            <a:pPr marL="0" indent="0" algn="ctr">
              <a:buNone/>
            </a:pPr>
            <a:r>
              <a:rPr lang="en-US" sz="1800" b="1" dirty="0">
                <a:solidFill>
                  <a:srgbClr val="F97316"/>
                </a:solidFill>
                <a:latin typeface="Inter"/>
                <a:ea typeface="Inter"/>
                <a:cs typeface="Calibri" pitchFamily="34" charset="-120"/>
              </a:rPr>
              <a:t>0.933</a:t>
            </a:r>
            <a:endParaRPr lang="en-US" sz="1800" dirty="0">
              <a:latin typeface="Inter"/>
              <a:ea typeface="Inter"/>
            </a:endParaRPr>
          </a:p>
        </p:txBody>
      </p:sp>
      <p:sp>
        <p:nvSpPr>
          <p:cNvPr id="62" name="Text 17">
            <a:extLst>
              <a:ext uri="{FF2B5EF4-FFF2-40B4-BE49-F238E27FC236}">
                <a16:creationId xmlns:a16="http://schemas.microsoft.com/office/drawing/2014/main" id="{C17E5771-08DA-7324-0F6B-97753F51FDD8}"/>
              </a:ext>
            </a:extLst>
          </p:cNvPr>
          <p:cNvSpPr/>
          <p:nvPr/>
        </p:nvSpPr>
        <p:spPr>
          <a:xfrm>
            <a:off x="4251960" y="1751584"/>
            <a:ext cx="274320" cy="530352"/>
          </a:xfrm>
          <a:prstGeom prst="rect">
            <a:avLst/>
          </a:prstGeom>
          <a:noFill/>
          <a:ln/>
        </p:spPr>
        <p:txBody>
          <a:bodyPr wrap="square" lIns="0" tIns="0" rIns="0" bIns="0" rtlCol="0" anchor="ctr"/>
          <a:lstStyle/>
          <a:p>
            <a:pPr marL="0" indent="0" algn="ctr">
              <a:buNone/>
            </a:pPr>
            <a:r>
              <a:rPr lang="en-US" sz="1800" dirty="0">
                <a:solidFill>
                  <a:srgbClr val="64748B"/>
                </a:solidFill>
                <a:latin typeface="Inter"/>
                <a:ea typeface="Inter"/>
              </a:rPr>
              <a:t>→</a:t>
            </a:r>
            <a:endParaRPr lang="en-US" sz="1800" dirty="0">
              <a:latin typeface="Inter"/>
              <a:ea typeface="Inter"/>
            </a:endParaRPr>
          </a:p>
        </p:txBody>
      </p:sp>
      <p:sp>
        <p:nvSpPr>
          <p:cNvPr id="63" name="Shape 18">
            <a:extLst>
              <a:ext uri="{FF2B5EF4-FFF2-40B4-BE49-F238E27FC236}">
                <a16:creationId xmlns:a16="http://schemas.microsoft.com/office/drawing/2014/main" id="{586719E4-013B-0D66-35B4-0539851A98B6}"/>
              </a:ext>
            </a:extLst>
          </p:cNvPr>
          <p:cNvSpPr/>
          <p:nvPr/>
        </p:nvSpPr>
        <p:spPr>
          <a:xfrm>
            <a:off x="4553712" y="1751584"/>
            <a:ext cx="1920240" cy="530352"/>
          </a:xfrm>
          <a:prstGeom prst="rect">
            <a:avLst/>
          </a:prstGeom>
          <a:solidFill>
            <a:srgbClr val="ECFDF5"/>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64" name="Text 19">
            <a:extLst>
              <a:ext uri="{FF2B5EF4-FFF2-40B4-BE49-F238E27FC236}">
                <a16:creationId xmlns:a16="http://schemas.microsoft.com/office/drawing/2014/main" id="{34E99D12-14A0-BF3D-30B7-739DFEBD0D3E}"/>
              </a:ext>
            </a:extLst>
          </p:cNvPr>
          <p:cNvSpPr/>
          <p:nvPr/>
        </p:nvSpPr>
        <p:spPr>
          <a:xfrm>
            <a:off x="4553712" y="1751584"/>
            <a:ext cx="1920240" cy="530352"/>
          </a:xfrm>
          <a:prstGeom prst="rect">
            <a:avLst/>
          </a:prstGeom>
          <a:noFill/>
          <a:ln/>
        </p:spPr>
        <p:txBody>
          <a:bodyPr wrap="square" lIns="0" tIns="0" rIns="0" bIns="0" rtlCol="0" anchor="ctr"/>
          <a:lstStyle/>
          <a:p>
            <a:pPr marL="0" indent="0" algn="ctr">
              <a:buNone/>
            </a:pPr>
            <a:r>
              <a:rPr lang="en-US" sz="1800" b="1" dirty="0">
                <a:solidFill>
                  <a:srgbClr val="22C55E"/>
                </a:solidFill>
                <a:latin typeface="Inter"/>
                <a:ea typeface="Inter"/>
                <a:cs typeface="Calibri" pitchFamily="34" charset="-120"/>
              </a:rPr>
              <a:t>0.996</a:t>
            </a:r>
            <a:endParaRPr lang="en-US" sz="1800" dirty="0">
              <a:latin typeface="Inter"/>
              <a:ea typeface="Inter"/>
            </a:endParaRPr>
          </a:p>
        </p:txBody>
      </p:sp>
      <p:sp>
        <p:nvSpPr>
          <p:cNvPr id="65" name="Text 20">
            <a:extLst>
              <a:ext uri="{FF2B5EF4-FFF2-40B4-BE49-F238E27FC236}">
                <a16:creationId xmlns:a16="http://schemas.microsoft.com/office/drawing/2014/main" id="{E08D8395-A719-0AC6-C568-3D1F06B9049C}"/>
              </a:ext>
            </a:extLst>
          </p:cNvPr>
          <p:cNvSpPr/>
          <p:nvPr/>
        </p:nvSpPr>
        <p:spPr>
          <a:xfrm>
            <a:off x="6565392" y="1792224"/>
            <a:ext cx="2258568" cy="530352"/>
          </a:xfrm>
          <a:prstGeom prst="rect">
            <a:avLst/>
          </a:prstGeom>
          <a:noFill/>
          <a:ln/>
        </p:spPr>
        <p:txBody>
          <a:bodyPr wrap="square" lIns="0" tIns="0" rIns="0" bIns="0" rtlCol="0" anchor="ctr"/>
          <a:lstStyle/>
          <a:p>
            <a:pPr marL="0" indent="0" algn="l">
              <a:buNone/>
            </a:pPr>
            <a:r>
              <a:rPr lang="en-US" sz="950" dirty="0">
                <a:solidFill>
                  <a:srgbClr val="64748B"/>
                </a:solidFill>
                <a:latin typeface="Inter"/>
                <a:ea typeface="Inter"/>
                <a:cs typeface="Calibri" pitchFamily="34" charset="-120"/>
              </a:rPr>
              <a:t>Status 1 → Status 2</a:t>
            </a:r>
            <a:endParaRPr lang="en-US" sz="950" dirty="0">
              <a:latin typeface="Inter"/>
              <a:ea typeface="Inter"/>
            </a:endParaRPr>
          </a:p>
        </p:txBody>
      </p:sp>
      <p:sp>
        <p:nvSpPr>
          <p:cNvPr id="66" name="Shape 21">
            <a:extLst>
              <a:ext uri="{FF2B5EF4-FFF2-40B4-BE49-F238E27FC236}">
                <a16:creationId xmlns:a16="http://schemas.microsoft.com/office/drawing/2014/main" id="{1DB7DDB5-AD1E-28AE-F37D-647DE3F9B5A8}"/>
              </a:ext>
            </a:extLst>
          </p:cNvPr>
          <p:cNvSpPr/>
          <p:nvPr/>
        </p:nvSpPr>
        <p:spPr>
          <a:xfrm>
            <a:off x="320040" y="2373376"/>
            <a:ext cx="1920240" cy="530352"/>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67" name="Text 22">
            <a:extLst>
              <a:ext uri="{FF2B5EF4-FFF2-40B4-BE49-F238E27FC236}">
                <a16:creationId xmlns:a16="http://schemas.microsoft.com/office/drawing/2014/main" id="{68987F2D-6FB4-71D1-6E14-652069F8955D}"/>
              </a:ext>
            </a:extLst>
          </p:cNvPr>
          <p:cNvSpPr/>
          <p:nvPr/>
        </p:nvSpPr>
        <p:spPr>
          <a:xfrm>
            <a:off x="402336" y="2373376"/>
            <a:ext cx="1828800" cy="530352"/>
          </a:xfrm>
          <a:prstGeom prst="rect">
            <a:avLst/>
          </a:prstGeom>
          <a:noFill/>
          <a:ln/>
        </p:spPr>
        <p:txBody>
          <a:bodyPr wrap="square" lIns="0" tIns="0" rIns="0" bIns="0" rtlCol="0" anchor="ctr"/>
          <a:lstStyle/>
          <a:p>
            <a:pPr marL="0" indent="0" algn="l">
              <a:buNone/>
            </a:pPr>
            <a:r>
              <a:rPr lang="en-US" sz="1050" b="1" dirty="0">
                <a:solidFill>
                  <a:srgbClr val="0F2044"/>
                </a:solidFill>
                <a:latin typeface="Inter"/>
                <a:ea typeface="Inter"/>
                <a:cs typeface="Calibri" pitchFamily="34" charset="-120"/>
              </a:rPr>
              <a:t>Hallucination (Base LLM)</a:t>
            </a:r>
            <a:endParaRPr lang="en-US" sz="1050" dirty="0">
              <a:latin typeface="Inter"/>
              <a:ea typeface="Inter"/>
            </a:endParaRPr>
          </a:p>
        </p:txBody>
      </p:sp>
      <p:sp>
        <p:nvSpPr>
          <p:cNvPr id="68" name="Shape 23">
            <a:extLst>
              <a:ext uri="{FF2B5EF4-FFF2-40B4-BE49-F238E27FC236}">
                <a16:creationId xmlns:a16="http://schemas.microsoft.com/office/drawing/2014/main" id="{F8B64BB4-A11B-6772-2A13-754BB0F5C352}"/>
              </a:ext>
            </a:extLst>
          </p:cNvPr>
          <p:cNvSpPr/>
          <p:nvPr/>
        </p:nvSpPr>
        <p:spPr>
          <a:xfrm>
            <a:off x="2286000" y="2373376"/>
            <a:ext cx="1920240" cy="530352"/>
          </a:xfrm>
          <a:prstGeom prst="rect">
            <a:avLst/>
          </a:prstGeom>
          <a:solidFill>
            <a:srgbClr val="FFF3ED"/>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69" name="Text 24">
            <a:extLst>
              <a:ext uri="{FF2B5EF4-FFF2-40B4-BE49-F238E27FC236}">
                <a16:creationId xmlns:a16="http://schemas.microsoft.com/office/drawing/2014/main" id="{0757AB11-2914-5B6A-0B85-9135E35B3DAF}"/>
              </a:ext>
            </a:extLst>
          </p:cNvPr>
          <p:cNvSpPr/>
          <p:nvPr/>
        </p:nvSpPr>
        <p:spPr>
          <a:xfrm>
            <a:off x="2286000" y="2373376"/>
            <a:ext cx="1920240" cy="530352"/>
          </a:xfrm>
          <a:prstGeom prst="rect">
            <a:avLst/>
          </a:prstGeom>
          <a:noFill/>
          <a:ln/>
        </p:spPr>
        <p:txBody>
          <a:bodyPr wrap="square" lIns="0" tIns="0" rIns="0" bIns="0" rtlCol="0" anchor="ctr"/>
          <a:lstStyle/>
          <a:p>
            <a:pPr marL="0" indent="0" algn="ctr">
              <a:buNone/>
            </a:pPr>
            <a:r>
              <a:rPr lang="en-US" sz="1800" b="1" dirty="0">
                <a:solidFill>
                  <a:srgbClr val="F97316"/>
                </a:solidFill>
                <a:latin typeface="Inter"/>
                <a:ea typeface="Inter"/>
                <a:cs typeface="Calibri" pitchFamily="34" charset="-120"/>
              </a:rPr>
              <a:t>~50%</a:t>
            </a:r>
            <a:endParaRPr lang="en-US" sz="1800" dirty="0">
              <a:latin typeface="Inter"/>
              <a:ea typeface="Inter"/>
            </a:endParaRPr>
          </a:p>
        </p:txBody>
      </p:sp>
      <p:sp>
        <p:nvSpPr>
          <p:cNvPr id="70" name="Text 25">
            <a:extLst>
              <a:ext uri="{FF2B5EF4-FFF2-40B4-BE49-F238E27FC236}">
                <a16:creationId xmlns:a16="http://schemas.microsoft.com/office/drawing/2014/main" id="{63C1BF61-BA6B-B840-9986-BA1BFEEE28CB}"/>
              </a:ext>
            </a:extLst>
          </p:cNvPr>
          <p:cNvSpPr/>
          <p:nvPr/>
        </p:nvSpPr>
        <p:spPr>
          <a:xfrm>
            <a:off x="4251960" y="2373376"/>
            <a:ext cx="274320" cy="530352"/>
          </a:xfrm>
          <a:prstGeom prst="rect">
            <a:avLst/>
          </a:prstGeom>
          <a:noFill/>
          <a:ln/>
        </p:spPr>
        <p:txBody>
          <a:bodyPr wrap="square" lIns="0" tIns="0" rIns="0" bIns="0" rtlCol="0" anchor="ctr"/>
          <a:lstStyle/>
          <a:p>
            <a:pPr marL="0" indent="0" algn="ctr">
              <a:buNone/>
            </a:pPr>
            <a:r>
              <a:rPr lang="en-US" sz="1800" dirty="0">
                <a:solidFill>
                  <a:srgbClr val="64748B"/>
                </a:solidFill>
                <a:latin typeface="Inter"/>
                <a:ea typeface="Inter"/>
              </a:rPr>
              <a:t>→</a:t>
            </a:r>
            <a:endParaRPr lang="en-US" sz="1800" dirty="0">
              <a:latin typeface="Inter"/>
              <a:ea typeface="Inter"/>
            </a:endParaRPr>
          </a:p>
        </p:txBody>
      </p:sp>
      <p:sp>
        <p:nvSpPr>
          <p:cNvPr id="71" name="Shape 26">
            <a:extLst>
              <a:ext uri="{FF2B5EF4-FFF2-40B4-BE49-F238E27FC236}">
                <a16:creationId xmlns:a16="http://schemas.microsoft.com/office/drawing/2014/main" id="{A02D7B1B-8760-FF4B-F9C6-64CD53E578CE}"/>
              </a:ext>
            </a:extLst>
          </p:cNvPr>
          <p:cNvSpPr/>
          <p:nvPr/>
        </p:nvSpPr>
        <p:spPr>
          <a:xfrm>
            <a:off x="4553712" y="2373376"/>
            <a:ext cx="1920240" cy="530352"/>
          </a:xfrm>
          <a:prstGeom prst="rect">
            <a:avLst/>
          </a:prstGeom>
          <a:solidFill>
            <a:srgbClr val="ECFDF5"/>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72" name="Text 27">
            <a:extLst>
              <a:ext uri="{FF2B5EF4-FFF2-40B4-BE49-F238E27FC236}">
                <a16:creationId xmlns:a16="http://schemas.microsoft.com/office/drawing/2014/main" id="{03E3F8D1-9D18-9DCC-435A-13B2A8FFEE59}"/>
              </a:ext>
            </a:extLst>
          </p:cNvPr>
          <p:cNvSpPr/>
          <p:nvPr/>
        </p:nvSpPr>
        <p:spPr>
          <a:xfrm>
            <a:off x="4553712" y="2373376"/>
            <a:ext cx="1920240" cy="530352"/>
          </a:xfrm>
          <a:prstGeom prst="rect">
            <a:avLst/>
          </a:prstGeom>
          <a:noFill/>
          <a:ln/>
        </p:spPr>
        <p:txBody>
          <a:bodyPr wrap="square" lIns="0" tIns="0" rIns="0" bIns="0" rtlCol="0" anchor="ctr"/>
          <a:lstStyle/>
          <a:p>
            <a:pPr marL="0" indent="0" algn="ctr">
              <a:buNone/>
            </a:pPr>
            <a:r>
              <a:rPr lang="en-US" sz="1800" b="1" dirty="0">
                <a:solidFill>
                  <a:srgbClr val="22C55E"/>
                </a:solidFill>
                <a:latin typeface="Inter"/>
                <a:ea typeface="Inter"/>
                <a:cs typeface="Calibri" pitchFamily="34" charset="-120"/>
              </a:rPr>
              <a:t>4.5%</a:t>
            </a:r>
            <a:endParaRPr lang="en-US" sz="1800" dirty="0">
              <a:latin typeface="Inter"/>
              <a:ea typeface="Inter"/>
            </a:endParaRPr>
          </a:p>
        </p:txBody>
      </p:sp>
      <p:sp>
        <p:nvSpPr>
          <p:cNvPr id="73" name="Text 28">
            <a:extLst>
              <a:ext uri="{FF2B5EF4-FFF2-40B4-BE49-F238E27FC236}">
                <a16:creationId xmlns:a16="http://schemas.microsoft.com/office/drawing/2014/main" id="{16906F3C-9E69-543B-B6CD-CF8A36032681}"/>
              </a:ext>
            </a:extLst>
          </p:cNvPr>
          <p:cNvSpPr/>
          <p:nvPr/>
        </p:nvSpPr>
        <p:spPr>
          <a:xfrm>
            <a:off x="6565392" y="2414016"/>
            <a:ext cx="2258568" cy="530352"/>
          </a:xfrm>
          <a:prstGeom prst="rect">
            <a:avLst/>
          </a:prstGeom>
          <a:noFill/>
          <a:ln/>
        </p:spPr>
        <p:txBody>
          <a:bodyPr wrap="square" lIns="0" tIns="0" rIns="0" bIns="0" rtlCol="0" anchor="ctr"/>
          <a:lstStyle/>
          <a:p>
            <a:pPr marL="0" indent="0" algn="l">
              <a:buNone/>
            </a:pPr>
            <a:r>
              <a:rPr lang="en-US" sz="950" dirty="0">
                <a:solidFill>
                  <a:srgbClr val="64748B"/>
                </a:solidFill>
                <a:latin typeface="Inter"/>
                <a:ea typeface="Inter"/>
                <a:cs typeface="Calibri" pitchFamily="34" charset="-120"/>
              </a:rPr>
              <a:t>RAG cuts hallucination 10×</a:t>
            </a:r>
            <a:endParaRPr lang="en-US" sz="950" dirty="0">
              <a:latin typeface="Inter"/>
              <a:ea typeface="Inter"/>
            </a:endParaRPr>
          </a:p>
        </p:txBody>
      </p:sp>
      <p:sp>
        <p:nvSpPr>
          <p:cNvPr id="74" name="Shape 29">
            <a:extLst>
              <a:ext uri="{FF2B5EF4-FFF2-40B4-BE49-F238E27FC236}">
                <a16:creationId xmlns:a16="http://schemas.microsoft.com/office/drawing/2014/main" id="{99B3B727-F672-33A1-54D3-6CC6F057CED1}"/>
              </a:ext>
            </a:extLst>
          </p:cNvPr>
          <p:cNvSpPr/>
          <p:nvPr/>
        </p:nvSpPr>
        <p:spPr>
          <a:xfrm>
            <a:off x="320040" y="2995168"/>
            <a:ext cx="1920240" cy="530352"/>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75" name="Text 30">
            <a:extLst>
              <a:ext uri="{FF2B5EF4-FFF2-40B4-BE49-F238E27FC236}">
                <a16:creationId xmlns:a16="http://schemas.microsoft.com/office/drawing/2014/main" id="{CB46CDCB-F451-7582-A11E-70674802297C}"/>
              </a:ext>
            </a:extLst>
          </p:cNvPr>
          <p:cNvSpPr/>
          <p:nvPr/>
        </p:nvSpPr>
        <p:spPr>
          <a:xfrm>
            <a:off x="402336" y="2995168"/>
            <a:ext cx="1828800" cy="530352"/>
          </a:xfrm>
          <a:prstGeom prst="rect">
            <a:avLst/>
          </a:prstGeom>
          <a:noFill/>
          <a:ln/>
        </p:spPr>
        <p:txBody>
          <a:bodyPr wrap="square" lIns="0" tIns="0" rIns="0" bIns="0" rtlCol="0" anchor="ctr"/>
          <a:lstStyle/>
          <a:p>
            <a:pPr marL="0" indent="0" algn="l">
              <a:buNone/>
            </a:pPr>
            <a:r>
              <a:rPr lang="en-US" sz="1050" b="1" dirty="0">
                <a:solidFill>
                  <a:srgbClr val="0F2044"/>
                </a:solidFill>
                <a:latin typeface="Inter"/>
                <a:ea typeface="Inter"/>
                <a:cs typeface="Calibri" pitchFamily="34" charset="-120"/>
              </a:rPr>
              <a:t>Per-Query Latency</a:t>
            </a:r>
            <a:endParaRPr lang="en-US" sz="1050" dirty="0">
              <a:latin typeface="Inter"/>
              <a:ea typeface="Inter"/>
            </a:endParaRPr>
          </a:p>
        </p:txBody>
      </p:sp>
      <p:sp>
        <p:nvSpPr>
          <p:cNvPr id="76" name="Shape 31">
            <a:extLst>
              <a:ext uri="{FF2B5EF4-FFF2-40B4-BE49-F238E27FC236}">
                <a16:creationId xmlns:a16="http://schemas.microsoft.com/office/drawing/2014/main" id="{A9423875-CCA5-01A5-6FAD-826F0D5369DF}"/>
              </a:ext>
            </a:extLst>
          </p:cNvPr>
          <p:cNvSpPr/>
          <p:nvPr/>
        </p:nvSpPr>
        <p:spPr>
          <a:xfrm>
            <a:off x="2286000" y="2995168"/>
            <a:ext cx="1920240" cy="530352"/>
          </a:xfrm>
          <a:prstGeom prst="rect">
            <a:avLst/>
          </a:prstGeom>
          <a:solidFill>
            <a:srgbClr val="FFF3ED"/>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77" name="Text 32">
            <a:extLst>
              <a:ext uri="{FF2B5EF4-FFF2-40B4-BE49-F238E27FC236}">
                <a16:creationId xmlns:a16="http://schemas.microsoft.com/office/drawing/2014/main" id="{18F020C0-3953-9E22-803A-5E427EAAC221}"/>
              </a:ext>
            </a:extLst>
          </p:cNvPr>
          <p:cNvSpPr/>
          <p:nvPr/>
        </p:nvSpPr>
        <p:spPr>
          <a:xfrm>
            <a:off x="2286000" y="2995168"/>
            <a:ext cx="1920240" cy="530352"/>
          </a:xfrm>
          <a:prstGeom prst="rect">
            <a:avLst/>
          </a:prstGeom>
          <a:noFill/>
          <a:ln/>
        </p:spPr>
        <p:txBody>
          <a:bodyPr wrap="square" lIns="0" tIns="0" rIns="0" bIns="0" rtlCol="0" anchor="ctr"/>
          <a:lstStyle/>
          <a:p>
            <a:pPr marL="0" indent="0" algn="ctr">
              <a:buNone/>
            </a:pPr>
            <a:r>
              <a:rPr lang="en-US" sz="1800" b="1" dirty="0">
                <a:solidFill>
                  <a:srgbClr val="F97316"/>
                </a:solidFill>
                <a:latin typeface="Inter"/>
                <a:ea typeface="Inter"/>
                <a:cs typeface="Calibri" pitchFamily="34" charset="-120"/>
              </a:rPr>
              <a:t>4–9 s</a:t>
            </a:r>
            <a:endParaRPr lang="en-US" sz="1800" dirty="0">
              <a:latin typeface="Inter"/>
              <a:ea typeface="Inter"/>
            </a:endParaRPr>
          </a:p>
        </p:txBody>
      </p:sp>
      <p:sp>
        <p:nvSpPr>
          <p:cNvPr id="78" name="Text 33">
            <a:extLst>
              <a:ext uri="{FF2B5EF4-FFF2-40B4-BE49-F238E27FC236}">
                <a16:creationId xmlns:a16="http://schemas.microsoft.com/office/drawing/2014/main" id="{A18AC0FA-A778-6A0B-EC40-1FBEB1B8815C}"/>
              </a:ext>
            </a:extLst>
          </p:cNvPr>
          <p:cNvSpPr/>
          <p:nvPr/>
        </p:nvSpPr>
        <p:spPr>
          <a:xfrm>
            <a:off x="4251960" y="2995168"/>
            <a:ext cx="274320" cy="530352"/>
          </a:xfrm>
          <a:prstGeom prst="rect">
            <a:avLst/>
          </a:prstGeom>
          <a:noFill/>
          <a:ln/>
        </p:spPr>
        <p:txBody>
          <a:bodyPr wrap="square" lIns="0" tIns="0" rIns="0" bIns="0" rtlCol="0" anchor="ctr"/>
          <a:lstStyle/>
          <a:p>
            <a:pPr marL="0" indent="0" algn="ctr">
              <a:buNone/>
            </a:pPr>
            <a:r>
              <a:rPr lang="en-US" sz="1800" dirty="0">
                <a:solidFill>
                  <a:srgbClr val="64748B"/>
                </a:solidFill>
                <a:latin typeface="Inter"/>
                <a:ea typeface="Inter"/>
              </a:rPr>
              <a:t>→</a:t>
            </a:r>
            <a:endParaRPr lang="en-US" sz="1800" dirty="0">
              <a:latin typeface="Inter"/>
              <a:ea typeface="Inter"/>
            </a:endParaRPr>
          </a:p>
        </p:txBody>
      </p:sp>
      <p:sp>
        <p:nvSpPr>
          <p:cNvPr id="79" name="Shape 34">
            <a:extLst>
              <a:ext uri="{FF2B5EF4-FFF2-40B4-BE49-F238E27FC236}">
                <a16:creationId xmlns:a16="http://schemas.microsoft.com/office/drawing/2014/main" id="{FC1B953A-1303-11AB-4B13-87D761328C72}"/>
              </a:ext>
            </a:extLst>
          </p:cNvPr>
          <p:cNvSpPr/>
          <p:nvPr/>
        </p:nvSpPr>
        <p:spPr>
          <a:xfrm>
            <a:off x="4553712" y="2995168"/>
            <a:ext cx="1920240" cy="530352"/>
          </a:xfrm>
          <a:prstGeom prst="rect">
            <a:avLst/>
          </a:prstGeom>
          <a:solidFill>
            <a:srgbClr val="ECFDF5"/>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80" name="Text 35">
            <a:extLst>
              <a:ext uri="{FF2B5EF4-FFF2-40B4-BE49-F238E27FC236}">
                <a16:creationId xmlns:a16="http://schemas.microsoft.com/office/drawing/2014/main" id="{E17BE4D1-95EC-80FC-D465-7610778A354F}"/>
              </a:ext>
            </a:extLst>
          </p:cNvPr>
          <p:cNvSpPr/>
          <p:nvPr/>
        </p:nvSpPr>
        <p:spPr>
          <a:xfrm>
            <a:off x="4553712" y="2995168"/>
            <a:ext cx="1920240" cy="530352"/>
          </a:xfrm>
          <a:prstGeom prst="rect">
            <a:avLst/>
          </a:prstGeom>
          <a:noFill/>
          <a:ln/>
        </p:spPr>
        <p:txBody>
          <a:bodyPr wrap="square" lIns="0" tIns="0" rIns="0" bIns="0" rtlCol="0" anchor="ctr"/>
          <a:lstStyle/>
          <a:p>
            <a:pPr marL="0" indent="0" algn="ctr">
              <a:buNone/>
            </a:pPr>
            <a:r>
              <a:rPr lang="en-US" sz="1800" b="1" dirty="0">
                <a:solidFill>
                  <a:srgbClr val="22C55E"/>
                </a:solidFill>
                <a:latin typeface="Inter"/>
                <a:ea typeface="Inter"/>
                <a:cs typeface="Calibri" pitchFamily="34" charset="-120"/>
              </a:rPr>
              <a:t>596 ms</a:t>
            </a:r>
            <a:endParaRPr lang="en-US" sz="1800" dirty="0">
              <a:latin typeface="Inter"/>
              <a:ea typeface="Inter"/>
            </a:endParaRPr>
          </a:p>
        </p:txBody>
      </p:sp>
      <p:sp>
        <p:nvSpPr>
          <p:cNvPr id="81" name="Text 36">
            <a:extLst>
              <a:ext uri="{FF2B5EF4-FFF2-40B4-BE49-F238E27FC236}">
                <a16:creationId xmlns:a16="http://schemas.microsoft.com/office/drawing/2014/main" id="{C485AB1F-01E3-549A-5DA2-9117C11EB13D}"/>
              </a:ext>
            </a:extLst>
          </p:cNvPr>
          <p:cNvSpPr/>
          <p:nvPr/>
        </p:nvSpPr>
        <p:spPr>
          <a:xfrm>
            <a:off x="6565392" y="3035808"/>
            <a:ext cx="2258568" cy="530352"/>
          </a:xfrm>
          <a:prstGeom prst="rect">
            <a:avLst/>
          </a:prstGeom>
          <a:noFill/>
          <a:ln/>
        </p:spPr>
        <p:txBody>
          <a:bodyPr wrap="square" lIns="0" tIns="0" rIns="0" bIns="0" rtlCol="0" anchor="ctr"/>
          <a:lstStyle/>
          <a:p>
            <a:pPr marL="0" indent="0" algn="l">
              <a:buNone/>
            </a:pPr>
            <a:r>
              <a:rPr lang="en-US" sz="950" dirty="0">
                <a:solidFill>
                  <a:srgbClr val="64748B"/>
                </a:solidFill>
                <a:latin typeface="Inter"/>
                <a:ea typeface="Inter"/>
                <a:cs typeface="Calibri" pitchFamily="34" charset="-120"/>
              </a:rPr>
              <a:t>Local Status 1 → Status 2 retrieval</a:t>
            </a:r>
            <a:endParaRPr lang="en-US" sz="950" dirty="0">
              <a:latin typeface="Inter"/>
              <a:ea typeface="Inter"/>
            </a:endParaRPr>
          </a:p>
        </p:txBody>
      </p:sp>
      <p:sp>
        <p:nvSpPr>
          <p:cNvPr id="82" name="Shape 37">
            <a:extLst>
              <a:ext uri="{FF2B5EF4-FFF2-40B4-BE49-F238E27FC236}">
                <a16:creationId xmlns:a16="http://schemas.microsoft.com/office/drawing/2014/main" id="{FEDC3BA1-07F1-2F3D-2CA4-04445D4C953D}"/>
              </a:ext>
            </a:extLst>
          </p:cNvPr>
          <p:cNvSpPr/>
          <p:nvPr/>
        </p:nvSpPr>
        <p:spPr>
          <a:xfrm>
            <a:off x="320040" y="3616960"/>
            <a:ext cx="1920240" cy="530352"/>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83" name="Text 38">
            <a:extLst>
              <a:ext uri="{FF2B5EF4-FFF2-40B4-BE49-F238E27FC236}">
                <a16:creationId xmlns:a16="http://schemas.microsoft.com/office/drawing/2014/main" id="{BF37A915-89D4-5E9D-4A4E-97E0D892800F}"/>
              </a:ext>
            </a:extLst>
          </p:cNvPr>
          <p:cNvSpPr/>
          <p:nvPr/>
        </p:nvSpPr>
        <p:spPr>
          <a:xfrm>
            <a:off x="402336" y="3616960"/>
            <a:ext cx="1828800" cy="530352"/>
          </a:xfrm>
          <a:prstGeom prst="rect">
            <a:avLst/>
          </a:prstGeom>
          <a:noFill/>
          <a:ln/>
        </p:spPr>
        <p:txBody>
          <a:bodyPr wrap="square" lIns="0" tIns="0" rIns="0" bIns="0" rtlCol="0" anchor="ctr"/>
          <a:lstStyle/>
          <a:p>
            <a:pPr marL="0" indent="0" algn="l">
              <a:buNone/>
            </a:pPr>
            <a:r>
              <a:rPr lang="en-US" sz="1050" b="1" dirty="0">
                <a:solidFill>
                  <a:srgbClr val="0F2044"/>
                </a:solidFill>
                <a:latin typeface="Inter"/>
                <a:ea typeface="Inter"/>
                <a:cs typeface="Calibri" pitchFamily="34" charset="-120"/>
              </a:rPr>
              <a:t>Tickets Indexed</a:t>
            </a:r>
            <a:endParaRPr lang="en-US" sz="1050" dirty="0">
              <a:latin typeface="Inter"/>
              <a:ea typeface="Inter"/>
            </a:endParaRPr>
          </a:p>
        </p:txBody>
      </p:sp>
      <p:sp>
        <p:nvSpPr>
          <p:cNvPr id="84" name="Shape 39">
            <a:extLst>
              <a:ext uri="{FF2B5EF4-FFF2-40B4-BE49-F238E27FC236}">
                <a16:creationId xmlns:a16="http://schemas.microsoft.com/office/drawing/2014/main" id="{4858BD73-F41F-6548-D9C9-4C18FFEC5C87}"/>
              </a:ext>
            </a:extLst>
          </p:cNvPr>
          <p:cNvSpPr/>
          <p:nvPr/>
        </p:nvSpPr>
        <p:spPr>
          <a:xfrm>
            <a:off x="2286000" y="3616960"/>
            <a:ext cx="1920240" cy="530352"/>
          </a:xfrm>
          <a:prstGeom prst="rect">
            <a:avLst/>
          </a:prstGeom>
          <a:solidFill>
            <a:srgbClr val="FFF3ED"/>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85" name="Text 40">
            <a:extLst>
              <a:ext uri="{FF2B5EF4-FFF2-40B4-BE49-F238E27FC236}">
                <a16:creationId xmlns:a16="http://schemas.microsoft.com/office/drawing/2014/main" id="{84294A9C-FC49-CADD-8F3B-8C5EA0A78943}"/>
              </a:ext>
            </a:extLst>
          </p:cNvPr>
          <p:cNvSpPr/>
          <p:nvPr/>
        </p:nvSpPr>
        <p:spPr>
          <a:xfrm>
            <a:off x="2286000" y="3616960"/>
            <a:ext cx="1920240" cy="530352"/>
          </a:xfrm>
          <a:prstGeom prst="rect">
            <a:avLst/>
          </a:prstGeom>
          <a:noFill/>
          <a:ln/>
        </p:spPr>
        <p:txBody>
          <a:bodyPr wrap="square" lIns="0" tIns="0" rIns="0" bIns="0" rtlCol="0" anchor="ctr"/>
          <a:lstStyle/>
          <a:p>
            <a:pPr marL="0" indent="0" algn="ctr">
              <a:buNone/>
            </a:pPr>
            <a:r>
              <a:rPr lang="en-US" sz="1800" b="1" dirty="0">
                <a:solidFill>
                  <a:srgbClr val="F97316"/>
                </a:solidFill>
                <a:latin typeface="Inter"/>
                <a:ea typeface="Inter"/>
                <a:cs typeface="Calibri" pitchFamily="34" charset="-120"/>
              </a:rPr>
              <a:t>2,656</a:t>
            </a:r>
            <a:endParaRPr lang="en-US" sz="1800" dirty="0">
              <a:latin typeface="Inter"/>
              <a:ea typeface="Inter"/>
            </a:endParaRPr>
          </a:p>
        </p:txBody>
      </p:sp>
      <p:sp>
        <p:nvSpPr>
          <p:cNvPr id="86" name="Text 41">
            <a:extLst>
              <a:ext uri="{FF2B5EF4-FFF2-40B4-BE49-F238E27FC236}">
                <a16:creationId xmlns:a16="http://schemas.microsoft.com/office/drawing/2014/main" id="{DDE798A1-B057-B0AB-DB95-E9DFB519F880}"/>
              </a:ext>
            </a:extLst>
          </p:cNvPr>
          <p:cNvSpPr/>
          <p:nvPr/>
        </p:nvSpPr>
        <p:spPr>
          <a:xfrm>
            <a:off x="4251960" y="3616960"/>
            <a:ext cx="274320" cy="530352"/>
          </a:xfrm>
          <a:prstGeom prst="rect">
            <a:avLst/>
          </a:prstGeom>
          <a:noFill/>
          <a:ln/>
        </p:spPr>
        <p:txBody>
          <a:bodyPr wrap="square" lIns="0" tIns="0" rIns="0" bIns="0" rtlCol="0" anchor="ctr"/>
          <a:lstStyle/>
          <a:p>
            <a:pPr marL="0" indent="0" algn="ctr">
              <a:buNone/>
            </a:pPr>
            <a:r>
              <a:rPr lang="en-US" sz="1800" dirty="0">
                <a:solidFill>
                  <a:srgbClr val="64748B"/>
                </a:solidFill>
                <a:latin typeface="Inter"/>
                <a:ea typeface="Inter"/>
              </a:rPr>
              <a:t>→</a:t>
            </a:r>
            <a:endParaRPr lang="en-US" sz="1800" dirty="0">
              <a:latin typeface="Inter"/>
              <a:ea typeface="Inter"/>
            </a:endParaRPr>
          </a:p>
        </p:txBody>
      </p:sp>
      <p:sp>
        <p:nvSpPr>
          <p:cNvPr id="87" name="Shape 42">
            <a:extLst>
              <a:ext uri="{FF2B5EF4-FFF2-40B4-BE49-F238E27FC236}">
                <a16:creationId xmlns:a16="http://schemas.microsoft.com/office/drawing/2014/main" id="{756E17C7-1D16-5162-BB8A-F6DDB3267595}"/>
              </a:ext>
            </a:extLst>
          </p:cNvPr>
          <p:cNvSpPr/>
          <p:nvPr/>
        </p:nvSpPr>
        <p:spPr>
          <a:xfrm>
            <a:off x="4553712" y="3616960"/>
            <a:ext cx="1920240" cy="530352"/>
          </a:xfrm>
          <a:prstGeom prst="rect">
            <a:avLst/>
          </a:prstGeom>
          <a:solidFill>
            <a:srgbClr val="ECFDF5"/>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88" name="Text 43">
            <a:extLst>
              <a:ext uri="{FF2B5EF4-FFF2-40B4-BE49-F238E27FC236}">
                <a16:creationId xmlns:a16="http://schemas.microsoft.com/office/drawing/2014/main" id="{A769F292-0BE9-43C9-1E02-7FBB42985B05}"/>
              </a:ext>
            </a:extLst>
          </p:cNvPr>
          <p:cNvSpPr/>
          <p:nvPr/>
        </p:nvSpPr>
        <p:spPr>
          <a:xfrm>
            <a:off x="4553712" y="3616960"/>
            <a:ext cx="1920240" cy="530352"/>
          </a:xfrm>
          <a:prstGeom prst="rect">
            <a:avLst/>
          </a:prstGeom>
          <a:noFill/>
          <a:ln/>
        </p:spPr>
        <p:txBody>
          <a:bodyPr wrap="square" lIns="0" tIns="0" rIns="0" bIns="0" rtlCol="0" anchor="ctr"/>
          <a:lstStyle/>
          <a:p>
            <a:pPr marL="0" indent="0" algn="ctr">
              <a:buNone/>
            </a:pPr>
            <a:r>
              <a:rPr lang="en-US" sz="1800" b="1" dirty="0">
                <a:solidFill>
                  <a:srgbClr val="22C55E"/>
                </a:solidFill>
                <a:latin typeface="Inter"/>
                <a:ea typeface="Inter"/>
                <a:cs typeface="Calibri" pitchFamily="34" charset="-120"/>
              </a:rPr>
              <a:t>80,000</a:t>
            </a:r>
            <a:endParaRPr lang="en-US" sz="1800" dirty="0">
              <a:latin typeface="Inter"/>
              <a:ea typeface="Inter"/>
            </a:endParaRPr>
          </a:p>
        </p:txBody>
      </p:sp>
      <p:sp>
        <p:nvSpPr>
          <p:cNvPr id="89" name="Text 44">
            <a:extLst>
              <a:ext uri="{FF2B5EF4-FFF2-40B4-BE49-F238E27FC236}">
                <a16:creationId xmlns:a16="http://schemas.microsoft.com/office/drawing/2014/main" id="{C560EBF4-FE13-341D-48B6-861CF2B8D755}"/>
              </a:ext>
            </a:extLst>
          </p:cNvPr>
          <p:cNvSpPr/>
          <p:nvPr/>
        </p:nvSpPr>
        <p:spPr>
          <a:xfrm>
            <a:off x="6565392" y="3657600"/>
            <a:ext cx="2258568" cy="530352"/>
          </a:xfrm>
          <a:prstGeom prst="rect">
            <a:avLst/>
          </a:prstGeom>
          <a:noFill/>
          <a:ln/>
        </p:spPr>
        <p:txBody>
          <a:bodyPr wrap="square" lIns="0" tIns="0" rIns="0" bIns="0" rtlCol="0" anchor="ctr"/>
          <a:lstStyle/>
          <a:p>
            <a:pPr marL="0" indent="0" algn="l">
              <a:buNone/>
            </a:pPr>
            <a:r>
              <a:rPr lang="en-US" sz="950" dirty="0">
                <a:solidFill>
                  <a:srgbClr val="64748B"/>
                </a:solidFill>
                <a:latin typeface="Inter"/>
                <a:ea typeface="Inter"/>
                <a:cs typeface="Calibri" pitchFamily="34" charset="-120"/>
              </a:rPr>
              <a:t>Status 1 → Final</a:t>
            </a:r>
            <a:endParaRPr lang="en-US" sz="950" dirty="0">
              <a:latin typeface="Inter"/>
              <a:ea typeface="Inter"/>
            </a:endParaRPr>
          </a:p>
        </p:txBody>
      </p:sp>
      <p:sp>
        <p:nvSpPr>
          <p:cNvPr id="90" name="Shape 45">
            <a:extLst>
              <a:ext uri="{FF2B5EF4-FFF2-40B4-BE49-F238E27FC236}">
                <a16:creationId xmlns:a16="http://schemas.microsoft.com/office/drawing/2014/main" id="{8CC46BC8-73DF-D82F-9827-CFAB97A31863}"/>
              </a:ext>
            </a:extLst>
          </p:cNvPr>
          <p:cNvSpPr/>
          <p:nvPr/>
        </p:nvSpPr>
        <p:spPr>
          <a:xfrm>
            <a:off x="320040" y="4238752"/>
            <a:ext cx="1920240" cy="530352"/>
          </a:xfrm>
          <a:prstGeom prst="rect">
            <a:avLst/>
          </a:prstGeom>
          <a:solidFill>
            <a:srgbClr val="FFFFFF"/>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91" name="Text 46">
            <a:extLst>
              <a:ext uri="{FF2B5EF4-FFF2-40B4-BE49-F238E27FC236}">
                <a16:creationId xmlns:a16="http://schemas.microsoft.com/office/drawing/2014/main" id="{D379F38C-F756-8192-9A57-F755535610F2}"/>
              </a:ext>
            </a:extLst>
          </p:cNvPr>
          <p:cNvSpPr/>
          <p:nvPr/>
        </p:nvSpPr>
        <p:spPr>
          <a:xfrm>
            <a:off x="402336" y="4238752"/>
            <a:ext cx="1828800" cy="530352"/>
          </a:xfrm>
          <a:prstGeom prst="rect">
            <a:avLst/>
          </a:prstGeom>
          <a:noFill/>
          <a:ln/>
        </p:spPr>
        <p:txBody>
          <a:bodyPr wrap="square" lIns="0" tIns="0" rIns="0" bIns="0" rtlCol="0" anchor="ctr"/>
          <a:lstStyle/>
          <a:p>
            <a:pPr marL="0" indent="0" algn="l">
              <a:buNone/>
            </a:pPr>
            <a:r>
              <a:rPr lang="en-US" sz="1050" b="1" dirty="0">
                <a:solidFill>
                  <a:srgbClr val="0F2044"/>
                </a:solidFill>
                <a:latin typeface="Inter"/>
                <a:ea typeface="Inter"/>
                <a:cs typeface="Calibri" pitchFamily="34" charset="-120"/>
              </a:rPr>
              <a:t>Dedup F1</a:t>
            </a:r>
            <a:endParaRPr lang="en-US" sz="1050" dirty="0">
              <a:latin typeface="Inter"/>
              <a:ea typeface="Inter"/>
            </a:endParaRPr>
          </a:p>
        </p:txBody>
      </p:sp>
      <p:sp>
        <p:nvSpPr>
          <p:cNvPr id="92" name="Shape 47">
            <a:extLst>
              <a:ext uri="{FF2B5EF4-FFF2-40B4-BE49-F238E27FC236}">
                <a16:creationId xmlns:a16="http://schemas.microsoft.com/office/drawing/2014/main" id="{E19245F4-0E9B-3253-8D3E-9966EB14EE5E}"/>
              </a:ext>
            </a:extLst>
          </p:cNvPr>
          <p:cNvSpPr/>
          <p:nvPr/>
        </p:nvSpPr>
        <p:spPr>
          <a:xfrm>
            <a:off x="2286000" y="4238752"/>
            <a:ext cx="1920240" cy="530352"/>
          </a:xfrm>
          <a:prstGeom prst="rect">
            <a:avLst/>
          </a:prstGeom>
          <a:solidFill>
            <a:srgbClr val="FFF3ED"/>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93" name="Text 48">
            <a:extLst>
              <a:ext uri="{FF2B5EF4-FFF2-40B4-BE49-F238E27FC236}">
                <a16:creationId xmlns:a16="http://schemas.microsoft.com/office/drawing/2014/main" id="{91122D78-E084-E465-A7D8-9A613FBCAAC0}"/>
              </a:ext>
            </a:extLst>
          </p:cNvPr>
          <p:cNvSpPr/>
          <p:nvPr/>
        </p:nvSpPr>
        <p:spPr>
          <a:xfrm>
            <a:off x="2286000" y="4238752"/>
            <a:ext cx="1920240" cy="530352"/>
          </a:xfrm>
          <a:prstGeom prst="rect">
            <a:avLst/>
          </a:prstGeom>
          <a:noFill/>
          <a:ln/>
        </p:spPr>
        <p:txBody>
          <a:bodyPr wrap="square" lIns="0" tIns="0" rIns="0" bIns="0" rtlCol="0" anchor="ctr"/>
          <a:lstStyle/>
          <a:p>
            <a:pPr marL="0" indent="0" algn="ctr">
              <a:buNone/>
            </a:pPr>
            <a:r>
              <a:rPr lang="en-US" sz="1800" b="1" dirty="0">
                <a:solidFill>
                  <a:srgbClr val="F97316"/>
                </a:solidFill>
                <a:latin typeface="Inter"/>
                <a:ea typeface="Inter"/>
                <a:cs typeface="Calibri" pitchFamily="34" charset="-120"/>
              </a:rPr>
              <a:t>—</a:t>
            </a:r>
            <a:endParaRPr lang="en-US" sz="1800" dirty="0">
              <a:latin typeface="Inter"/>
              <a:ea typeface="Inter"/>
            </a:endParaRPr>
          </a:p>
        </p:txBody>
      </p:sp>
      <p:sp>
        <p:nvSpPr>
          <p:cNvPr id="94" name="Text 49">
            <a:extLst>
              <a:ext uri="{FF2B5EF4-FFF2-40B4-BE49-F238E27FC236}">
                <a16:creationId xmlns:a16="http://schemas.microsoft.com/office/drawing/2014/main" id="{4D38ECCC-E74C-82A6-0BDB-009F69A404DE}"/>
              </a:ext>
            </a:extLst>
          </p:cNvPr>
          <p:cNvSpPr/>
          <p:nvPr/>
        </p:nvSpPr>
        <p:spPr>
          <a:xfrm>
            <a:off x="4251960" y="4238752"/>
            <a:ext cx="274320" cy="530352"/>
          </a:xfrm>
          <a:prstGeom prst="rect">
            <a:avLst/>
          </a:prstGeom>
          <a:noFill/>
          <a:ln/>
        </p:spPr>
        <p:txBody>
          <a:bodyPr wrap="square" lIns="0" tIns="0" rIns="0" bIns="0" rtlCol="0" anchor="ctr"/>
          <a:lstStyle/>
          <a:p>
            <a:pPr marL="0" indent="0" algn="ctr">
              <a:buNone/>
            </a:pPr>
            <a:r>
              <a:rPr lang="en-US" sz="1800" dirty="0">
                <a:solidFill>
                  <a:srgbClr val="64748B"/>
                </a:solidFill>
                <a:latin typeface="Inter"/>
                <a:ea typeface="Inter"/>
              </a:rPr>
              <a:t>→</a:t>
            </a:r>
            <a:endParaRPr lang="en-US" sz="1800" dirty="0">
              <a:latin typeface="Inter"/>
              <a:ea typeface="Inter"/>
            </a:endParaRPr>
          </a:p>
        </p:txBody>
      </p:sp>
      <p:sp>
        <p:nvSpPr>
          <p:cNvPr id="95" name="Shape 50">
            <a:extLst>
              <a:ext uri="{FF2B5EF4-FFF2-40B4-BE49-F238E27FC236}">
                <a16:creationId xmlns:a16="http://schemas.microsoft.com/office/drawing/2014/main" id="{64CC3BA2-C0ED-8D1E-5D02-4C72B55D2823}"/>
              </a:ext>
            </a:extLst>
          </p:cNvPr>
          <p:cNvSpPr/>
          <p:nvPr/>
        </p:nvSpPr>
        <p:spPr>
          <a:xfrm>
            <a:off x="4553712" y="4238752"/>
            <a:ext cx="1920240" cy="530352"/>
          </a:xfrm>
          <a:prstGeom prst="rect">
            <a:avLst/>
          </a:prstGeom>
          <a:solidFill>
            <a:srgbClr val="ECFDF5"/>
          </a:solidFill>
          <a:ln w="12700">
            <a:solidFill>
              <a:srgbClr val="000000"/>
            </a:solidFill>
            <a:prstDash val="solid"/>
          </a:ln>
          <a:effectLst>
            <a:outerShdw blurRad="101600" dist="25400" dir="8100000" algn="bl" rotWithShape="0">
              <a:srgbClr val="000000">
                <a:alpha val="12000"/>
              </a:srgbClr>
            </a:outerShdw>
          </a:effectLst>
        </p:spPr>
        <p:txBody>
          <a:bodyPr/>
          <a:lstStyle/>
          <a:p>
            <a:endParaRPr lang="en-IN">
              <a:latin typeface="Inter"/>
              <a:ea typeface="Inter"/>
            </a:endParaRPr>
          </a:p>
        </p:txBody>
      </p:sp>
      <p:sp>
        <p:nvSpPr>
          <p:cNvPr id="96" name="Text 51">
            <a:extLst>
              <a:ext uri="{FF2B5EF4-FFF2-40B4-BE49-F238E27FC236}">
                <a16:creationId xmlns:a16="http://schemas.microsoft.com/office/drawing/2014/main" id="{B630D153-631B-A6DC-FEBB-AD5AC46ADC72}"/>
              </a:ext>
            </a:extLst>
          </p:cNvPr>
          <p:cNvSpPr/>
          <p:nvPr/>
        </p:nvSpPr>
        <p:spPr>
          <a:xfrm>
            <a:off x="4553712" y="4238752"/>
            <a:ext cx="1920240" cy="530352"/>
          </a:xfrm>
          <a:prstGeom prst="rect">
            <a:avLst/>
          </a:prstGeom>
          <a:noFill/>
          <a:ln/>
        </p:spPr>
        <p:txBody>
          <a:bodyPr wrap="square" lIns="0" tIns="0" rIns="0" bIns="0" rtlCol="0" anchor="ctr"/>
          <a:lstStyle/>
          <a:p>
            <a:pPr marL="0" indent="0" algn="ctr">
              <a:buNone/>
            </a:pPr>
            <a:r>
              <a:rPr lang="en-US" sz="1800" b="1" dirty="0">
                <a:solidFill>
                  <a:srgbClr val="22C55E"/>
                </a:solidFill>
                <a:latin typeface="Inter"/>
                <a:ea typeface="Inter"/>
                <a:cs typeface="Calibri" pitchFamily="34" charset="-120"/>
              </a:rPr>
              <a:t>0.93</a:t>
            </a:r>
            <a:endParaRPr lang="en-US" sz="1800" dirty="0">
              <a:latin typeface="Inter"/>
              <a:ea typeface="Inter"/>
            </a:endParaRPr>
          </a:p>
        </p:txBody>
      </p:sp>
      <p:sp>
        <p:nvSpPr>
          <p:cNvPr id="97" name="Text 52">
            <a:extLst>
              <a:ext uri="{FF2B5EF4-FFF2-40B4-BE49-F238E27FC236}">
                <a16:creationId xmlns:a16="http://schemas.microsoft.com/office/drawing/2014/main" id="{EDD8FACF-21D7-C308-4133-0AC27D8FF046}"/>
              </a:ext>
            </a:extLst>
          </p:cNvPr>
          <p:cNvSpPr/>
          <p:nvPr/>
        </p:nvSpPr>
        <p:spPr>
          <a:xfrm>
            <a:off x="6565392" y="4279392"/>
            <a:ext cx="2258568" cy="530352"/>
          </a:xfrm>
          <a:prstGeom prst="rect">
            <a:avLst/>
          </a:prstGeom>
          <a:noFill/>
          <a:ln/>
        </p:spPr>
        <p:txBody>
          <a:bodyPr wrap="square" lIns="0" tIns="0" rIns="0" bIns="0" rtlCol="0" anchor="ctr"/>
          <a:lstStyle/>
          <a:p>
            <a:pPr marL="0" indent="0" algn="l">
              <a:buNone/>
            </a:pPr>
            <a:r>
              <a:rPr lang="en-US" sz="950" dirty="0">
                <a:solidFill>
                  <a:srgbClr val="64748B"/>
                </a:solidFill>
                <a:latin typeface="Inter"/>
                <a:ea typeface="Inter"/>
                <a:cs typeface="Calibri" pitchFamily="34" charset="-120"/>
              </a:rPr>
              <a:t>τ = 0.78 (best F1)</a:t>
            </a:r>
            <a:endParaRPr lang="en-US" sz="950" dirty="0">
              <a:latin typeface="Inter"/>
              <a:ea typeface="Inter"/>
            </a:endParaRPr>
          </a:p>
        </p:txBody>
      </p:sp>
      <p:sp>
        <p:nvSpPr>
          <p:cNvPr id="98" name="Text 7">
            <a:extLst>
              <a:ext uri="{FF2B5EF4-FFF2-40B4-BE49-F238E27FC236}">
                <a16:creationId xmlns:a16="http://schemas.microsoft.com/office/drawing/2014/main" id="{ECF9193A-16C7-7EBC-E8C1-46E2B284C643}"/>
              </a:ext>
            </a:extLst>
          </p:cNvPr>
          <p:cNvSpPr/>
          <p:nvPr/>
        </p:nvSpPr>
        <p:spPr>
          <a:xfrm>
            <a:off x="320040" y="628990"/>
            <a:ext cx="4024312" cy="300038"/>
          </a:xfrm>
          <a:prstGeom prst="rect">
            <a:avLst/>
          </a:prstGeom>
          <a:ln/>
        </p:spPr>
        <p:txBody>
          <a:bodyPr wrap="square" lIns="0" tIns="0" rIns="0" bIns="0" rtlCol="0" anchor="t"/>
          <a:lstStyle/>
          <a:p>
            <a:pPr>
              <a:lnSpc>
                <a:spcPts val="2376"/>
              </a:lnSpc>
            </a:pPr>
            <a:r>
              <a:rPr lang="en-US" sz="2100" b="1" dirty="0">
                <a:solidFill>
                  <a:srgbClr val="1E3A5F"/>
                </a:solidFill>
                <a:latin typeface="Inter" pitchFamily="34" charset="0"/>
                <a:ea typeface="Inter" pitchFamily="34" charset="-122"/>
                <a:cs typeface="Inter" pitchFamily="34" charset="-120"/>
              </a:rPr>
              <a:t>Impact Analysis</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Shape 1"/>
          <p:cNvSpPr/>
          <p:nvPr/>
        </p:nvSpPr>
        <p:spPr>
          <a:xfrm>
            <a:off x="366713" y="205643"/>
            <a:ext cx="8410575" cy="290513"/>
          </a:xfrm>
          <a:prstGeom prst="rect">
            <a:avLst/>
          </a:prstGeom>
          <a:ln/>
        </p:spPr>
        <p:txBody>
          <a:bodyPr/>
          <a:lstStyle/>
          <a:p>
            <a:endParaRPr lang="en-IN">
              <a:latin typeface="Inter"/>
              <a:ea typeface="Inter"/>
            </a:endParaRPr>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latin typeface="Inter"/>
              <a:ea typeface="Inter"/>
            </a:endParaRPr>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a:ea typeface="Inter"/>
                <a:cs typeface="Inter" pitchFamily="34" charset="-120"/>
              </a:rPr>
              <a:t>FSE 570 Capstone</a:t>
            </a:r>
            <a:endParaRPr lang="en-US" sz="800" dirty="0">
              <a:latin typeface="Inter"/>
              <a:ea typeface="Inter"/>
            </a:endParaRPr>
          </a:p>
        </p:txBody>
      </p:sp>
      <p:sp>
        <p:nvSpPr>
          <p:cNvPr id="6" name="Text 4"/>
          <p:cNvSpPr/>
          <p:nvPr/>
        </p:nvSpPr>
        <p:spPr>
          <a:xfrm>
            <a:off x="7178353" y="228042"/>
            <a:ext cx="823913"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a:ea typeface="Inter"/>
                <a:cs typeface="Inter" pitchFamily="34" charset="-120"/>
              </a:rPr>
              <a:t>IMPACT ANALYSIS</a:t>
            </a:r>
            <a:endParaRPr lang="en-US" sz="700" dirty="0">
              <a:latin typeface="Inter"/>
              <a:ea typeface="Inter"/>
            </a:endParaRPr>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a:ea typeface="Inter"/>
                <a:cs typeface="Inter" pitchFamily="34" charset="-120"/>
              </a:rPr>
              <a:t>SPRING 2026</a:t>
            </a:r>
            <a:endParaRPr lang="en-US" sz="700" dirty="0">
              <a:latin typeface="Inter"/>
              <a:ea typeface="Inter"/>
            </a:endParaRPr>
          </a:p>
        </p:txBody>
      </p:sp>
      <p:sp>
        <p:nvSpPr>
          <p:cNvPr id="9" name="Text 7"/>
          <p:cNvSpPr/>
          <p:nvPr/>
        </p:nvSpPr>
        <p:spPr>
          <a:xfrm>
            <a:off x="364777" y="619181"/>
            <a:ext cx="4024312" cy="300038"/>
          </a:xfrm>
          <a:prstGeom prst="rect">
            <a:avLst/>
          </a:prstGeom>
          <a:ln/>
        </p:spPr>
        <p:txBody>
          <a:bodyPr wrap="square" lIns="0" tIns="0" rIns="0" bIns="0" rtlCol="0" anchor="t"/>
          <a:lstStyle/>
          <a:p>
            <a:pPr marL="0" indent="0" algn="l">
              <a:lnSpc>
                <a:spcPts val="2376"/>
              </a:lnSpc>
              <a:buNone/>
            </a:pPr>
            <a:r>
              <a:rPr lang="en-US" sz="2100" b="1" dirty="0">
                <a:solidFill>
                  <a:srgbClr val="1E3A5F"/>
                </a:solidFill>
                <a:latin typeface="Inter"/>
                <a:ea typeface="Inter"/>
                <a:cs typeface="Inter" pitchFamily="34" charset="-120"/>
              </a:rPr>
              <a:t>Before vs. After</a:t>
            </a:r>
            <a:endParaRPr lang="en-US" sz="2100" dirty="0">
              <a:latin typeface="Inter"/>
              <a:ea typeface="Inter"/>
            </a:endParaRPr>
          </a:p>
        </p:txBody>
      </p:sp>
      <p:sp>
        <p:nvSpPr>
          <p:cNvPr id="10" name="Shape 8"/>
          <p:cNvSpPr/>
          <p:nvPr/>
        </p:nvSpPr>
        <p:spPr>
          <a:xfrm>
            <a:off x="366713" y="1476227"/>
            <a:ext cx="4024312" cy="495300"/>
          </a:xfrm>
          <a:prstGeom prst="roundRect">
            <a:avLst>
              <a:gd name="adj" fmla="val 27266"/>
            </a:avLst>
          </a:prstGeom>
          <a:solidFill>
            <a:srgbClr val="FEF2F2"/>
          </a:solidFill>
          <a:ln w="4763">
            <a:solidFill>
              <a:srgbClr val="FECACA"/>
            </a:solidFill>
            <a:prstDash val="solid"/>
          </a:ln>
        </p:spPr>
        <p:txBody>
          <a:bodyPr/>
          <a:lstStyle/>
          <a:p>
            <a:endParaRPr lang="en-IN" sz="2400">
              <a:latin typeface="Inter"/>
              <a:ea typeface="Inter"/>
            </a:endParaRPr>
          </a:p>
        </p:txBody>
      </p:sp>
      <p:sp>
        <p:nvSpPr>
          <p:cNvPr id="11" name="Text 9"/>
          <p:cNvSpPr/>
          <p:nvPr/>
        </p:nvSpPr>
        <p:spPr>
          <a:xfrm>
            <a:off x="553939" y="1582267"/>
            <a:ext cx="76200" cy="166688"/>
          </a:xfrm>
          <a:prstGeom prst="rect">
            <a:avLst/>
          </a:prstGeom>
          <a:ln/>
        </p:spPr>
        <p:txBody>
          <a:bodyPr wrap="square" lIns="0" tIns="0" rIns="0" bIns="0" rtlCol="0" anchor="t"/>
          <a:lstStyle/>
          <a:p>
            <a:pPr marL="0" indent="0" algn="l">
              <a:lnSpc>
                <a:spcPts val="1296"/>
              </a:lnSpc>
              <a:buNone/>
            </a:pPr>
            <a:r>
              <a:rPr lang="en-US" sz="1000" b="1" dirty="0">
                <a:solidFill>
                  <a:srgbClr val="DC2626"/>
                </a:solidFill>
                <a:latin typeface="Inter"/>
                <a:ea typeface="Inter"/>
                <a:cs typeface="Inter" pitchFamily="34" charset="-120"/>
              </a:rPr>
              <a:t>×</a:t>
            </a:r>
            <a:endParaRPr lang="en-US" sz="1000" dirty="0">
              <a:latin typeface="Inter"/>
              <a:ea typeface="Inter"/>
            </a:endParaRPr>
          </a:p>
        </p:txBody>
      </p:sp>
      <p:sp>
        <p:nvSpPr>
          <p:cNvPr id="12" name="Text 10"/>
          <p:cNvSpPr/>
          <p:nvPr/>
        </p:nvSpPr>
        <p:spPr>
          <a:xfrm>
            <a:off x="765945" y="1582565"/>
            <a:ext cx="2138363" cy="152400"/>
          </a:xfrm>
          <a:prstGeom prst="rect">
            <a:avLst/>
          </a:prstGeom>
          <a:ln/>
        </p:spPr>
        <p:txBody>
          <a:bodyPr wrap="square" lIns="0" tIns="0" rIns="0" bIns="0" rtlCol="0" anchor="t"/>
          <a:lstStyle/>
          <a:p>
            <a:pPr marL="0" indent="0" algn="l">
              <a:lnSpc>
                <a:spcPts val="1188"/>
              </a:lnSpc>
              <a:buNone/>
            </a:pPr>
            <a:r>
              <a:rPr lang="en-US" sz="900" b="1" dirty="0">
                <a:solidFill>
                  <a:srgbClr val="1E3A5F"/>
                </a:solidFill>
                <a:latin typeface="Inter"/>
                <a:ea typeface="Inter"/>
                <a:cs typeface="Inter" pitchFamily="34" charset="-120"/>
              </a:rPr>
              <a:t>Manual Search</a:t>
            </a:r>
            <a:endParaRPr lang="en-US" sz="900" dirty="0">
              <a:latin typeface="Inter"/>
              <a:ea typeface="Inter"/>
            </a:endParaRPr>
          </a:p>
        </p:txBody>
      </p:sp>
      <p:sp>
        <p:nvSpPr>
          <p:cNvPr id="13" name="Text 11"/>
          <p:cNvSpPr/>
          <p:nvPr/>
        </p:nvSpPr>
        <p:spPr>
          <a:xfrm>
            <a:off x="765945" y="1735038"/>
            <a:ext cx="3027122" cy="152399"/>
          </a:xfrm>
          <a:prstGeom prst="rect">
            <a:avLst/>
          </a:prstGeom>
          <a:ln/>
        </p:spPr>
        <p:txBody>
          <a:bodyPr wrap="square" lIns="0" tIns="0" rIns="0" bIns="0" rtlCol="0" anchor="t"/>
          <a:lstStyle/>
          <a:p>
            <a:pPr marL="0" indent="0" algn="l">
              <a:lnSpc>
                <a:spcPts val="1026"/>
              </a:lnSpc>
              <a:buNone/>
            </a:pPr>
            <a:r>
              <a:rPr lang="en-US" sz="800" dirty="0">
                <a:solidFill>
                  <a:srgbClr val="64748B"/>
                </a:solidFill>
                <a:latin typeface="Inter"/>
                <a:ea typeface="Inter"/>
                <a:cs typeface="Inter" pitchFamily="34" charset="-120"/>
              </a:rPr>
              <a:t>Engineers manually search through historical tickets</a:t>
            </a:r>
            <a:endParaRPr lang="en-US" sz="800" dirty="0">
              <a:latin typeface="Inter"/>
              <a:ea typeface="Inter"/>
            </a:endParaRPr>
          </a:p>
        </p:txBody>
      </p:sp>
      <p:sp>
        <p:nvSpPr>
          <p:cNvPr id="14" name="Shape 12"/>
          <p:cNvSpPr/>
          <p:nvPr/>
        </p:nvSpPr>
        <p:spPr>
          <a:xfrm>
            <a:off x="366713" y="2034258"/>
            <a:ext cx="4024312" cy="495300"/>
          </a:xfrm>
          <a:prstGeom prst="roundRect">
            <a:avLst>
              <a:gd name="adj" fmla="val 27266"/>
            </a:avLst>
          </a:prstGeom>
          <a:solidFill>
            <a:srgbClr val="FEF2F2"/>
          </a:solidFill>
          <a:ln w="4763">
            <a:solidFill>
              <a:srgbClr val="FECACA"/>
            </a:solidFill>
            <a:prstDash val="solid"/>
          </a:ln>
        </p:spPr>
        <p:txBody>
          <a:bodyPr/>
          <a:lstStyle/>
          <a:p>
            <a:endParaRPr lang="en-IN" sz="2400">
              <a:latin typeface="Inter"/>
              <a:ea typeface="Inter"/>
            </a:endParaRPr>
          </a:p>
        </p:txBody>
      </p:sp>
      <p:sp>
        <p:nvSpPr>
          <p:cNvPr id="15" name="Text 13"/>
          <p:cNvSpPr/>
          <p:nvPr/>
        </p:nvSpPr>
        <p:spPr>
          <a:xfrm>
            <a:off x="553939" y="2140298"/>
            <a:ext cx="76200" cy="166688"/>
          </a:xfrm>
          <a:prstGeom prst="rect">
            <a:avLst/>
          </a:prstGeom>
          <a:ln/>
        </p:spPr>
        <p:txBody>
          <a:bodyPr wrap="square" lIns="0" tIns="0" rIns="0" bIns="0" rtlCol="0" anchor="t"/>
          <a:lstStyle/>
          <a:p>
            <a:pPr marL="0" indent="0" algn="l">
              <a:lnSpc>
                <a:spcPts val="1296"/>
              </a:lnSpc>
              <a:buNone/>
            </a:pPr>
            <a:r>
              <a:rPr lang="en-US" sz="1000" b="1" dirty="0">
                <a:solidFill>
                  <a:srgbClr val="DC2626"/>
                </a:solidFill>
                <a:latin typeface="Inter"/>
                <a:ea typeface="Inter"/>
                <a:cs typeface="Inter" pitchFamily="34" charset="-120"/>
              </a:rPr>
              <a:t>×</a:t>
            </a:r>
            <a:endParaRPr lang="en-US" sz="1000" dirty="0">
              <a:latin typeface="Inter"/>
              <a:ea typeface="Inter"/>
            </a:endParaRPr>
          </a:p>
        </p:txBody>
      </p:sp>
      <p:sp>
        <p:nvSpPr>
          <p:cNvPr id="16" name="Text 14"/>
          <p:cNvSpPr/>
          <p:nvPr/>
        </p:nvSpPr>
        <p:spPr>
          <a:xfrm>
            <a:off x="767508" y="2140596"/>
            <a:ext cx="1924050" cy="152400"/>
          </a:xfrm>
          <a:prstGeom prst="rect">
            <a:avLst/>
          </a:prstGeom>
          <a:ln/>
        </p:spPr>
        <p:txBody>
          <a:bodyPr wrap="square" lIns="0" tIns="0" rIns="0" bIns="0" rtlCol="0" anchor="t"/>
          <a:lstStyle/>
          <a:p>
            <a:pPr marL="0" indent="0" algn="l">
              <a:lnSpc>
                <a:spcPts val="1188"/>
              </a:lnSpc>
              <a:buNone/>
            </a:pPr>
            <a:r>
              <a:rPr lang="en-US" sz="900" b="1" dirty="0">
                <a:solidFill>
                  <a:srgbClr val="1E3A5F"/>
                </a:solidFill>
                <a:latin typeface="Inter"/>
                <a:ea typeface="Inter"/>
                <a:cs typeface="Inter" pitchFamily="34" charset="-120"/>
              </a:rPr>
              <a:t>High Duplication (~50%)</a:t>
            </a:r>
            <a:endParaRPr lang="en-US" sz="900" dirty="0">
              <a:latin typeface="Inter"/>
              <a:ea typeface="Inter"/>
            </a:endParaRPr>
          </a:p>
        </p:txBody>
      </p:sp>
      <p:sp>
        <p:nvSpPr>
          <p:cNvPr id="17" name="Text 15"/>
          <p:cNvSpPr/>
          <p:nvPr/>
        </p:nvSpPr>
        <p:spPr>
          <a:xfrm>
            <a:off x="767508" y="2293070"/>
            <a:ext cx="2296938" cy="106264"/>
          </a:xfrm>
          <a:prstGeom prst="rect">
            <a:avLst/>
          </a:prstGeom>
          <a:ln/>
        </p:spPr>
        <p:txBody>
          <a:bodyPr wrap="square" lIns="0" tIns="0" rIns="0" bIns="0" rtlCol="0" anchor="t"/>
          <a:lstStyle/>
          <a:p>
            <a:pPr marL="0" indent="0" algn="l">
              <a:lnSpc>
                <a:spcPts val="1026"/>
              </a:lnSpc>
              <a:buNone/>
            </a:pPr>
            <a:r>
              <a:rPr lang="en-US" sz="800" dirty="0">
                <a:solidFill>
                  <a:srgbClr val="64748B"/>
                </a:solidFill>
                <a:latin typeface="Inter"/>
                <a:ea typeface="Inter"/>
                <a:cs typeface="Inter" pitchFamily="34" charset="-120"/>
              </a:rPr>
              <a:t>Repeat issues handled from scratch every time</a:t>
            </a:r>
            <a:endParaRPr lang="en-US" sz="800" dirty="0">
              <a:latin typeface="Inter"/>
              <a:ea typeface="Inter"/>
            </a:endParaRPr>
          </a:p>
        </p:txBody>
      </p:sp>
      <p:sp>
        <p:nvSpPr>
          <p:cNvPr id="18" name="Shape 16"/>
          <p:cNvSpPr/>
          <p:nvPr/>
        </p:nvSpPr>
        <p:spPr>
          <a:xfrm>
            <a:off x="366713" y="2592289"/>
            <a:ext cx="4024312" cy="495300"/>
          </a:xfrm>
          <a:prstGeom prst="roundRect">
            <a:avLst>
              <a:gd name="adj" fmla="val 27266"/>
            </a:avLst>
          </a:prstGeom>
          <a:solidFill>
            <a:srgbClr val="FEF2F2"/>
          </a:solidFill>
          <a:ln w="4763">
            <a:solidFill>
              <a:srgbClr val="FECACA"/>
            </a:solidFill>
            <a:prstDash val="solid"/>
          </a:ln>
        </p:spPr>
        <p:txBody>
          <a:bodyPr/>
          <a:lstStyle/>
          <a:p>
            <a:endParaRPr lang="en-IN" sz="2400">
              <a:latin typeface="Inter"/>
              <a:ea typeface="Inter"/>
            </a:endParaRPr>
          </a:p>
        </p:txBody>
      </p:sp>
      <p:sp>
        <p:nvSpPr>
          <p:cNvPr id="19" name="Text 17"/>
          <p:cNvSpPr/>
          <p:nvPr/>
        </p:nvSpPr>
        <p:spPr>
          <a:xfrm>
            <a:off x="553939" y="2698329"/>
            <a:ext cx="76200" cy="166688"/>
          </a:xfrm>
          <a:prstGeom prst="rect">
            <a:avLst/>
          </a:prstGeom>
          <a:ln/>
        </p:spPr>
        <p:txBody>
          <a:bodyPr wrap="square" lIns="0" tIns="0" rIns="0" bIns="0" rtlCol="0" anchor="t"/>
          <a:lstStyle/>
          <a:p>
            <a:pPr marL="0" indent="0" algn="l">
              <a:lnSpc>
                <a:spcPts val="1296"/>
              </a:lnSpc>
              <a:buNone/>
            </a:pPr>
            <a:r>
              <a:rPr lang="en-US" sz="1000" b="1" dirty="0">
                <a:solidFill>
                  <a:srgbClr val="DC2626"/>
                </a:solidFill>
                <a:latin typeface="Inter"/>
                <a:ea typeface="Inter"/>
                <a:cs typeface="Inter" pitchFamily="34" charset="-120"/>
              </a:rPr>
              <a:t>×</a:t>
            </a:r>
            <a:endParaRPr lang="en-US" sz="1000" dirty="0">
              <a:latin typeface="Inter"/>
              <a:ea typeface="Inter"/>
            </a:endParaRPr>
          </a:p>
        </p:txBody>
      </p:sp>
      <p:sp>
        <p:nvSpPr>
          <p:cNvPr id="20" name="Text 18"/>
          <p:cNvSpPr/>
          <p:nvPr/>
        </p:nvSpPr>
        <p:spPr>
          <a:xfrm>
            <a:off x="767024" y="2698627"/>
            <a:ext cx="1771650" cy="152400"/>
          </a:xfrm>
          <a:prstGeom prst="rect">
            <a:avLst/>
          </a:prstGeom>
          <a:ln/>
        </p:spPr>
        <p:txBody>
          <a:bodyPr wrap="square" lIns="0" tIns="0" rIns="0" bIns="0" rtlCol="0" anchor="t"/>
          <a:lstStyle/>
          <a:p>
            <a:pPr marL="0" indent="0" algn="l">
              <a:lnSpc>
                <a:spcPts val="1188"/>
              </a:lnSpc>
              <a:buNone/>
            </a:pPr>
            <a:r>
              <a:rPr lang="en-US" sz="900" b="1" dirty="0">
                <a:solidFill>
                  <a:srgbClr val="1E3A5F"/>
                </a:solidFill>
                <a:latin typeface="Inter"/>
                <a:ea typeface="Inter"/>
                <a:cs typeface="Inter" pitchFamily="34" charset="-120"/>
              </a:rPr>
              <a:t>Incorrect AI Responses</a:t>
            </a:r>
            <a:endParaRPr lang="en-US" sz="900" dirty="0">
              <a:latin typeface="Inter"/>
              <a:ea typeface="Inter"/>
            </a:endParaRPr>
          </a:p>
        </p:txBody>
      </p:sp>
      <p:sp>
        <p:nvSpPr>
          <p:cNvPr id="21" name="Text 19"/>
          <p:cNvSpPr/>
          <p:nvPr/>
        </p:nvSpPr>
        <p:spPr>
          <a:xfrm>
            <a:off x="767024" y="2851100"/>
            <a:ext cx="2585776" cy="169255"/>
          </a:xfrm>
          <a:prstGeom prst="rect">
            <a:avLst/>
          </a:prstGeom>
          <a:ln/>
        </p:spPr>
        <p:txBody>
          <a:bodyPr wrap="square" lIns="0" tIns="0" rIns="0" bIns="0" rtlCol="0" anchor="t"/>
          <a:lstStyle/>
          <a:p>
            <a:pPr marL="0" indent="0" algn="l">
              <a:lnSpc>
                <a:spcPts val="1026"/>
              </a:lnSpc>
              <a:buNone/>
            </a:pPr>
            <a:r>
              <a:rPr lang="en-US" sz="800" dirty="0">
                <a:solidFill>
                  <a:srgbClr val="64748B"/>
                </a:solidFill>
                <a:latin typeface="Inter"/>
                <a:ea typeface="Inter"/>
                <a:cs typeface="Inter" pitchFamily="34" charset="-120"/>
              </a:rPr>
              <a:t>Generic LLMs hallucinate ~50% of the time</a:t>
            </a:r>
            <a:endParaRPr lang="en-US" sz="800" dirty="0">
              <a:latin typeface="Inter"/>
              <a:ea typeface="Inter"/>
            </a:endParaRPr>
          </a:p>
        </p:txBody>
      </p:sp>
      <p:sp>
        <p:nvSpPr>
          <p:cNvPr id="22" name="Shape 20"/>
          <p:cNvSpPr/>
          <p:nvPr/>
        </p:nvSpPr>
        <p:spPr>
          <a:xfrm>
            <a:off x="366713" y="3150320"/>
            <a:ext cx="4024312" cy="495300"/>
          </a:xfrm>
          <a:prstGeom prst="roundRect">
            <a:avLst>
              <a:gd name="adj" fmla="val 27266"/>
            </a:avLst>
          </a:prstGeom>
          <a:solidFill>
            <a:srgbClr val="FEF2F2"/>
          </a:solidFill>
          <a:ln w="4763">
            <a:solidFill>
              <a:srgbClr val="FECACA"/>
            </a:solidFill>
            <a:prstDash val="solid"/>
          </a:ln>
        </p:spPr>
        <p:txBody>
          <a:bodyPr/>
          <a:lstStyle/>
          <a:p>
            <a:endParaRPr lang="en-IN" sz="2400">
              <a:latin typeface="Inter"/>
              <a:ea typeface="Inter"/>
            </a:endParaRPr>
          </a:p>
        </p:txBody>
      </p:sp>
      <p:sp>
        <p:nvSpPr>
          <p:cNvPr id="23" name="Text 21"/>
          <p:cNvSpPr/>
          <p:nvPr/>
        </p:nvSpPr>
        <p:spPr>
          <a:xfrm>
            <a:off x="553939" y="3256360"/>
            <a:ext cx="76200" cy="166688"/>
          </a:xfrm>
          <a:prstGeom prst="rect">
            <a:avLst/>
          </a:prstGeom>
          <a:ln/>
        </p:spPr>
        <p:txBody>
          <a:bodyPr wrap="square" lIns="0" tIns="0" rIns="0" bIns="0" rtlCol="0" anchor="t"/>
          <a:lstStyle/>
          <a:p>
            <a:pPr marL="0" indent="0" algn="l">
              <a:lnSpc>
                <a:spcPts val="1296"/>
              </a:lnSpc>
              <a:buNone/>
            </a:pPr>
            <a:r>
              <a:rPr lang="en-US" sz="1000" b="1" dirty="0">
                <a:solidFill>
                  <a:srgbClr val="DC2626"/>
                </a:solidFill>
                <a:latin typeface="Inter"/>
                <a:ea typeface="Inter"/>
                <a:cs typeface="Inter" pitchFamily="34" charset="-120"/>
              </a:rPr>
              <a:t>×</a:t>
            </a:r>
            <a:endParaRPr lang="en-US" sz="1000" dirty="0">
              <a:latin typeface="Inter"/>
              <a:ea typeface="Inter"/>
            </a:endParaRPr>
          </a:p>
        </p:txBody>
      </p:sp>
      <p:sp>
        <p:nvSpPr>
          <p:cNvPr id="24" name="Text 22"/>
          <p:cNvSpPr/>
          <p:nvPr/>
        </p:nvSpPr>
        <p:spPr>
          <a:xfrm>
            <a:off x="767396" y="3256658"/>
            <a:ext cx="2014538" cy="152400"/>
          </a:xfrm>
          <a:prstGeom prst="rect">
            <a:avLst/>
          </a:prstGeom>
          <a:ln/>
        </p:spPr>
        <p:txBody>
          <a:bodyPr wrap="square" lIns="0" tIns="0" rIns="0" bIns="0" rtlCol="0" anchor="t"/>
          <a:lstStyle/>
          <a:p>
            <a:pPr marL="0" indent="0" algn="l">
              <a:lnSpc>
                <a:spcPts val="1188"/>
              </a:lnSpc>
              <a:buNone/>
            </a:pPr>
            <a:r>
              <a:rPr lang="en-US" sz="900" b="1" dirty="0">
                <a:solidFill>
                  <a:srgbClr val="1E3A5F"/>
                </a:solidFill>
                <a:latin typeface="Inter"/>
                <a:ea typeface="Inter"/>
                <a:cs typeface="Inter" pitchFamily="34" charset="-120"/>
              </a:rPr>
              <a:t>Slow Resolution</a:t>
            </a:r>
            <a:endParaRPr lang="en-US" sz="900" dirty="0">
              <a:latin typeface="Inter"/>
              <a:ea typeface="Inter"/>
            </a:endParaRPr>
          </a:p>
        </p:txBody>
      </p:sp>
      <p:sp>
        <p:nvSpPr>
          <p:cNvPr id="25" name="Text 23"/>
          <p:cNvSpPr/>
          <p:nvPr/>
        </p:nvSpPr>
        <p:spPr>
          <a:xfrm>
            <a:off x="767395" y="3409131"/>
            <a:ext cx="2842791" cy="166687"/>
          </a:xfrm>
          <a:prstGeom prst="rect">
            <a:avLst/>
          </a:prstGeom>
          <a:ln/>
        </p:spPr>
        <p:txBody>
          <a:bodyPr wrap="square" lIns="0" tIns="0" rIns="0" bIns="0" rtlCol="0" anchor="t"/>
          <a:lstStyle/>
          <a:p>
            <a:pPr marL="0" indent="0" algn="l">
              <a:lnSpc>
                <a:spcPts val="1026"/>
              </a:lnSpc>
              <a:buNone/>
            </a:pPr>
            <a:r>
              <a:rPr lang="en-US" sz="800" dirty="0">
                <a:solidFill>
                  <a:srgbClr val="64748B"/>
                </a:solidFill>
                <a:latin typeface="Inter"/>
                <a:ea typeface="Inter"/>
                <a:cs typeface="Inter" pitchFamily="34" charset="-120"/>
              </a:rPr>
              <a:t>SLA breaches, wrong routing, delayed responses</a:t>
            </a:r>
            <a:endParaRPr lang="en-US" sz="800" dirty="0">
              <a:latin typeface="Inter"/>
              <a:ea typeface="Inter"/>
            </a:endParaRPr>
          </a:p>
        </p:txBody>
      </p:sp>
      <p:sp>
        <p:nvSpPr>
          <p:cNvPr id="26" name="Text 24"/>
          <p:cNvSpPr/>
          <p:nvPr/>
        </p:nvSpPr>
        <p:spPr>
          <a:xfrm>
            <a:off x="4752827" y="1143224"/>
            <a:ext cx="4024312" cy="152400"/>
          </a:xfrm>
          <a:prstGeom prst="rect">
            <a:avLst/>
          </a:prstGeom>
          <a:ln/>
        </p:spPr>
        <p:txBody>
          <a:bodyPr wrap="square" lIns="0" tIns="0" rIns="0" bIns="0" rtlCol="0" anchor="t"/>
          <a:lstStyle/>
          <a:p>
            <a:pPr marL="0" indent="0" algn="l">
              <a:lnSpc>
                <a:spcPts val="1188"/>
              </a:lnSpc>
              <a:spcAft>
                <a:spcPts val="324"/>
              </a:spcAft>
              <a:buNone/>
            </a:pPr>
            <a:r>
              <a:rPr lang="en-US" sz="900" b="1" dirty="0">
                <a:solidFill>
                  <a:srgbClr val="0D9488"/>
                </a:solidFill>
                <a:latin typeface="Inter"/>
                <a:ea typeface="Inter"/>
                <a:cs typeface="Inter" pitchFamily="34" charset="-120"/>
              </a:rPr>
              <a:t>ITS SYSTEM</a:t>
            </a:r>
            <a:endParaRPr lang="en-US" sz="900" dirty="0">
              <a:latin typeface="Inter"/>
              <a:ea typeface="Inter"/>
            </a:endParaRPr>
          </a:p>
        </p:txBody>
      </p:sp>
      <p:sp>
        <p:nvSpPr>
          <p:cNvPr id="27" name="Shape 25"/>
          <p:cNvSpPr/>
          <p:nvPr/>
        </p:nvSpPr>
        <p:spPr>
          <a:xfrm>
            <a:off x="4752827" y="1465065"/>
            <a:ext cx="4024312" cy="495300"/>
          </a:xfrm>
          <a:prstGeom prst="roundRect">
            <a:avLst>
              <a:gd name="adj" fmla="val 27266"/>
            </a:avLst>
          </a:prstGeom>
          <a:solidFill>
            <a:srgbClr val="F0FDF4"/>
          </a:solidFill>
          <a:ln w="4763">
            <a:solidFill>
              <a:srgbClr val="BBF7D0"/>
            </a:solidFill>
            <a:prstDash val="solid"/>
          </a:ln>
        </p:spPr>
        <p:txBody>
          <a:bodyPr/>
          <a:lstStyle/>
          <a:p>
            <a:endParaRPr lang="en-IN" sz="2400">
              <a:latin typeface="Inter"/>
              <a:ea typeface="Inter"/>
            </a:endParaRPr>
          </a:p>
        </p:txBody>
      </p:sp>
      <p:sp>
        <p:nvSpPr>
          <p:cNvPr id="28" name="Text 26"/>
          <p:cNvSpPr/>
          <p:nvPr/>
        </p:nvSpPr>
        <p:spPr>
          <a:xfrm>
            <a:off x="4941615" y="1571105"/>
            <a:ext cx="90488" cy="166688"/>
          </a:xfrm>
          <a:prstGeom prst="rect">
            <a:avLst/>
          </a:prstGeom>
          <a:ln/>
        </p:spPr>
        <p:txBody>
          <a:bodyPr wrap="square" lIns="0" tIns="0" rIns="0" bIns="0" rtlCol="0" anchor="t"/>
          <a:lstStyle/>
          <a:p>
            <a:pPr marL="0" indent="0" algn="l">
              <a:lnSpc>
                <a:spcPts val="1296"/>
              </a:lnSpc>
              <a:buNone/>
            </a:pPr>
            <a:r>
              <a:rPr lang="en-US" sz="1000" b="1" dirty="0">
                <a:solidFill>
                  <a:srgbClr val="0D9488"/>
                </a:solidFill>
                <a:latin typeface="Inter"/>
                <a:ea typeface="Inter"/>
                <a:cs typeface="Inter" pitchFamily="34" charset="-120"/>
              </a:rPr>
              <a:t>✓</a:t>
            </a:r>
            <a:endParaRPr lang="en-US" sz="1000" dirty="0">
              <a:latin typeface="Inter"/>
              <a:ea typeface="Inter"/>
            </a:endParaRPr>
          </a:p>
        </p:txBody>
      </p:sp>
      <p:sp>
        <p:nvSpPr>
          <p:cNvPr id="29" name="Text 27"/>
          <p:cNvSpPr/>
          <p:nvPr/>
        </p:nvSpPr>
        <p:spPr>
          <a:xfrm>
            <a:off x="5170178" y="1571402"/>
            <a:ext cx="1809750" cy="152400"/>
          </a:xfrm>
          <a:prstGeom prst="rect">
            <a:avLst/>
          </a:prstGeom>
          <a:ln/>
        </p:spPr>
        <p:txBody>
          <a:bodyPr wrap="square" lIns="0" tIns="0" rIns="0" bIns="0" rtlCol="0" anchor="t"/>
          <a:lstStyle/>
          <a:p>
            <a:pPr marL="0" indent="0" algn="l">
              <a:lnSpc>
                <a:spcPts val="1188"/>
              </a:lnSpc>
              <a:buNone/>
            </a:pPr>
            <a:r>
              <a:rPr lang="en-US" sz="900" b="1" dirty="0">
                <a:solidFill>
                  <a:srgbClr val="1E3A5F"/>
                </a:solidFill>
                <a:latin typeface="Inter"/>
                <a:ea typeface="Inter"/>
                <a:cs typeface="Inter" pitchFamily="34" charset="-120"/>
              </a:rPr>
              <a:t>Automated Retrieval</a:t>
            </a:r>
            <a:endParaRPr lang="en-US" sz="900" dirty="0">
              <a:latin typeface="Inter"/>
              <a:ea typeface="Inter"/>
            </a:endParaRPr>
          </a:p>
        </p:txBody>
      </p:sp>
      <p:sp>
        <p:nvSpPr>
          <p:cNvPr id="30" name="Text 28"/>
          <p:cNvSpPr/>
          <p:nvPr/>
        </p:nvSpPr>
        <p:spPr>
          <a:xfrm>
            <a:off x="5170177" y="1723876"/>
            <a:ext cx="2300809" cy="169255"/>
          </a:xfrm>
          <a:prstGeom prst="rect">
            <a:avLst/>
          </a:prstGeom>
          <a:ln/>
        </p:spPr>
        <p:txBody>
          <a:bodyPr wrap="square" lIns="0" tIns="0" rIns="0" bIns="0" rtlCol="0" anchor="t"/>
          <a:lstStyle/>
          <a:p>
            <a:pPr marL="0" indent="0" algn="l">
              <a:lnSpc>
                <a:spcPts val="1026"/>
              </a:lnSpc>
              <a:buNone/>
            </a:pPr>
            <a:r>
              <a:rPr lang="en-US" sz="800" dirty="0">
                <a:solidFill>
                  <a:srgbClr val="64748B"/>
                </a:solidFill>
                <a:latin typeface="Inter"/>
                <a:ea typeface="Inter"/>
                <a:cs typeface="Inter" pitchFamily="34" charset="-120"/>
              </a:rPr>
              <a:t>Semantic + keyword search in under 600ms</a:t>
            </a:r>
            <a:endParaRPr lang="en-US" sz="800" dirty="0">
              <a:latin typeface="Inter"/>
              <a:ea typeface="Inter"/>
            </a:endParaRPr>
          </a:p>
        </p:txBody>
      </p:sp>
      <p:sp>
        <p:nvSpPr>
          <p:cNvPr id="31" name="Shape 29"/>
          <p:cNvSpPr/>
          <p:nvPr/>
        </p:nvSpPr>
        <p:spPr>
          <a:xfrm>
            <a:off x="4752827" y="2023096"/>
            <a:ext cx="4024312" cy="495300"/>
          </a:xfrm>
          <a:prstGeom prst="roundRect">
            <a:avLst>
              <a:gd name="adj" fmla="val 27266"/>
            </a:avLst>
          </a:prstGeom>
          <a:solidFill>
            <a:srgbClr val="F0FDF4"/>
          </a:solidFill>
          <a:ln w="4763">
            <a:solidFill>
              <a:srgbClr val="BBF7D0"/>
            </a:solidFill>
            <a:prstDash val="solid"/>
          </a:ln>
        </p:spPr>
        <p:txBody>
          <a:bodyPr/>
          <a:lstStyle/>
          <a:p>
            <a:endParaRPr lang="en-IN" sz="2400">
              <a:latin typeface="Inter"/>
              <a:ea typeface="Inter"/>
            </a:endParaRPr>
          </a:p>
        </p:txBody>
      </p:sp>
      <p:sp>
        <p:nvSpPr>
          <p:cNvPr id="32" name="Text 30"/>
          <p:cNvSpPr/>
          <p:nvPr/>
        </p:nvSpPr>
        <p:spPr>
          <a:xfrm>
            <a:off x="4941615" y="2129136"/>
            <a:ext cx="90488" cy="166688"/>
          </a:xfrm>
          <a:prstGeom prst="rect">
            <a:avLst/>
          </a:prstGeom>
          <a:ln/>
        </p:spPr>
        <p:txBody>
          <a:bodyPr wrap="square" lIns="0" tIns="0" rIns="0" bIns="0" rtlCol="0" anchor="t"/>
          <a:lstStyle/>
          <a:p>
            <a:pPr marL="0" indent="0" algn="l">
              <a:lnSpc>
                <a:spcPts val="1296"/>
              </a:lnSpc>
              <a:buNone/>
            </a:pPr>
            <a:r>
              <a:rPr lang="en-US" sz="1000" b="1" dirty="0">
                <a:solidFill>
                  <a:srgbClr val="0D9488"/>
                </a:solidFill>
                <a:latin typeface="Inter"/>
                <a:ea typeface="Inter"/>
                <a:cs typeface="Inter" pitchFamily="34" charset="-120"/>
              </a:rPr>
              <a:t>✓</a:t>
            </a:r>
            <a:endParaRPr lang="en-US" sz="1000" dirty="0">
              <a:latin typeface="Inter"/>
              <a:ea typeface="Inter"/>
            </a:endParaRPr>
          </a:p>
        </p:txBody>
      </p:sp>
      <p:sp>
        <p:nvSpPr>
          <p:cNvPr id="33" name="Text 31"/>
          <p:cNvSpPr/>
          <p:nvPr/>
        </p:nvSpPr>
        <p:spPr>
          <a:xfrm>
            <a:off x="5169471" y="2129433"/>
            <a:ext cx="1919287" cy="152400"/>
          </a:xfrm>
          <a:prstGeom prst="rect">
            <a:avLst/>
          </a:prstGeom>
          <a:ln/>
        </p:spPr>
        <p:txBody>
          <a:bodyPr wrap="square" lIns="0" tIns="0" rIns="0" bIns="0" rtlCol="0" anchor="t"/>
          <a:lstStyle/>
          <a:p>
            <a:pPr marL="0" indent="0" algn="l">
              <a:lnSpc>
                <a:spcPts val="1188"/>
              </a:lnSpc>
              <a:buNone/>
            </a:pPr>
            <a:r>
              <a:rPr lang="en-US" sz="900" b="1" dirty="0">
                <a:solidFill>
                  <a:srgbClr val="1E3A5F"/>
                </a:solidFill>
                <a:latin typeface="Inter"/>
                <a:ea typeface="Inter"/>
                <a:cs typeface="Inter" pitchFamily="34" charset="-120"/>
              </a:rPr>
              <a:t>Duplicate Detection (F1: 0.93)</a:t>
            </a:r>
            <a:endParaRPr lang="en-US" sz="900" dirty="0">
              <a:latin typeface="Inter"/>
              <a:ea typeface="Inter"/>
            </a:endParaRPr>
          </a:p>
        </p:txBody>
      </p:sp>
      <p:sp>
        <p:nvSpPr>
          <p:cNvPr id="34" name="Text 32"/>
          <p:cNvSpPr/>
          <p:nvPr/>
        </p:nvSpPr>
        <p:spPr>
          <a:xfrm>
            <a:off x="5169471" y="2281908"/>
            <a:ext cx="2301516" cy="152400"/>
          </a:xfrm>
          <a:prstGeom prst="rect">
            <a:avLst/>
          </a:prstGeom>
          <a:ln/>
        </p:spPr>
        <p:txBody>
          <a:bodyPr wrap="square" lIns="0" tIns="0" rIns="0" bIns="0" rtlCol="0" anchor="t"/>
          <a:lstStyle/>
          <a:p>
            <a:pPr marL="0" indent="0" algn="l">
              <a:lnSpc>
                <a:spcPts val="1026"/>
              </a:lnSpc>
              <a:buNone/>
            </a:pPr>
            <a:r>
              <a:rPr lang="en-US" sz="800" dirty="0">
                <a:solidFill>
                  <a:srgbClr val="64748B"/>
                </a:solidFill>
                <a:latin typeface="Inter"/>
                <a:ea typeface="Inter"/>
                <a:cs typeface="Inter" pitchFamily="34" charset="-120"/>
              </a:rPr>
              <a:t>Automatically surfaces similar historical tickets</a:t>
            </a:r>
            <a:endParaRPr lang="en-US" sz="800" dirty="0">
              <a:latin typeface="Inter"/>
              <a:ea typeface="Inter"/>
            </a:endParaRPr>
          </a:p>
        </p:txBody>
      </p:sp>
      <p:sp>
        <p:nvSpPr>
          <p:cNvPr id="35" name="Shape 33"/>
          <p:cNvSpPr/>
          <p:nvPr/>
        </p:nvSpPr>
        <p:spPr>
          <a:xfrm>
            <a:off x="4752827" y="2581127"/>
            <a:ext cx="4024312" cy="495300"/>
          </a:xfrm>
          <a:prstGeom prst="roundRect">
            <a:avLst>
              <a:gd name="adj" fmla="val 27266"/>
            </a:avLst>
          </a:prstGeom>
          <a:solidFill>
            <a:srgbClr val="F0FDF4"/>
          </a:solidFill>
          <a:ln w="4763">
            <a:solidFill>
              <a:srgbClr val="BBF7D0"/>
            </a:solidFill>
            <a:prstDash val="solid"/>
          </a:ln>
        </p:spPr>
        <p:txBody>
          <a:bodyPr/>
          <a:lstStyle/>
          <a:p>
            <a:endParaRPr lang="en-IN" sz="2400">
              <a:latin typeface="Inter"/>
              <a:ea typeface="Inter"/>
            </a:endParaRPr>
          </a:p>
        </p:txBody>
      </p:sp>
      <p:sp>
        <p:nvSpPr>
          <p:cNvPr id="36" name="Text 34"/>
          <p:cNvSpPr/>
          <p:nvPr/>
        </p:nvSpPr>
        <p:spPr>
          <a:xfrm>
            <a:off x="4941615" y="2687167"/>
            <a:ext cx="90488" cy="166688"/>
          </a:xfrm>
          <a:prstGeom prst="rect">
            <a:avLst/>
          </a:prstGeom>
          <a:ln/>
        </p:spPr>
        <p:txBody>
          <a:bodyPr wrap="square" lIns="0" tIns="0" rIns="0" bIns="0" rtlCol="0" anchor="t"/>
          <a:lstStyle/>
          <a:p>
            <a:pPr marL="0" indent="0" algn="l">
              <a:lnSpc>
                <a:spcPts val="1296"/>
              </a:lnSpc>
              <a:buNone/>
            </a:pPr>
            <a:r>
              <a:rPr lang="en-US" sz="1000" b="1" dirty="0">
                <a:solidFill>
                  <a:srgbClr val="0D9488"/>
                </a:solidFill>
                <a:latin typeface="Inter"/>
                <a:ea typeface="Inter"/>
                <a:cs typeface="Inter" pitchFamily="34" charset="-120"/>
              </a:rPr>
              <a:t>✓</a:t>
            </a:r>
            <a:endParaRPr lang="en-US" sz="1000" dirty="0">
              <a:latin typeface="Inter"/>
              <a:ea typeface="Inter"/>
            </a:endParaRPr>
          </a:p>
        </p:txBody>
      </p:sp>
      <p:sp>
        <p:nvSpPr>
          <p:cNvPr id="37" name="Text 35"/>
          <p:cNvSpPr/>
          <p:nvPr/>
        </p:nvSpPr>
        <p:spPr>
          <a:xfrm>
            <a:off x="5171071" y="2687464"/>
            <a:ext cx="2105025" cy="152400"/>
          </a:xfrm>
          <a:prstGeom prst="rect">
            <a:avLst/>
          </a:prstGeom>
          <a:ln/>
        </p:spPr>
        <p:txBody>
          <a:bodyPr wrap="square" lIns="0" tIns="0" rIns="0" bIns="0" rtlCol="0" anchor="t"/>
          <a:lstStyle/>
          <a:p>
            <a:pPr marL="0" indent="0" algn="l">
              <a:lnSpc>
                <a:spcPts val="1188"/>
              </a:lnSpc>
              <a:buNone/>
            </a:pPr>
            <a:r>
              <a:rPr lang="en-US" sz="900" b="1" dirty="0">
                <a:solidFill>
                  <a:srgbClr val="1E3A5F"/>
                </a:solidFill>
                <a:latin typeface="Inter"/>
                <a:ea typeface="Inter"/>
                <a:cs typeface="Inter" pitchFamily="34" charset="-120"/>
              </a:rPr>
              <a:t>Grounded AI (4.5% Hallucination)</a:t>
            </a:r>
            <a:endParaRPr lang="en-US" sz="900" dirty="0">
              <a:latin typeface="Inter"/>
              <a:ea typeface="Inter"/>
            </a:endParaRPr>
          </a:p>
        </p:txBody>
      </p:sp>
      <p:sp>
        <p:nvSpPr>
          <p:cNvPr id="38" name="Text 36"/>
          <p:cNvSpPr/>
          <p:nvPr/>
        </p:nvSpPr>
        <p:spPr>
          <a:xfrm>
            <a:off x="5171071" y="2839939"/>
            <a:ext cx="2706316" cy="137096"/>
          </a:xfrm>
          <a:prstGeom prst="rect">
            <a:avLst/>
          </a:prstGeom>
          <a:ln/>
        </p:spPr>
        <p:txBody>
          <a:bodyPr wrap="square" lIns="0" tIns="0" rIns="0" bIns="0" rtlCol="0" anchor="t"/>
          <a:lstStyle/>
          <a:p>
            <a:pPr marL="0" indent="0" algn="l">
              <a:lnSpc>
                <a:spcPts val="1026"/>
              </a:lnSpc>
              <a:buNone/>
            </a:pPr>
            <a:r>
              <a:rPr lang="en-US" sz="800" dirty="0">
                <a:solidFill>
                  <a:srgbClr val="64748B"/>
                </a:solidFill>
                <a:latin typeface="Inter"/>
                <a:ea typeface="Inter"/>
                <a:cs typeface="Inter" pitchFamily="34" charset="-120"/>
              </a:rPr>
              <a:t>RAG ensures every answer is knowledge-grounded</a:t>
            </a:r>
            <a:endParaRPr lang="en-US" sz="800" dirty="0">
              <a:latin typeface="Inter"/>
              <a:ea typeface="Inter"/>
            </a:endParaRPr>
          </a:p>
        </p:txBody>
      </p:sp>
      <p:sp>
        <p:nvSpPr>
          <p:cNvPr id="39" name="Shape 37"/>
          <p:cNvSpPr/>
          <p:nvPr/>
        </p:nvSpPr>
        <p:spPr>
          <a:xfrm>
            <a:off x="4752827" y="3139158"/>
            <a:ext cx="4024312" cy="495300"/>
          </a:xfrm>
          <a:prstGeom prst="roundRect">
            <a:avLst>
              <a:gd name="adj" fmla="val 27266"/>
            </a:avLst>
          </a:prstGeom>
          <a:solidFill>
            <a:srgbClr val="F0FDF4"/>
          </a:solidFill>
          <a:ln w="4763">
            <a:solidFill>
              <a:srgbClr val="BBF7D0"/>
            </a:solidFill>
            <a:prstDash val="solid"/>
          </a:ln>
        </p:spPr>
        <p:txBody>
          <a:bodyPr/>
          <a:lstStyle/>
          <a:p>
            <a:endParaRPr lang="en-IN" sz="2400">
              <a:latin typeface="Inter"/>
              <a:ea typeface="Inter"/>
            </a:endParaRPr>
          </a:p>
        </p:txBody>
      </p:sp>
      <p:sp>
        <p:nvSpPr>
          <p:cNvPr id="40" name="Text 38"/>
          <p:cNvSpPr/>
          <p:nvPr/>
        </p:nvSpPr>
        <p:spPr>
          <a:xfrm>
            <a:off x="4941615" y="3245198"/>
            <a:ext cx="90488" cy="166688"/>
          </a:xfrm>
          <a:prstGeom prst="rect">
            <a:avLst/>
          </a:prstGeom>
          <a:ln/>
        </p:spPr>
        <p:txBody>
          <a:bodyPr wrap="square" lIns="0" tIns="0" rIns="0" bIns="0" rtlCol="0" anchor="t"/>
          <a:lstStyle/>
          <a:p>
            <a:pPr marL="0" indent="0" algn="l">
              <a:lnSpc>
                <a:spcPts val="1296"/>
              </a:lnSpc>
              <a:buNone/>
            </a:pPr>
            <a:r>
              <a:rPr lang="en-US" sz="1000" b="1" dirty="0">
                <a:solidFill>
                  <a:srgbClr val="0D9488"/>
                </a:solidFill>
                <a:latin typeface="Inter"/>
                <a:ea typeface="Inter"/>
                <a:cs typeface="Inter" pitchFamily="34" charset="-120"/>
              </a:rPr>
              <a:t>✓</a:t>
            </a:r>
            <a:endParaRPr lang="en-US" sz="1000" dirty="0">
              <a:latin typeface="Inter"/>
              <a:ea typeface="Inter"/>
            </a:endParaRPr>
          </a:p>
        </p:txBody>
      </p:sp>
      <p:sp>
        <p:nvSpPr>
          <p:cNvPr id="41" name="Text 39"/>
          <p:cNvSpPr/>
          <p:nvPr/>
        </p:nvSpPr>
        <p:spPr>
          <a:xfrm>
            <a:off x="5168988" y="3245495"/>
            <a:ext cx="1866900" cy="152400"/>
          </a:xfrm>
          <a:prstGeom prst="rect">
            <a:avLst/>
          </a:prstGeom>
          <a:ln/>
        </p:spPr>
        <p:txBody>
          <a:bodyPr wrap="square" lIns="0" tIns="0" rIns="0" bIns="0" rtlCol="0" anchor="t"/>
          <a:lstStyle/>
          <a:p>
            <a:pPr marL="0" indent="0" algn="l">
              <a:lnSpc>
                <a:spcPts val="1188"/>
              </a:lnSpc>
              <a:buNone/>
            </a:pPr>
            <a:r>
              <a:rPr lang="en-US" sz="900" b="1" dirty="0">
                <a:solidFill>
                  <a:srgbClr val="1E3A5F"/>
                </a:solidFill>
                <a:latin typeface="Inter"/>
                <a:ea typeface="Inter"/>
                <a:cs typeface="Inter" pitchFamily="34" charset="-120"/>
              </a:rPr>
              <a:t>Faster Triage &amp; Resolution</a:t>
            </a:r>
            <a:endParaRPr lang="en-US" sz="900" dirty="0">
              <a:latin typeface="Inter"/>
              <a:ea typeface="Inter"/>
            </a:endParaRPr>
          </a:p>
        </p:txBody>
      </p:sp>
      <p:sp>
        <p:nvSpPr>
          <p:cNvPr id="42" name="Text 40"/>
          <p:cNvSpPr/>
          <p:nvPr/>
        </p:nvSpPr>
        <p:spPr>
          <a:xfrm>
            <a:off x="5168988" y="3397970"/>
            <a:ext cx="2228702" cy="128588"/>
          </a:xfrm>
          <a:prstGeom prst="rect">
            <a:avLst/>
          </a:prstGeom>
          <a:ln/>
        </p:spPr>
        <p:txBody>
          <a:bodyPr wrap="square" lIns="0" tIns="0" rIns="0" bIns="0" rtlCol="0" anchor="t"/>
          <a:lstStyle/>
          <a:p>
            <a:pPr marL="0" indent="0" algn="l">
              <a:lnSpc>
                <a:spcPts val="1026"/>
              </a:lnSpc>
              <a:buNone/>
            </a:pPr>
            <a:r>
              <a:rPr lang="en-US" sz="800" dirty="0">
                <a:solidFill>
                  <a:srgbClr val="64748B"/>
                </a:solidFill>
                <a:latin typeface="Inter"/>
                <a:ea typeface="Inter"/>
                <a:cs typeface="Inter" pitchFamily="34" charset="-120"/>
              </a:rPr>
              <a:t>Improved SLA compliance, reduced workload</a:t>
            </a:r>
            <a:endParaRPr lang="en-US" sz="800" dirty="0">
              <a:latin typeface="Inter"/>
              <a:ea typeface="Inter"/>
            </a:endParaRPr>
          </a:p>
        </p:txBody>
      </p:sp>
      <p:sp>
        <p:nvSpPr>
          <p:cNvPr id="43" name="Shape 41"/>
          <p:cNvSpPr/>
          <p:nvPr/>
        </p:nvSpPr>
        <p:spPr>
          <a:xfrm>
            <a:off x="364777" y="3911017"/>
            <a:ext cx="8413923" cy="766763"/>
          </a:xfrm>
          <a:prstGeom prst="roundRect">
            <a:avLst>
              <a:gd name="adj" fmla="val 14222"/>
            </a:avLst>
          </a:prstGeom>
          <a:solidFill>
            <a:srgbClr val="0D9488"/>
          </a:solidFill>
          <a:ln/>
          <a:effectLst>
            <a:outerShdw blurRad="95250" dist="19050" dir="5400000" algn="bl" rotWithShape="0">
              <a:srgbClr val="0D9488">
                <a:alpha val="20000"/>
              </a:srgbClr>
            </a:outerShdw>
          </a:effectLst>
        </p:spPr>
        <p:txBody>
          <a:bodyPr/>
          <a:lstStyle/>
          <a:p>
            <a:endParaRPr lang="en-IN">
              <a:latin typeface="Inter"/>
              <a:ea typeface="Inter"/>
            </a:endParaRPr>
          </a:p>
        </p:txBody>
      </p:sp>
      <p:sp>
        <p:nvSpPr>
          <p:cNvPr id="44" name="Text 42"/>
          <p:cNvSpPr/>
          <p:nvPr/>
        </p:nvSpPr>
        <p:spPr>
          <a:xfrm>
            <a:off x="593378" y="4040200"/>
            <a:ext cx="7458024" cy="138113"/>
          </a:xfrm>
          <a:prstGeom prst="rect">
            <a:avLst/>
          </a:prstGeom>
          <a:ln/>
        </p:spPr>
        <p:txBody>
          <a:bodyPr wrap="square" lIns="0" tIns="0" rIns="0" bIns="0" rtlCol="0" anchor="t"/>
          <a:lstStyle/>
          <a:p>
            <a:pPr marL="0" indent="0" algn="l">
              <a:lnSpc>
                <a:spcPts val="1080"/>
              </a:lnSpc>
              <a:spcAft>
                <a:spcPts val="324"/>
              </a:spcAft>
              <a:buNone/>
            </a:pPr>
            <a:r>
              <a:rPr lang="en-US" sz="900" b="1" dirty="0">
                <a:solidFill>
                  <a:srgbClr val="FFFFFF"/>
                </a:solidFill>
                <a:latin typeface="Inter"/>
                <a:ea typeface="Inter"/>
                <a:cs typeface="Inter" pitchFamily="34" charset="-120"/>
              </a:rPr>
              <a:t>QUANTIFIED IMPACT</a:t>
            </a:r>
            <a:endParaRPr lang="en-US" sz="900" dirty="0">
              <a:latin typeface="Inter"/>
              <a:ea typeface="Inter"/>
            </a:endParaRPr>
          </a:p>
        </p:txBody>
      </p:sp>
      <p:sp>
        <p:nvSpPr>
          <p:cNvPr id="45" name="Text 43"/>
          <p:cNvSpPr/>
          <p:nvPr/>
        </p:nvSpPr>
        <p:spPr>
          <a:xfrm>
            <a:off x="593378" y="4286884"/>
            <a:ext cx="7458024" cy="260932"/>
          </a:xfrm>
          <a:prstGeom prst="rect">
            <a:avLst/>
          </a:prstGeom>
          <a:ln/>
        </p:spPr>
        <p:txBody>
          <a:bodyPr wrap="square" lIns="0" tIns="0" rIns="0" bIns="0" rtlCol="0" anchor="t"/>
          <a:lstStyle/>
          <a:p>
            <a:pPr marL="0" indent="0" algn="ctr">
              <a:lnSpc>
                <a:spcPts val="1296"/>
              </a:lnSpc>
              <a:buNone/>
            </a:pPr>
            <a:r>
              <a:rPr lang="en-US" sz="1050" b="1" dirty="0">
                <a:solidFill>
                  <a:srgbClr val="FFFFFF"/>
                </a:solidFill>
                <a:latin typeface="Inter"/>
                <a:ea typeface="Inter"/>
                <a:cs typeface="Inter" pitchFamily="34" charset="-120"/>
              </a:rPr>
              <a:t>~10x hallucination reduction · Sub-second response · Improved IT team SLA compliance</a:t>
            </a:r>
            <a:endParaRPr lang="en-US" sz="1050" dirty="0">
              <a:latin typeface="Inter"/>
              <a:ea typeface="Inter"/>
            </a:endParaRPr>
          </a:p>
        </p:txBody>
      </p:sp>
      <p:sp>
        <p:nvSpPr>
          <p:cNvPr id="46" name="Shape 44"/>
          <p:cNvSpPr/>
          <p:nvPr/>
        </p:nvSpPr>
        <p:spPr>
          <a:xfrm>
            <a:off x="366713" y="4705610"/>
            <a:ext cx="8410575" cy="233362"/>
          </a:xfrm>
          <a:prstGeom prst="rect">
            <a:avLst/>
          </a:prstGeom>
          <a:ln/>
        </p:spPr>
        <p:txBody>
          <a:bodyPr/>
          <a:lstStyle/>
          <a:p>
            <a:endParaRPr lang="en-IN">
              <a:latin typeface="Inter"/>
              <a:ea typeface="Inter"/>
            </a:endParaRPr>
          </a:p>
        </p:txBody>
      </p:sp>
      <p:sp>
        <p:nvSpPr>
          <p:cNvPr id="47" name="Text 45"/>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a:ea typeface="Inter"/>
                <a:cs typeface="Inter" pitchFamily="34" charset="-120"/>
              </a:rPr>
              <a:t>University Capstone — Team Michigan</a:t>
            </a:r>
            <a:endParaRPr lang="en-US" sz="600" dirty="0">
              <a:latin typeface="Inter"/>
              <a:ea typeface="Inter"/>
            </a:endParaRPr>
          </a:p>
        </p:txBody>
      </p:sp>
      <p:sp>
        <p:nvSpPr>
          <p:cNvPr id="48" name="Text 46"/>
          <p:cNvSpPr/>
          <p:nvPr/>
        </p:nvSpPr>
        <p:spPr>
          <a:xfrm>
            <a:off x="8230679" y="4814181"/>
            <a:ext cx="547687"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a:ea typeface="Inter"/>
                <a:cs typeface="Inter" pitchFamily="34" charset="-120"/>
              </a:rPr>
              <a:t>Slide 20 of 24</a:t>
            </a:r>
            <a:endParaRPr lang="en-US" sz="600" dirty="0">
              <a:latin typeface="Inter"/>
              <a:ea typeface="Inter"/>
            </a:endParaRPr>
          </a:p>
        </p:txBody>
      </p:sp>
      <p:pic>
        <p:nvPicPr>
          <p:cNvPr id="4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5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sp>
        <p:nvSpPr>
          <p:cNvPr id="51" name="Text 24">
            <a:extLst>
              <a:ext uri="{FF2B5EF4-FFF2-40B4-BE49-F238E27FC236}">
                <a16:creationId xmlns:a16="http://schemas.microsoft.com/office/drawing/2014/main" id="{17A2C9C5-B38B-8A83-C3BD-D309A771CD90}"/>
              </a:ext>
            </a:extLst>
          </p:cNvPr>
          <p:cNvSpPr/>
          <p:nvPr/>
        </p:nvSpPr>
        <p:spPr>
          <a:xfrm>
            <a:off x="366713" y="1147737"/>
            <a:ext cx="4024312" cy="152400"/>
          </a:xfrm>
          <a:prstGeom prst="rect">
            <a:avLst/>
          </a:prstGeom>
          <a:ln/>
        </p:spPr>
        <p:txBody>
          <a:bodyPr wrap="square" lIns="0" tIns="0" rIns="0" bIns="0" rtlCol="0" anchor="t"/>
          <a:lstStyle/>
          <a:p>
            <a:pPr>
              <a:lnSpc>
                <a:spcPts val="1188"/>
              </a:lnSpc>
              <a:spcAft>
                <a:spcPts val="324"/>
              </a:spcAft>
            </a:pPr>
            <a:r>
              <a:rPr lang="en-US" sz="900" b="1" dirty="0">
                <a:solidFill>
                  <a:srgbClr val="DC2626"/>
                </a:solidFill>
                <a:latin typeface="Inter"/>
                <a:ea typeface="Inter"/>
                <a:cs typeface="Inter" pitchFamily="34" charset="-120"/>
              </a:rPr>
              <a:t>TRADITIONAL SYSTEMS</a:t>
            </a:r>
            <a:endParaRPr lang="en-US" sz="900" dirty="0">
              <a:latin typeface="Inter"/>
              <a:ea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Shape 1"/>
          <p:cNvSpPr/>
          <p:nvPr/>
        </p:nvSpPr>
        <p:spPr>
          <a:xfrm>
            <a:off x="366713" y="205643"/>
            <a:ext cx="8410575" cy="290513"/>
          </a:xfrm>
          <a:prstGeom prst="rect">
            <a:avLst/>
          </a:prstGeom>
          <a:ln/>
        </p:spPr>
        <p:txBody>
          <a:bodyPr/>
          <a:lstStyle/>
          <a:p>
            <a:endParaRPr lang="en-IN"/>
          </a:p>
        </p:txBody>
      </p:sp>
      <p:sp>
        <p:nvSpPr>
          <p:cNvPr id="4" name="Shape 2"/>
          <p:cNvSpPr/>
          <p:nvPr/>
        </p:nvSpPr>
        <p:spPr>
          <a:xfrm>
            <a:off x="366675" y="206611"/>
            <a:ext cx="180975" cy="180975"/>
          </a:xfrm>
          <a:prstGeom prst="roundRect">
            <a:avLst>
              <a:gd name="adj" fmla="val 25529"/>
            </a:avLst>
          </a:prstGeom>
          <a:solidFill>
            <a:srgbClr val="0D9488"/>
          </a:solidFill>
          <a:ln/>
        </p:spPr>
        <p:txBody>
          <a:bodyPr/>
          <a:lstStyle/>
          <a:p>
            <a:endParaRPr lang="en-IN"/>
          </a:p>
        </p:txBody>
      </p:sp>
      <p:sp>
        <p:nvSpPr>
          <p:cNvPr id="5" name="Text 3"/>
          <p:cNvSpPr/>
          <p:nvPr/>
        </p:nvSpPr>
        <p:spPr>
          <a:xfrm>
            <a:off x="639031" y="213717"/>
            <a:ext cx="976312" cy="166688"/>
          </a:xfrm>
          <a:prstGeom prst="rect">
            <a:avLst/>
          </a:prstGeom>
          <a:ln/>
        </p:spPr>
        <p:txBody>
          <a:bodyPr wrap="square" lIns="0" tIns="0" rIns="0" bIns="0" rtlCol="0" anchor="t"/>
          <a:lstStyle/>
          <a:p>
            <a:pPr marL="0" indent="0" algn="l">
              <a:lnSpc>
                <a:spcPts val="1296"/>
              </a:lnSpc>
              <a:buNone/>
            </a:pPr>
            <a:r>
              <a:rPr lang="en-US" sz="800" b="1" dirty="0">
                <a:solidFill>
                  <a:srgbClr val="1E3A5F"/>
                </a:solidFill>
                <a:latin typeface="Inter" pitchFamily="34" charset="0"/>
                <a:ea typeface="Inter" pitchFamily="34" charset="-122"/>
                <a:cs typeface="Inter" pitchFamily="34" charset="-120"/>
              </a:rPr>
              <a:t>FSE 570 Capstone</a:t>
            </a:r>
            <a:endParaRPr lang="en-US" sz="800" dirty="0"/>
          </a:p>
        </p:txBody>
      </p:sp>
      <p:sp>
        <p:nvSpPr>
          <p:cNvPr id="6" name="Text 4"/>
          <p:cNvSpPr/>
          <p:nvPr/>
        </p:nvSpPr>
        <p:spPr>
          <a:xfrm>
            <a:off x="7331646" y="228042"/>
            <a:ext cx="671513"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FUTURE WORK</a:t>
            </a:r>
            <a:endParaRPr lang="en-US" sz="700" dirty="0"/>
          </a:p>
        </p:txBody>
      </p:sp>
      <p:sp>
        <p:nvSpPr>
          <p:cNvPr id="7" name="Text 5"/>
          <p:cNvSpPr/>
          <p:nvPr/>
        </p:nvSpPr>
        <p:spPr>
          <a:xfrm>
            <a:off x="8186589" y="228042"/>
            <a:ext cx="590550" cy="138113"/>
          </a:xfrm>
          <a:prstGeom prst="rect">
            <a:avLst/>
          </a:prstGeom>
          <a:ln/>
        </p:spPr>
        <p:txBody>
          <a:bodyPr wrap="square" lIns="0" tIns="0" rIns="0" bIns="0" rtlCol="0" anchor="t"/>
          <a:lstStyle/>
          <a:p>
            <a:pPr marL="0" indent="0" algn="l">
              <a:lnSpc>
                <a:spcPts val="1080"/>
              </a:lnSpc>
              <a:buNone/>
            </a:pPr>
            <a:r>
              <a:rPr lang="en-US" sz="700" dirty="0">
                <a:solidFill>
                  <a:srgbClr val="64748B"/>
                </a:solidFill>
                <a:latin typeface="Inter" pitchFamily="34" charset="0"/>
                <a:ea typeface="Inter" pitchFamily="34" charset="-122"/>
                <a:cs typeface="Inter" pitchFamily="34" charset="-120"/>
              </a:rPr>
              <a:t>SPRING 2026</a:t>
            </a:r>
            <a:endParaRPr lang="en-US" sz="700" dirty="0"/>
          </a:p>
        </p:txBody>
      </p:sp>
      <p:sp>
        <p:nvSpPr>
          <p:cNvPr id="9" name="Text 7"/>
          <p:cNvSpPr/>
          <p:nvPr/>
        </p:nvSpPr>
        <p:spPr>
          <a:xfrm>
            <a:off x="366713" y="843186"/>
            <a:ext cx="8410575" cy="300038"/>
          </a:xfrm>
          <a:prstGeom prst="rect">
            <a:avLst/>
          </a:prstGeom>
          <a:ln/>
        </p:spPr>
        <p:txBody>
          <a:bodyPr wrap="square" lIns="0" tIns="0" rIns="0" bIns="0" rtlCol="0" anchor="t"/>
          <a:lstStyle/>
          <a:p>
            <a:pPr marL="0" indent="0" algn="l">
              <a:lnSpc>
                <a:spcPts val="2376"/>
              </a:lnSpc>
              <a:buNone/>
            </a:pPr>
            <a:r>
              <a:rPr lang="en-US" sz="2100" b="1" dirty="0">
                <a:solidFill>
                  <a:srgbClr val="1E3A5F"/>
                </a:solidFill>
                <a:latin typeface="Inter" pitchFamily="34" charset="0"/>
                <a:ea typeface="Inter" pitchFamily="34" charset="-122"/>
                <a:cs typeface="Inter" pitchFamily="34" charset="-120"/>
              </a:rPr>
              <a:t>Future Work &amp; Improvements</a:t>
            </a:r>
            <a:endParaRPr lang="en-US" sz="2100" dirty="0"/>
          </a:p>
        </p:txBody>
      </p:sp>
      <p:sp>
        <p:nvSpPr>
          <p:cNvPr id="10" name="Shape 8"/>
          <p:cNvSpPr/>
          <p:nvPr/>
        </p:nvSpPr>
        <p:spPr>
          <a:xfrm>
            <a:off x="366713" y="1542567"/>
            <a:ext cx="2714625" cy="985838"/>
          </a:xfrm>
          <a:prstGeom prst="roundRect">
            <a:avLst>
              <a:gd name="adj" fmla="val 8603"/>
            </a:avLst>
          </a:prstGeom>
          <a:solidFill>
            <a:srgbClr val="0D9488"/>
          </a:solidFill>
          <a:ln/>
          <a:effectLst>
            <a:outerShdw blurRad="95250" dist="19050" dir="5400000" algn="bl" rotWithShape="0">
              <a:srgbClr val="0D9488">
                <a:alpha val="20000"/>
              </a:srgbClr>
            </a:outerShdw>
          </a:effectLst>
        </p:spPr>
        <p:txBody>
          <a:bodyPr/>
          <a:lstStyle/>
          <a:p>
            <a:endParaRPr lang="en-IN" sz="2400"/>
          </a:p>
        </p:txBody>
      </p:sp>
      <p:sp>
        <p:nvSpPr>
          <p:cNvPr id="11" name="Text 9"/>
          <p:cNvSpPr/>
          <p:nvPr/>
        </p:nvSpPr>
        <p:spPr>
          <a:xfrm>
            <a:off x="550069" y="1670373"/>
            <a:ext cx="2347912" cy="247650"/>
          </a:xfrm>
          <a:prstGeom prst="rect">
            <a:avLst/>
          </a:prstGeom>
          <a:ln/>
        </p:spPr>
        <p:txBody>
          <a:bodyPr wrap="square" lIns="0" tIns="0" rIns="0" bIns="0" rtlCol="0" anchor="t"/>
          <a:lstStyle/>
          <a:p>
            <a:pPr marL="0" indent="0" algn="l">
              <a:lnSpc>
                <a:spcPts val="1944"/>
              </a:lnSpc>
              <a:spcAft>
                <a:spcPts val="324"/>
              </a:spcAft>
              <a:buNone/>
            </a:pPr>
            <a:r>
              <a:rPr lang="en-US" sz="1600" b="1" dirty="0">
                <a:solidFill>
                  <a:srgbClr val="FFFFFF"/>
                </a:solidFill>
                <a:latin typeface="Inter" pitchFamily="34" charset="0"/>
                <a:ea typeface="Inter" pitchFamily="34" charset="-122"/>
                <a:cs typeface="Inter" pitchFamily="34" charset="-120"/>
              </a:rPr>
              <a:t>01</a:t>
            </a:r>
            <a:endParaRPr lang="en-US" sz="1600" dirty="0"/>
          </a:p>
        </p:txBody>
      </p:sp>
      <p:sp>
        <p:nvSpPr>
          <p:cNvPr id="12" name="Text 10"/>
          <p:cNvSpPr/>
          <p:nvPr/>
        </p:nvSpPr>
        <p:spPr>
          <a:xfrm>
            <a:off x="550069" y="1959285"/>
            <a:ext cx="2347912" cy="142875"/>
          </a:xfrm>
          <a:prstGeom prst="rect">
            <a:avLst/>
          </a:prstGeom>
          <a:ln/>
        </p:spPr>
        <p:txBody>
          <a:bodyPr wrap="square" lIns="0" tIns="0" rIns="0" bIns="0" rtlCol="0" anchor="t"/>
          <a:lstStyle/>
          <a:p>
            <a:pPr marL="0" indent="0" algn="l">
              <a:lnSpc>
                <a:spcPts val="1134"/>
              </a:lnSpc>
              <a:spcAft>
                <a:spcPts val="324"/>
              </a:spcAft>
              <a:buNone/>
            </a:pPr>
            <a:r>
              <a:rPr lang="en-US" sz="900" b="1" dirty="0">
                <a:solidFill>
                  <a:srgbClr val="FFFFFF"/>
                </a:solidFill>
                <a:latin typeface="Inter" pitchFamily="34" charset="0"/>
                <a:ea typeface="Inter" pitchFamily="34" charset="-122"/>
                <a:cs typeface="Inter" pitchFamily="34" charset="-120"/>
              </a:rPr>
              <a:t>Real-Time Production</a:t>
            </a:r>
            <a:endParaRPr lang="en-US" sz="900" dirty="0"/>
          </a:p>
        </p:txBody>
      </p:sp>
      <p:sp>
        <p:nvSpPr>
          <p:cNvPr id="13" name="Text 11"/>
          <p:cNvSpPr/>
          <p:nvPr/>
        </p:nvSpPr>
        <p:spPr>
          <a:xfrm>
            <a:off x="550069" y="2143609"/>
            <a:ext cx="2347912" cy="123825"/>
          </a:xfrm>
          <a:prstGeom prst="rect">
            <a:avLst/>
          </a:prstGeom>
          <a:ln/>
        </p:spPr>
        <p:txBody>
          <a:bodyPr wrap="square" lIns="0" tIns="0" rIns="0" bIns="0" rtlCol="0" anchor="t"/>
          <a:lstStyle/>
          <a:p>
            <a:pPr marL="0" indent="0" algn="l">
              <a:lnSpc>
                <a:spcPts val="972"/>
              </a:lnSpc>
              <a:buNone/>
            </a:pPr>
            <a:r>
              <a:rPr lang="en-US" sz="800" dirty="0">
                <a:solidFill>
                  <a:srgbClr val="FFFFFF"/>
                </a:solidFill>
                <a:latin typeface="Inter" pitchFamily="34" charset="0"/>
                <a:ea typeface="Inter" pitchFamily="34" charset="-122"/>
                <a:cs typeface="Inter" pitchFamily="34" charset="-120"/>
              </a:rPr>
              <a:t>Integrate with ServiceNow and Jira for live enterprise usage</a:t>
            </a:r>
            <a:endParaRPr lang="en-US" sz="800" dirty="0"/>
          </a:p>
        </p:txBody>
      </p:sp>
      <p:sp>
        <p:nvSpPr>
          <p:cNvPr id="14" name="Shape 12"/>
          <p:cNvSpPr/>
          <p:nvPr/>
        </p:nvSpPr>
        <p:spPr>
          <a:xfrm>
            <a:off x="3216585" y="1542567"/>
            <a:ext cx="2714625" cy="985838"/>
          </a:xfrm>
          <a:prstGeom prst="roundRect">
            <a:avLst>
              <a:gd name="adj" fmla="val 8603"/>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400"/>
          </a:p>
        </p:txBody>
      </p:sp>
      <p:sp>
        <p:nvSpPr>
          <p:cNvPr id="15" name="Text 13"/>
          <p:cNvSpPr/>
          <p:nvPr/>
        </p:nvSpPr>
        <p:spPr>
          <a:xfrm>
            <a:off x="3404704" y="1675135"/>
            <a:ext cx="2338388" cy="247650"/>
          </a:xfrm>
          <a:prstGeom prst="rect">
            <a:avLst/>
          </a:prstGeom>
          <a:ln/>
        </p:spPr>
        <p:txBody>
          <a:bodyPr wrap="square" lIns="0" tIns="0" rIns="0" bIns="0" rtlCol="0" anchor="t"/>
          <a:lstStyle/>
          <a:p>
            <a:pPr marL="0" indent="0" algn="l">
              <a:lnSpc>
                <a:spcPts val="1944"/>
              </a:lnSpc>
              <a:spcAft>
                <a:spcPts val="324"/>
              </a:spcAft>
              <a:buNone/>
            </a:pPr>
            <a:r>
              <a:rPr lang="en-US" sz="1600" b="1" dirty="0">
                <a:solidFill>
                  <a:srgbClr val="0D9488"/>
                </a:solidFill>
                <a:latin typeface="Inter" pitchFamily="34" charset="0"/>
                <a:ea typeface="Inter" pitchFamily="34" charset="-122"/>
                <a:cs typeface="Inter" pitchFamily="34" charset="-120"/>
              </a:rPr>
              <a:t>02</a:t>
            </a:r>
            <a:endParaRPr lang="en-US" sz="1600" dirty="0"/>
          </a:p>
        </p:txBody>
      </p:sp>
      <p:sp>
        <p:nvSpPr>
          <p:cNvPr id="16" name="Text 14"/>
          <p:cNvSpPr/>
          <p:nvPr/>
        </p:nvSpPr>
        <p:spPr>
          <a:xfrm>
            <a:off x="3404704" y="1964048"/>
            <a:ext cx="2338388" cy="142875"/>
          </a:xfrm>
          <a:prstGeom prst="rect">
            <a:avLst/>
          </a:prstGeom>
          <a:ln/>
        </p:spPr>
        <p:txBody>
          <a:bodyPr wrap="square" lIns="0" tIns="0" rIns="0" bIns="0" rtlCol="0" anchor="t"/>
          <a:lstStyle/>
          <a:p>
            <a:pPr marL="0" indent="0" algn="l">
              <a:lnSpc>
                <a:spcPts val="1134"/>
              </a:lnSpc>
              <a:spcAft>
                <a:spcPts val="324"/>
              </a:spcAft>
              <a:buNone/>
            </a:pPr>
            <a:r>
              <a:rPr lang="en-US" sz="900" b="1" dirty="0">
                <a:solidFill>
                  <a:srgbClr val="0D9488"/>
                </a:solidFill>
                <a:latin typeface="Inter" pitchFamily="34" charset="0"/>
                <a:ea typeface="Inter" pitchFamily="34" charset="-122"/>
                <a:cs typeface="Inter" pitchFamily="34" charset="-120"/>
              </a:rPr>
              <a:t>Continuous Learning</a:t>
            </a:r>
            <a:endParaRPr lang="en-US" sz="900" dirty="0"/>
          </a:p>
        </p:txBody>
      </p:sp>
      <p:sp>
        <p:nvSpPr>
          <p:cNvPr id="17" name="Text 15"/>
          <p:cNvSpPr/>
          <p:nvPr/>
        </p:nvSpPr>
        <p:spPr>
          <a:xfrm>
            <a:off x="3404704" y="2148185"/>
            <a:ext cx="2338388" cy="247650"/>
          </a:xfrm>
          <a:prstGeom prst="rect">
            <a:avLst/>
          </a:prstGeom>
          <a:ln/>
        </p:spPr>
        <p:txBody>
          <a:bodyPr wrap="square" lIns="0" tIns="0" rIns="0" bIns="0" rtlCol="0" anchor="t"/>
          <a:lstStyle/>
          <a:p>
            <a:pPr marL="0" indent="0" algn="l">
              <a:lnSpc>
                <a:spcPts val="972"/>
              </a:lnSpc>
              <a:buNone/>
            </a:pPr>
            <a:r>
              <a:rPr lang="en-US" sz="800" dirty="0">
                <a:solidFill>
                  <a:srgbClr val="475569"/>
                </a:solidFill>
                <a:latin typeface="Inter" pitchFamily="34" charset="0"/>
                <a:ea typeface="Inter" pitchFamily="34" charset="-122"/>
                <a:cs typeface="Inter" pitchFamily="34" charset="-120"/>
              </a:rPr>
              <a:t>Automatically learn from new tickets and user feedback improve retrieval over time</a:t>
            </a:r>
            <a:endParaRPr lang="en-US" sz="800" dirty="0"/>
          </a:p>
        </p:txBody>
      </p:sp>
      <p:sp>
        <p:nvSpPr>
          <p:cNvPr id="18" name="Shape 16"/>
          <p:cNvSpPr/>
          <p:nvPr/>
        </p:nvSpPr>
        <p:spPr>
          <a:xfrm>
            <a:off x="6066495" y="1542567"/>
            <a:ext cx="2714625" cy="985838"/>
          </a:xfrm>
          <a:prstGeom prst="roundRect">
            <a:avLst>
              <a:gd name="adj" fmla="val 8603"/>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400"/>
          </a:p>
        </p:txBody>
      </p:sp>
      <p:sp>
        <p:nvSpPr>
          <p:cNvPr id="19" name="Text 17"/>
          <p:cNvSpPr/>
          <p:nvPr/>
        </p:nvSpPr>
        <p:spPr>
          <a:xfrm>
            <a:off x="6254614" y="1675135"/>
            <a:ext cx="2338388" cy="247650"/>
          </a:xfrm>
          <a:prstGeom prst="rect">
            <a:avLst/>
          </a:prstGeom>
          <a:ln/>
        </p:spPr>
        <p:txBody>
          <a:bodyPr wrap="square" lIns="0" tIns="0" rIns="0" bIns="0" rtlCol="0" anchor="t"/>
          <a:lstStyle/>
          <a:p>
            <a:pPr marL="0" indent="0" algn="l">
              <a:lnSpc>
                <a:spcPts val="1944"/>
              </a:lnSpc>
              <a:spcAft>
                <a:spcPts val="324"/>
              </a:spcAft>
              <a:buNone/>
            </a:pPr>
            <a:r>
              <a:rPr lang="en-US" sz="1600" b="1" dirty="0">
                <a:solidFill>
                  <a:srgbClr val="0D9488"/>
                </a:solidFill>
                <a:latin typeface="Inter" pitchFamily="34" charset="0"/>
                <a:ea typeface="Inter" pitchFamily="34" charset="-122"/>
                <a:cs typeface="Inter" pitchFamily="34" charset="-120"/>
              </a:rPr>
              <a:t>03</a:t>
            </a:r>
            <a:endParaRPr lang="en-US" sz="1600" dirty="0"/>
          </a:p>
        </p:txBody>
      </p:sp>
      <p:sp>
        <p:nvSpPr>
          <p:cNvPr id="20" name="Text 18"/>
          <p:cNvSpPr/>
          <p:nvPr/>
        </p:nvSpPr>
        <p:spPr>
          <a:xfrm>
            <a:off x="6254614" y="1964048"/>
            <a:ext cx="2338388" cy="142875"/>
          </a:xfrm>
          <a:prstGeom prst="rect">
            <a:avLst/>
          </a:prstGeom>
          <a:ln/>
        </p:spPr>
        <p:txBody>
          <a:bodyPr wrap="square" lIns="0" tIns="0" rIns="0" bIns="0" rtlCol="0" anchor="t"/>
          <a:lstStyle/>
          <a:p>
            <a:pPr marL="0" indent="0" algn="l">
              <a:lnSpc>
                <a:spcPts val="1134"/>
              </a:lnSpc>
              <a:spcAft>
                <a:spcPts val="324"/>
              </a:spcAft>
              <a:buNone/>
            </a:pPr>
            <a:r>
              <a:rPr lang="en-US" sz="900" b="1" dirty="0">
                <a:solidFill>
                  <a:srgbClr val="0D9488"/>
                </a:solidFill>
                <a:latin typeface="Inter" pitchFamily="34" charset="0"/>
                <a:ea typeface="Inter" pitchFamily="34" charset="-122"/>
                <a:cs typeface="Inter" pitchFamily="34" charset="-120"/>
              </a:rPr>
              <a:t>Advanced Agent Capabilities</a:t>
            </a:r>
            <a:endParaRPr lang="en-US" sz="900" dirty="0"/>
          </a:p>
        </p:txBody>
      </p:sp>
      <p:sp>
        <p:nvSpPr>
          <p:cNvPr id="21" name="Text 19"/>
          <p:cNvSpPr/>
          <p:nvPr/>
        </p:nvSpPr>
        <p:spPr>
          <a:xfrm>
            <a:off x="6254614" y="2148185"/>
            <a:ext cx="2338388" cy="247650"/>
          </a:xfrm>
          <a:prstGeom prst="rect">
            <a:avLst/>
          </a:prstGeom>
          <a:ln/>
        </p:spPr>
        <p:txBody>
          <a:bodyPr wrap="square" lIns="0" tIns="0" rIns="0" bIns="0" rtlCol="0" anchor="t"/>
          <a:lstStyle/>
          <a:p>
            <a:pPr marL="0" indent="0" algn="l">
              <a:lnSpc>
                <a:spcPts val="972"/>
              </a:lnSpc>
              <a:buNone/>
            </a:pPr>
            <a:r>
              <a:rPr lang="en-US" sz="800" dirty="0">
                <a:solidFill>
                  <a:srgbClr val="475569"/>
                </a:solidFill>
                <a:latin typeface="Inter" pitchFamily="34" charset="0"/>
                <a:ea typeface="Inter" pitchFamily="34" charset="-122"/>
                <a:cs typeface="Inter" pitchFamily="34" charset="-120"/>
              </a:rPr>
              <a:t>Multi-step reasoning, automated troubleshooting, smarter escalation</a:t>
            </a:r>
            <a:endParaRPr lang="en-US" sz="800" dirty="0"/>
          </a:p>
        </p:txBody>
      </p:sp>
      <p:sp>
        <p:nvSpPr>
          <p:cNvPr id="22" name="Shape 20"/>
          <p:cNvSpPr/>
          <p:nvPr/>
        </p:nvSpPr>
        <p:spPr>
          <a:xfrm>
            <a:off x="364778" y="3165761"/>
            <a:ext cx="2714625" cy="985838"/>
          </a:xfrm>
          <a:prstGeom prst="roundRect">
            <a:avLst>
              <a:gd name="adj" fmla="val 8603"/>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400"/>
          </a:p>
        </p:txBody>
      </p:sp>
      <p:sp>
        <p:nvSpPr>
          <p:cNvPr id="23" name="Text 21"/>
          <p:cNvSpPr/>
          <p:nvPr/>
        </p:nvSpPr>
        <p:spPr>
          <a:xfrm>
            <a:off x="552896" y="3298329"/>
            <a:ext cx="2338388" cy="247650"/>
          </a:xfrm>
          <a:prstGeom prst="rect">
            <a:avLst/>
          </a:prstGeom>
          <a:ln/>
        </p:spPr>
        <p:txBody>
          <a:bodyPr wrap="square" lIns="0" tIns="0" rIns="0" bIns="0" rtlCol="0" anchor="t"/>
          <a:lstStyle/>
          <a:p>
            <a:pPr marL="0" indent="0" algn="l">
              <a:lnSpc>
                <a:spcPts val="1944"/>
              </a:lnSpc>
              <a:spcAft>
                <a:spcPts val="324"/>
              </a:spcAft>
              <a:buNone/>
            </a:pPr>
            <a:r>
              <a:rPr lang="en-US" sz="1600" b="1" dirty="0">
                <a:solidFill>
                  <a:srgbClr val="0D9488"/>
                </a:solidFill>
                <a:latin typeface="Inter" pitchFamily="34" charset="0"/>
                <a:ea typeface="Inter" pitchFamily="34" charset="-122"/>
                <a:cs typeface="Inter" pitchFamily="34" charset="-120"/>
              </a:rPr>
              <a:t>04</a:t>
            </a:r>
            <a:endParaRPr lang="en-US" sz="1600" dirty="0"/>
          </a:p>
        </p:txBody>
      </p:sp>
      <p:sp>
        <p:nvSpPr>
          <p:cNvPr id="24" name="Text 22"/>
          <p:cNvSpPr/>
          <p:nvPr/>
        </p:nvSpPr>
        <p:spPr>
          <a:xfrm>
            <a:off x="552896" y="3587242"/>
            <a:ext cx="2338388" cy="142875"/>
          </a:xfrm>
          <a:prstGeom prst="rect">
            <a:avLst/>
          </a:prstGeom>
          <a:ln/>
        </p:spPr>
        <p:txBody>
          <a:bodyPr wrap="square" lIns="0" tIns="0" rIns="0" bIns="0" rtlCol="0" anchor="t"/>
          <a:lstStyle/>
          <a:p>
            <a:pPr marL="0" indent="0" algn="l">
              <a:lnSpc>
                <a:spcPts val="1134"/>
              </a:lnSpc>
              <a:spcAft>
                <a:spcPts val="324"/>
              </a:spcAft>
              <a:buNone/>
            </a:pPr>
            <a:r>
              <a:rPr lang="en-US" sz="900" b="1" dirty="0">
                <a:solidFill>
                  <a:srgbClr val="0D9488"/>
                </a:solidFill>
                <a:latin typeface="Inter" pitchFamily="34" charset="0"/>
                <a:ea typeface="Inter" pitchFamily="34" charset="-122"/>
                <a:cs typeface="Inter" pitchFamily="34" charset="-120"/>
              </a:rPr>
              <a:t>Multilingual Support</a:t>
            </a:r>
            <a:endParaRPr lang="en-US" sz="900" dirty="0"/>
          </a:p>
        </p:txBody>
      </p:sp>
      <p:sp>
        <p:nvSpPr>
          <p:cNvPr id="25" name="Text 23"/>
          <p:cNvSpPr/>
          <p:nvPr/>
        </p:nvSpPr>
        <p:spPr>
          <a:xfrm>
            <a:off x="552896" y="3771380"/>
            <a:ext cx="2338388" cy="247650"/>
          </a:xfrm>
          <a:prstGeom prst="rect">
            <a:avLst/>
          </a:prstGeom>
          <a:ln/>
        </p:spPr>
        <p:txBody>
          <a:bodyPr wrap="square" lIns="0" tIns="0" rIns="0" bIns="0" rtlCol="0" anchor="t"/>
          <a:lstStyle/>
          <a:p>
            <a:pPr marL="0" indent="0" algn="l">
              <a:lnSpc>
                <a:spcPts val="972"/>
              </a:lnSpc>
              <a:buNone/>
            </a:pPr>
            <a:r>
              <a:rPr lang="en-US" sz="800" dirty="0">
                <a:solidFill>
                  <a:srgbClr val="475569"/>
                </a:solidFill>
                <a:latin typeface="Inter" pitchFamily="34" charset="0"/>
                <a:ea typeface="Inter" pitchFamily="34" charset="-122"/>
                <a:cs typeface="Inter" pitchFamily="34" charset="-120"/>
              </a:rPr>
              <a:t>Expand beyond English improve handling of global ticket data</a:t>
            </a:r>
            <a:endParaRPr lang="en-US" sz="800" dirty="0"/>
          </a:p>
        </p:txBody>
      </p:sp>
      <p:sp>
        <p:nvSpPr>
          <p:cNvPr id="26" name="Shape 24"/>
          <p:cNvSpPr/>
          <p:nvPr/>
        </p:nvSpPr>
        <p:spPr>
          <a:xfrm>
            <a:off x="3214650" y="3165761"/>
            <a:ext cx="2714625" cy="985838"/>
          </a:xfrm>
          <a:prstGeom prst="roundRect">
            <a:avLst>
              <a:gd name="adj" fmla="val 8603"/>
            </a:avLst>
          </a:prstGeom>
          <a:solidFill>
            <a:srgbClr val="1E3A5F"/>
          </a:solidFill>
          <a:ln/>
          <a:effectLst>
            <a:outerShdw blurRad="95250" dist="19050" dir="5400000" algn="bl" rotWithShape="0">
              <a:srgbClr val="1E3A5F">
                <a:alpha val="15000"/>
              </a:srgbClr>
            </a:outerShdw>
          </a:effectLst>
        </p:spPr>
        <p:txBody>
          <a:bodyPr/>
          <a:lstStyle/>
          <a:p>
            <a:endParaRPr lang="en-IN" sz="2400"/>
          </a:p>
        </p:txBody>
      </p:sp>
      <p:sp>
        <p:nvSpPr>
          <p:cNvPr id="27" name="Text 25"/>
          <p:cNvSpPr/>
          <p:nvPr/>
        </p:nvSpPr>
        <p:spPr>
          <a:xfrm>
            <a:off x="3398007" y="3293567"/>
            <a:ext cx="2347912" cy="247650"/>
          </a:xfrm>
          <a:prstGeom prst="rect">
            <a:avLst/>
          </a:prstGeom>
          <a:ln/>
        </p:spPr>
        <p:txBody>
          <a:bodyPr wrap="square" lIns="0" tIns="0" rIns="0" bIns="0" rtlCol="0" anchor="t"/>
          <a:lstStyle/>
          <a:p>
            <a:pPr marL="0" indent="0" algn="l">
              <a:lnSpc>
                <a:spcPts val="1944"/>
              </a:lnSpc>
              <a:spcAft>
                <a:spcPts val="324"/>
              </a:spcAft>
              <a:buNone/>
            </a:pPr>
            <a:r>
              <a:rPr lang="en-US" sz="1600" b="1" dirty="0">
                <a:solidFill>
                  <a:srgbClr val="FFFFFF"/>
                </a:solidFill>
                <a:latin typeface="Inter" pitchFamily="34" charset="0"/>
                <a:ea typeface="Inter" pitchFamily="34" charset="-122"/>
                <a:cs typeface="Inter" pitchFamily="34" charset="-120"/>
              </a:rPr>
              <a:t>05</a:t>
            </a:r>
            <a:endParaRPr lang="en-US" sz="1600" dirty="0"/>
          </a:p>
        </p:txBody>
      </p:sp>
      <p:sp>
        <p:nvSpPr>
          <p:cNvPr id="28" name="Text 26"/>
          <p:cNvSpPr/>
          <p:nvPr/>
        </p:nvSpPr>
        <p:spPr>
          <a:xfrm>
            <a:off x="3398007" y="3582479"/>
            <a:ext cx="2347912" cy="142875"/>
          </a:xfrm>
          <a:prstGeom prst="rect">
            <a:avLst/>
          </a:prstGeom>
          <a:ln/>
        </p:spPr>
        <p:txBody>
          <a:bodyPr wrap="square" lIns="0" tIns="0" rIns="0" bIns="0" rtlCol="0" anchor="t"/>
          <a:lstStyle/>
          <a:p>
            <a:pPr marL="0" indent="0" algn="l">
              <a:lnSpc>
                <a:spcPts val="1134"/>
              </a:lnSpc>
              <a:spcAft>
                <a:spcPts val="324"/>
              </a:spcAft>
              <a:buNone/>
            </a:pPr>
            <a:r>
              <a:rPr lang="en-US" sz="900" b="1" dirty="0">
                <a:solidFill>
                  <a:srgbClr val="FFFFFF"/>
                </a:solidFill>
                <a:latin typeface="Inter" pitchFamily="34" charset="0"/>
                <a:ea typeface="Inter" pitchFamily="34" charset="-122"/>
                <a:cs typeface="Inter" pitchFamily="34" charset="-120"/>
              </a:rPr>
              <a:t>Scalability Enhancements</a:t>
            </a:r>
            <a:endParaRPr lang="en-US" sz="900" dirty="0"/>
          </a:p>
        </p:txBody>
      </p:sp>
      <p:sp>
        <p:nvSpPr>
          <p:cNvPr id="29" name="Text 27"/>
          <p:cNvSpPr/>
          <p:nvPr/>
        </p:nvSpPr>
        <p:spPr>
          <a:xfrm>
            <a:off x="3398007" y="3766617"/>
            <a:ext cx="2347912" cy="247650"/>
          </a:xfrm>
          <a:prstGeom prst="rect">
            <a:avLst/>
          </a:prstGeom>
          <a:ln/>
        </p:spPr>
        <p:txBody>
          <a:bodyPr wrap="square" lIns="0" tIns="0" rIns="0" bIns="0" rtlCol="0" anchor="t"/>
          <a:lstStyle/>
          <a:p>
            <a:pPr marL="0" indent="0" algn="l">
              <a:lnSpc>
                <a:spcPts val="972"/>
              </a:lnSpc>
              <a:buNone/>
            </a:pPr>
            <a:r>
              <a:rPr lang="en-US" sz="800" dirty="0">
                <a:solidFill>
                  <a:srgbClr val="FFFFFF"/>
                </a:solidFill>
                <a:latin typeface="Inter" pitchFamily="34" charset="0"/>
                <a:ea typeface="Inter" pitchFamily="34" charset="-122"/>
                <a:cs typeface="Inter" pitchFamily="34" charset="-120"/>
              </a:rPr>
              <a:t>Handle millions of tickets with distributed vector search and improved caching</a:t>
            </a:r>
            <a:endParaRPr lang="en-US" sz="800" dirty="0"/>
          </a:p>
        </p:txBody>
      </p:sp>
      <p:sp>
        <p:nvSpPr>
          <p:cNvPr id="30" name="Shape 28"/>
          <p:cNvSpPr/>
          <p:nvPr/>
        </p:nvSpPr>
        <p:spPr>
          <a:xfrm>
            <a:off x="6064560" y="3165761"/>
            <a:ext cx="2714625" cy="985838"/>
          </a:xfrm>
          <a:prstGeom prst="roundRect">
            <a:avLst>
              <a:gd name="adj" fmla="val 8603"/>
            </a:avLst>
          </a:prstGeom>
          <a:solidFill>
            <a:srgbClr val="FFFFFF"/>
          </a:solidFill>
          <a:ln w="4763">
            <a:solidFill>
              <a:srgbClr val="E2E8F0"/>
            </a:solidFill>
            <a:prstDash val="solid"/>
          </a:ln>
          <a:effectLst>
            <a:outerShdw blurRad="57150" dist="9525" dir="5400000" algn="bl" rotWithShape="0">
              <a:srgbClr val="1E3A5F">
                <a:alpha val="6000"/>
              </a:srgbClr>
            </a:outerShdw>
          </a:effectLst>
        </p:spPr>
        <p:txBody>
          <a:bodyPr/>
          <a:lstStyle/>
          <a:p>
            <a:endParaRPr lang="en-IN" sz="2400"/>
          </a:p>
        </p:txBody>
      </p:sp>
      <p:sp>
        <p:nvSpPr>
          <p:cNvPr id="31" name="Text 29"/>
          <p:cNvSpPr/>
          <p:nvPr/>
        </p:nvSpPr>
        <p:spPr>
          <a:xfrm>
            <a:off x="6252679" y="3298329"/>
            <a:ext cx="2338388" cy="247650"/>
          </a:xfrm>
          <a:prstGeom prst="rect">
            <a:avLst/>
          </a:prstGeom>
          <a:ln/>
        </p:spPr>
        <p:txBody>
          <a:bodyPr wrap="square" lIns="0" tIns="0" rIns="0" bIns="0" rtlCol="0" anchor="t"/>
          <a:lstStyle/>
          <a:p>
            <a:pPr marL="0" indent="0" algn="l">
              <a:lnSpc>
                <a:spcPts val="1944"/>
              </a:lnSpc>
              <a:spcAft>
                <a:spcPts val="324"/>
              </a:spcAft>
              <a:buNone/>
            </a:pPr>
            <a:r>
              <a:rPr lang="en-US" sz="1600" b="1" dirty="0">
                <a:solidFill>
                  <a:srgbClr val="0D9488"/>
                </a:solidFill>
                <a:latin typeface="Inter" pitchFamily="34" charset="0"/>
                <a:ea typeface="Inter" pitchFamily="34" charset="-122"/>
                <a:cs typeface="Inter" pitchFamily="34" charset="-120"/>
              </a:rPr>
              <a:t>06</a:t>
            </a:r>
            <a:endParaRPr lang="en-US" sz="1600" dirty="0"/>
          </a:p>
        </p:txBody>
      </p:sp>
      <p:sp>
        <p:nvSpPr>
          <p:cNvPr id="32" name="Text 30"/>
          <p:cNvSpPr/>
          <p:nvPr/>
        </p:nvSpPr>
        <p:spPr>
          <a:xfrm>
            <a:off x="6252679" y="3587242"/>
            <a:ext cx="2338388" cy="142875"/>
          </a:xfrm>
          <a:prstGeom prst="rect">
            <a:avLst/>
          </a:prstGeom>
          <a:ln/>
        </p:spPr>
        <p:txBody>
          <a:bodyPr wrap="square" lIns="0" tIns="0" rIns="0" bIns="0" rtlCol="0" anchor="t"/>
          <a:lstStyle/>
          <a:p>
            <a:pPr marL="0" indent="0" algn="l">
              <a:lnSpc>
                <a:spcPts val="1134"/>
              </a:lnSpc>
              <a:spcAft>
                <a:spcPts val="324"/>
              </a:spcAft>
              <a:buNone/>
            </a:pPr>
            <a:r>
              <a:rPr lang="en-US" sz="900" b="1" dirty="0">
                <a:solidFill>
                  <a:srgbClr val="0D9488"/>
                </a:solidFill>
                <a:latin typeface="Inter" pitchFamily="34" charset="0"/>
                <a:ea typeface="Inter" pitchFamily="34" charset="-122"/>
                <a:cs typeface="Inter" pitchFamily="34" charset="-120"/>
              </a:rPr>
              <a:t>Personalization</a:t>
            </a:r>
            <a:endParaRPr lang="en-US" sz="900" dirty="0"/>
          </a:p>
        </p:txBody>
      </p:sp>
      <p:sp>
        <p:nvSpPr>
          <p:cNvPr id="33" name="Text 31"/>
          <p:cNvSpPr/>
          <p:nvPr/>
        </p:nvSpPr>
        <p:spPr>
          <a:xfrm>
            <a:off x="6252679" y="3771380"/>
            <a:ext cx="2338388" cy="247650"/>
          </a:xfrm>
          <a:prstGeom prst="rect">
            <a:avLst/>
          </a:prstGeom>
          <a:ln/>
        </p:spPr>
        <p:txBody>
          <a:bodyPr wrap="square" lIns="0" tIns="0" rIns="0" bIns="0" rtlCol="0" anchor="t"/>
          <a:lstStyle/>
          <a:p>
            <a:pPr marL="0" indent="0" algn="l">
              <a:lnSpc>
                <a:spcPts val="972"/>
              </a:lnSpc>
              <a:buNone/>
            </a:pPr>
            <a:r>
              <a:rPr lang="en-US" sz="800" dirty="0">
                <a:solidFill>
                  <a:srgbClr val="475569"/>
                </a:solidFill>
                <a:latin typeface="Inter" pitchFamily="34" charset="0"/>
                <a:ea typeface="Inter" pitchFamily="34" charset="-122"/>
                <a:cs typeface="Inter" pitchFamily="34" charset="-120"/>
              </a:rPr>
              <a:t>Context-aware responses based on user role, project, and access level</a:t>
            </a:r>
            <a:endParaRPr lang="en-US" sz="800" dirty="0"/>
          </a:p>
        </p:txBody>
      </p:sp>
      <p:sp>
        <p:nvSpPr>
          <p:cNvPr id="34" name="Shape 32"/>
          <p:cNvSpPr/>
          <p:nvPr/>
        </p:nvSpPr>
        <p:spPr>
          <a:xfrm>
            <a:off x="366713" y="4705610"/>
            <a:ext cx="8410575" cy="233362"/>
          </a:xfrm>
          <a:prstGeom prst="rect">
            <a:avLst/>
          </a:prstGeom>
          <a:ln/>
        </p:spPr>
        <p:txBody>
          <a:bodyPr/>
          <a:lstStyle/>
          <a:p>
            <a:endParaRPr lang="en-IN"/>
          </a:p>
        </p:txBody>
      </p:sp>
      <p:sp>
        <p:nvSpPr>
          <p:cNvPr id="35" name="Text 33"/>
          <p:cNvSpPr/>
          <p:nvPr/>
        </p:nvSpPr>
        <p:spPr>
          <a:xfrm>
            <a:off x="364778" y="4814181"/>
            <a:ext cx="1524000"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University Capstone — Team Michigan</a:t>
            </a:r>
            <a:endParaRPr lang="en-US" sz="600" dirty="0"/>
          </a:p>
        </p:txBody>
      </p:sp>
      <p:sp>
        <p:nvSpPr>
          <p:cNvPr id="36" name="Text 34"/>
          <p:cNvSpPr/>
          <p:nvPr/>
        </p:nvSpPr>
        <p:spPr>
          <a:xfrm>
            <a:off x="8231460" y="4814181"/>
            <a:ext cx="547687" cy="123825"/>
          </a:xfrm>
          <a:prstGeom prst="rect">
            <a:avLst/>
          </a:prstGeom>
          <a:ln/>
        </p:spPr>
        <p:txBody>
          <a:bodyPr wrap="square" lIns="0" tIns="0" rIns="0" bIns="0" rtlCol="0" anchor="t"/>
          <a:lstStyle/>
          <a:p>
            <a:pPr marL="0" indent="0" algn="l">
              <a:lnSpc>
                <a:spcPts val="972"/>
              </a:lnSpc>
              <a:buNone/>
            </a:pPr>
            <a:r>
              <a:rPr lang="en-US" sz="600" dirty="0">
                <a:solidFill>
                  <a:srgbClr val="94A3B8"/>
                </a:solidFill>
                <a:latin typeface="Inter" pitchFamily="34" charset="0"/>
                <a:ea typeface="Inter" pitchFamily="34" charset="-122"/>
                <a:cs typeface="Inter" pitchFamily="34" charset="-120"/>
              </a:rPr>
              <a:t>Slide 23 of 24</a:t>
            </a:r>
            <a:endParaRPr lang="en-US" sz="600" dirty="0"/>
          </a:p>
        </p:txBody>
      </p:sp>
      <p:pic>
        <p:nvPicPr>
          <p:cNvPr id="3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713" y="205643"/>
            <a:ext cx="8410575" cy="290513"/>
          </a:xfrm>
          <a:prstGeom prst="rect">
            <a:avLst/>
          </a:prstGeom>
        </p:spPr>
      </p:pic>
      <p:pic>
        <p:nvPicPr>
          <p:cNvPr id="3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713" y="4705610"/>
            <a:ext cx="8410575" cy="23336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EB7590-7AAA-3BF7-7229-4A8F2B597520}"/>
              </a:ext>
            </a:extLst>
          </p:cNvPr>
          <p:cNvSpPr txBox="1"/>
          <p:nvPr/>
        </p:nvSpPr>
        <p:spPr>
          <a:xfrm>
            <a:off x="392853" y="331893"/>
            <a:ext cx="7105227" cy="369332"/>
          </a:xfrm>
          <a:prstGeom prst="rect">
            <a:avLst/>
          </a:prstGeom>
          <a:noFill/>
        </p:spPr>
        <p:txBody>
          <a:bodyPr wrap="square" rtlCol="0">
            <a:spAutoFit/>
          </a:bodyPr>
          <a:lstStyle/>
          <a:p>
            <a:r>
              <a:rPr lang="en-IN" b="1" dirty="0">
                <a:latin typeface="Inter"/>
              </a:rPr>
              <a:t>REFERENCES</a:t>
            </a:r>
          </a:p>
        </p:txBody>
      </p:sp>
    </p:spTree>
    <p:extLst>
      <p:ext uri="{BB962C8B-B14F-4D97-AF65-F5344CB8AC3E}">
        <p14:creationId xmlns:p14="http://schemas.microsoft.com/office/powerpoint/2010/main" val="2102756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2C465B-3AD1-9060-20D2-33F024C1490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390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556B6D2-4800-3B24-8AAF-64499905268C}"/>
              </a:ext>
            </a:extLst>
          </p:cNvPr>
          <p:cNvSpPr txBox="1"/>
          <p:nvPr/>
        </p:nvSpPr>
        <p:spPr>
          <a:xfrm>
            <a:off x="5052376" y="2323644"/>
            <a:ext cx="3604497" cy="972836"/>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000" kern="1200" dirty="0">
                <a:solidFill>
                  <a:schemeClr val="tx2"/>
                </a:solidFill>
                <a:latin typeface="+mj-lt"/>
                <a:ea typeface="+mj-ea"/>
                <a:cs typeface="+mj-cs"/>
              </a:rPr>
              <a:t>DEMO &amp; </a:t>
            </a:r>
            <a:r>
              <a:rPr lang="en-US" sz="3000" kern="1200" dirty="0" err="1">
                <a:solidFill>
                  <a:schemeClr val="tx2"/>
                </a:solidFill>
                <a:latin typeface="+mj-lt"/>
                <a:ea typeface="+mj-ea"/>
                <a:cs typeface="+mj-cs"/>
              </a:rPr>
              <a:t>QnA</a:t>
            </a:r>
            <a:endParaRPr lang="en-US" sz="3000" kern="1200" dirty="0">
              <a:solidFill>
                <a:schemeClr val="tx2"/>
              </a:solidFill>
              <a:latin typeface="+mj-lt"/>
              <a:ea typeface="+mj-ea"/>
              <a:cs typeface="+mj-cs"/>
            </a:endParaRPr>
          </a:p>
        </p:txBody>
      </p:sp>
      <p:pic>
        <p:nvPicPr>
          <p:cNvPr id="6" name="Graphic 5" descr="Album">
            <a:extLst>
              <a:ext uri="{FF2B5EF4-FFF2-40B4-BE49-F238E27FC236}">
                <a16:creationId xmlns:a16="http://schemas.microsoft.com/office/drawing/2014/main" id="{D1FCAF77-E46D-8786-22DE-6D2B86A34A6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5352" y="1361489"/>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4482"/>
            <a:ext cx="4679005" cy="5147982"/>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68604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FF4067-87F2-E4D2-EE00-771CE6FDBBA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390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5A0738D-4AAA-7C04-2676-D122ABE8549B}"/>
              </a:ext>
            </a:extLst>
          </p:cNvPr>
          <p:cNvSpPr txBox="1"/>
          <p:nvPr/>
        </p:nvSpPr>
        <p:spPr>
          <a:xfrm>
            <a:off x="4977646" y="2428231"/>
            <a:ext cx="3604497" cy="972836"/>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000" kern="1200" dirty="0">
                <a:solidFill>
                  <a:schemeClr val="tx2"/>
                </a:solidFill>
                <a:latin typeface="+mj-lt"/>
                <a:ea typeface="+mj-ea"/>
                <a:cs typeface="+mj-cs"/>
              </a:rPr>
              <a:t>APPENDIX</a:t>
            </a:r>
          </a:p>
        </p:txBody>
      </p:sp>
      <p:pic>
        <p:nvPicPr>
          <p:cNvPr id="6" name="Graphic 5" descr="Bulleted List">
            <a:extLst>
              <a:ext uri="{FF2B5EF4-FFF2-40B4-BE49-F238E27FC236}">
                <a16:creationId xmlns:a16="http://schemas.microsoft.com/office/drawing/2014/main" id="{C10CC0D1-A7EE-9489-AB2C-D05D209894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5352" y="1361489"/>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4482"/>
            <a:ext cx="4679005" cy="5147982"/>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73207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9EE23F6F-A075-633F-8F96-75393032FE3B}"/>
              </a:ext>
            </a:extLst>
          </p:cNvPr>
          <p:cNvPicPr>
            <a:picLocks noChangeAspect="1"/>
          </p:cNvPicPr>
          <p:nvPr/>
        </p:nvPicPr>
        <p:blipFill>
          <a:blip r:embed="rId2"/>
          <a:stretch>
            <a:fillRect/>
          </a:stretch>
        </p:blipFill>
        <p:spPr>
          <a:xfrm>
            <a:off x="1232898" y="342900"/>
            <a:ext cx="6678203" cy="4457700"/>
          </a:xfrm>
          <a:prstGeom prst="rect">
            <a:avLst/>
          </a:prstGeom>
        </p:spPr>
      </p:pic>
    </p:spTree>
    <p:extLst>
      <p:ext uri="{BB962C8B-B14F-4D97-AF65-F5344CB8AC3E}">
        <p14:creationId xmlns:p14="http://schemas.microsoft.com/office/powerpoint/2010/main" val="1381713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TotalTime>
  <Words>2260</Words>
  <Application>Microsoft Office PowerPoint</Application>
  <PresentationFormat>On-screen Show (16:9)</PresentationFormat>
  <Paragraphs>494</Paragraphs>
  <Slides>22</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Inter</vt:lpstr>
      <vt:lpstr>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Aniket Rajendra Deshpande (Student)</cp:lastModifiedBy>
  <cp:revision>3</cp:revision>
  <dcterms:created xsi:type="dcterms:W3CDTF">2026-04-30T16:34:45Z</dcterms:created>
  <dcterms:modified xsi:type="dcterms:W3CDTF">2026-04-30T20:03:00Z</dcterms:modified>
</cp:coreProperties>
</file>